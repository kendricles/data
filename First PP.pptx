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359" r:id="rId3"/>
    <p:sldId id="402" r:id="rId4"/>
    <p:sldId id="382" r:id="rId5"/>
    <p:sldId id="403" r:id="rId6"/>
    <p:sldId id="386" r:id="rId7"/>
    <p:sldId id="389" r:id="rId8"/>
    <p:sldId id="387" r:id="rId9"/>
    <p:sldId id="388" r:id="rId10"/>
    <p:sldId id="392" r:id="rId11"/>
    <p:sldId id="396" r:id="rId12"/>
    <p:sldId id="393" r:id="rId13"/>
    <p:sldId id="399" r:id="rId14"/>
    <p:sldId id="400" r:id="rId15"/>
    <p:sldId id="398" r:id="rId16"/>
    <p:sldId id="404" r:id="rId17"/>
    <p:sldId id="405" r:id="rId18"/>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000"/>
    <a:srgbClr val="909EE6"/>
    <a:srgbClr val="60A500"/>
    <a:srgbClr val="00AA48"/>
    <a:srgbClr val="388600"/>
    <a:srgbClr val="989800"/>
    <a:srgbClr val="4F4F00"/>
    <a:srgbClr val="FF7474"/>
    <a:srgbClr val="FFCE3C"/>
    <a:srgbClr val="7F3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2C47D4-AF36-41DB-96D2-558098F2175D}" v="2" dt="2026-06-11T15:33:41.1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23" autoAdjust="0"/>
  </p:normalViewPr>
  <p:slideViewPr>
    <p:cSldViewPr snapToGrid="0">
      <p:cViewPr varScale="1">
        <p:scale>
          <a:sx n="77" d="100"/>
          <a:sy n="77" d="100"/>
        </p:scale>
        <p:origin x="912" y="62"/>
      </p:cViewPr>
      <p:guideLst/>
    </p:cSldViewPr>
  </p:slideViewPr>
  <p:notesTextViewPr>
    <p:cViewPr>
      <p:scale>
        <a:sx n="1" d="1"/>
        <a:sy n="1" d="1"/>
      </p:scale>
      <p:origin x="0" y="0"/>
    </p:cViewPr>
  </p:notesTextViewPr>
  <p:sorterViewPr>
    <p:cViewPr>
      <p:scale>
        <a:sx n="150" d="100"/>
        <a:sy n="150" d="100"/>
      </p:scale>
      <p:origin x="0" y="-216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wuagba, Kenechi IUC/G/UUDGS" userId="4f698ab4-0a9b-4090-aac8-15336bf9f736" providerId="ADAL" clId="{77E80BD3-9F7F-4E2A-962D-B0528BC83168}"/>
    <pc:docChg chg="custSel addSld delSld modSld modMainMaster">
      <pc:chgData name="Onwuagba, Kenechi IUC/G/UUDGS" userId="4f698ab4-0a9b-4090-aac8-15336bf9f736" providerId="ADAL" clId="{77E80BD3-9F7F-4E2A-962D-B0528BC83168}" dt="2026-06-11T15:33:41.115" v="22"/>
      <pc:docMkLst>
        <pc:docMk/>
      </pc:docMkLst>
      <pc:sldChg chg="del">
        <pc:chgData name="Onwuagba, Kenechi IUC/G/UUDGS" userId="4f698ab4-0a9b-4090-aac8-15336bf9f736" providerId="ADAL" clId="{77E80BD3-9F7F-4E2A-962D-B0528BC83168}" dt="2026-06-11T15:25:49.974" v="18" actId="2696"/>
        <pc:sldMkLst>
          <pc:docMk/>
          <pc:sldMk cId="232256664" sldId="357"/>
        </pc:sldMkLst>
      </pc:sldChg>
      <pc:sldChg chg="delSp mod">
        <pc:chgData name="Onwuagba, Kenechi IUC/G/UUDGS" userId="4f698ab4-0a9b-4090-aac8-15336bf9f736" providerId="ADAL" clId="{77E80BD3-9F7F-4E2A-962D-B0528BC83168}" dt="2026-06-11T15:22:16.917" v="11" actId="478"/>
        <pc:sldMkLst>
          <pc:docMk/>
          <pc:sldMk cId="1331691286" sldId="359"/>
        </pc:sldMkLst>
        <pc:spChg chg="del">
          <ac:chgData name="Onwuagba, Kenechi IUC/G/UUDGS" userId="4f698ab4-0a9b-4090-aac8-15336bf9f736" providerId="ADAL" clId="{77E80BD3-9F7F-4E2A-962D-B0528BC83168}" dt="2026-06-11T15:22:16.917" v="11" actId="478"/>
          <ac:spMkLst>
            <pc:docMk/>
            <pc:sldMk cId="1331691286" sldId="359"/>
            <ac:spMk id="2" creationId="{90E8D6F9-6F80-0525-33FC-E0EB4D4C6988}"/>
          </ac:spMkLst>
        </pc:spChg>
      </pc:sldChg>
      <pc:sldChg chg="add del">
        <pc:chgData name="Onwuagba, Kenechi IUC/G/UUDGS" userId="4f698ab4-0a9b-4090-aac8-15336bf9f736" providerId="ADAL" clId="{77E80BD3-9F7F-4E2A-962D-B0528BC83168}" dt="2026-06-11T15:33:41.115" v="22"/>
        <pc:sldMkLst>
          <pc:docMk/>
          <pc:sldMk cId="2862069364" sldId="404"/>
        </pc:sldMkLst>
      </pc:sldChg>
      <pc:sldChg chg="add del">
        <pc:chgData name="Onwuagba, Kenechi IUC/G/UUDGS" userId="4f698ab4-0a9b-4090-aac8-15336bf9f736" providerId="ADAL" clId="{77E80BD3-9F7F-4E2A-962D-B0528BC83168}" dt="2026-06-11T15:33:41.115" v="22"/>
        <pc:sldMkLst>
          <pc:docMk/>
          <pc:sldMk cId="2034194565" sldId="405"/>
        </pc:sldMkLst>
      </pc:sldChg>
      <pc:sldChg chg="add del">
        <pc:chgData name="Onwuagba, Kenechi IUC/G/UUDGS" userId="4f698ab4-0a9b-4090-aac8-15336bf9f736" providerId="ADAL" clId="{77E80BD3-9F7F-4E2A-962D-B0528BC83168}" dt="2026-06-11T15:31:19.917" v="21" actId="2696"/>
        <pc:sldMkLst>
          <pc:docMk/>
          <pc:sldMk cId="1041624920" sldId="406"/>
        </pc:sldMkLst>
      </pc:sldChg>
      <pc:sldChg chg="add del">
        <pc:chgData name="Onwuagba, Kenechi IUC/G/UUDGS" userId="4f698ab4-0a9b-4090-aac8-15336bf9f736" providerId="ADAL" clId="{77E80BD3-9F7F-4E2A-962D-B0528BC83168}" dt="2026-06-11T15:30:17.531" v="20" actId="2696"/>
        <pc:sldMkLst>
          <pc:docMk/>
          <pc:sldMk cId="3683519893" sldId="407"/>
        </pc:sldMkLst>
      </pc:sldChg>
      <pc:sldChg chg="add del">
        <pc:chgData name="Onwuagba, Kenechi IUC/G/UUDGS" userId="4f698ab4-0a9b-4090-aac8-15336bf9f736" providerId="ADAL" clId="{77E80BD3-9F7F-4E2A-962D-B0528BC83168}" dt="2026-06-11T15:30:17.531" v="20" actId="2696"/>
        <pc:sldMkLst>
          <pc:docMk/>
          <pc:sldMk cId="3114286704" sldId="408"/>
        </pc:sldMkLst>
      </pc:sldChg>
      <pc:sldChg chg="del">
        <pc:chgData name="Onwuagba, Kenechi IUC/G/UUDGS" userId="4f698ab4-0a9b-4090-aac8-15336bf9f736" providerId="ADAL" clId="{77E80BD3-9F7F-4E2A-962D-B0528BC83168}" dt="2026-06-11T15:25:49.974" v="18" actId="2696"/>
        <pc:sldMkLst>
          <pc:docMk/>
          <pc:sldMk cId="541744931" sldId="409"/>
        </pc:sldMkLst>
      </pc:sldChg>
      <pc:sldChg chg="del">
        <pc:chgData name="Onwuagba, Kenechi IUC/G/UUDGS" userId="4f698ab4-0a9b-4090-aac8-15336bf9f736" providerId="ADAL" clId="{77E80BD3-9F7F-4E2A-962D-B0528BC83168}" dt="2026-06-11T15:25:49.974" v="18" actId="2696"/>
        <pc:sldMkLst>
          <pc:docMk/>
          <pc:sldMk cId="3853099379" sldId="410"/>
        </pc:sldMkLst>
      </pc:sldChg>
      <pc:sldChg chg="del">
        <pc:chgData name="Onwuagba, Kenechi IUC/G/UUDGS" userId="4f698ab4-0a9b-4090-aac8-15336bf9f736" providerId="ADAL" clId="{77E80BD3-9F7F-4E2A-962D-B0528BC83168}" dt="2026-06-11T15:25:49.974" v="18" actId="2696"/>
        <pc:sldMkLst>
          <pc:docMk/>
          <pc:sldMk cId="594692955" sldId="411"/>
        </pc:sldMkLst>
      </pc:sldChg>
      <pc:sldChg chg="del">
        <pc:chgData name="Onwuagba, Kenechi IUC/G/UUDGS" userId="4f698ab4-0a9b-4090-aac8-15336bf9f736" providerId="ADAL" clId="{77E80BD3-9F7F-4E2A-962D-B0528BC83168}" dt="2026-06-11T15:25:49.974" v="18" actId="2696"/>
        <pc:sldMkLst>
          <pc:docMk/>
          <pc:sldMk cId="2890915985" sldId="412"/>
        </pc:sldMkLst>
      </pc:sldChg>
      <pc:sldChg chg="del">
        <pc:chgData name="Onwuagba, Kenechi IUC/G/UUDGS" userId="4f698ab4-0a9b-4090-aac8-15336bf9f736" providerId="ADAL" clId="{77E80BD3-9F7F-4E2A-962D-B0528BC83168}" dt="2026-06-11T15:25:49.974" v="18" actId="2696"/>
        <pc:sldMkLst>
          <pc:docMk/>
          <pc:sldMk cId="3007592511" sldId="413"/>
        </pc:sldMkLst>
      </pc:sldChg>
      <pc:sldChg chg="del">
        <pc:chgData name="Onwuagba, Kenechi IUC/G/UUDGS" userId="4f698ab4-0a9b-4090-aac8-15336bf9f736" providerId="ADAL" clId="{77E80BD3-9F7F-4E2A-962D-B0528BC83168}" dt="2026-06-11T15:25:49.974" v="18" actId="2696"/>
        <pc:sldMkLst>
          <pc:docMk/>
          <pc:sldMk cId="3644791048" sldId="414"/>
        </pc:sldMkLst>
      </pc:sldChg>
      <pc:sldChg chg="del">
        <pc:chgData name="Onwuagba, Kenechi IUC/G/UUDGS" userId="4f698ab4-0a9b-4090-aac8-15336bf9f736" providerId="ADAL" clId="{77E80BD3-9F7F-4E2A-962D-B0528BC83168}" dt="2026-06-11T15:25:49.974" v="18" actId="2696"/>
        <pc:sldMkLst>
          <pc:docMk/>
          <pc:sldMk cId="2065125859" sldId="415"/>
        </pc:sldMkLst>
      </pc:sldChg>
      <pc:sldChg chg="del">
        <pc:chgData name="Onwuagba, Kenechi IUC/G/UUDGS" userId="4f698ab4-0a9b-4090-aac8-15336bf9f736" providerId="ADAL" clId="{77E80BD3-9F7F-4E2A-962D-B0528BC83168}" dt="2026-06-11T15:25:49.974" v="18" actId="2696"/>
        <pc:sldMkLst>
          <pc:docMk/>
          <pc:sldMk cId="3783046241" sldId="416"/>
        </pc:sldMkLst>
      </pc:sldChg>
      <pc:sldChg chg="del">
        <pc:chgData name="Onwuagba, Kenechi IUC/G/UUDGS" userId="4f698ab4-0a9b-4090-aac8-15336bf9f736" providerId="ADAL" clId="{77E80BD3-9F7F-4E2A-962D-B0528BC83168}" dt="2026-06-11T15:25:49.974" v="18" actId="2696"/>
        <pc:sldMkLst>
          <pc:docMk/>
          <pc:sldMk cId="1770437833" sldId="417"/>
        </pc:sldMkLst>
      </pc:sldChg>
      <pc:sldChg chg="del">
        <pc:chgData name="Onwuagba, Kenechi IUC/G/UUDGS" userId="4f698ab4-0a9b-4090-aac8-15336bf9f736" providerId="ADAL" clId="{77E80BD3-9F7F-4E2A-962D-B0528BC83168}" dt="2026-06-11T15:25:49.974" v="18" actId="2696"/>
        <pc:sldMkLst>
          <pc:docMk/>
          <pc:sldMk cId="2878736171" sldId="418"/>
        </pc:sldMkLst>
      </pc:sldChg>
      <pc:sldChg chg="del">
        <pc:chgData name="Onwuagba, Kenechi IUC/G/UUDGS" userId="4f698ab4-0a9b-4090-aac8-15336bf9f736" providerId="ADAL" clId="{77E80BD3-9F7F-4E2A-962D-B0528BC83168}" dt="2026-06-11T15:25:49.974" v="18" actId="2696"/>
        <pc:sldMkLst>
          <pc:docMk/>
          <pc:sldMk cId="3305732641" sldId="419"/>
        </pc:sldMkLst>
      </pc:sldChg>
      <pc:sldChg chg="del">
        <pc:chgData name="Onwuagba, Kenechi IUC/G/UUDGS" userId="4f698ab4-0a9b-4090-aac8-15336bf9f736" providerId="ADAL" clId="{77E80BD3-9F7F-4E2A-962D-B0528BC83168}" dt="2026-06-11T15:25:49.974" v="18" actId="2696"/>
        <pc:sldMkLst>
          <pc:docMk/>
          <pc:sldMk cId="3341113309" sldId="420"/>
        </pc:sldMkLst>
      </pc:sldChg>
      <pc:sldMasterChg chg="delSp mod modSldLayout">
        <pc:chgData name="Onwuagba, Kenechi IUC/G/UUDGS" userId="4f698ab4-0a9b-4090-aac8-15336bf9f736" providerId="ADAL" clId="{77E80BD3-9F7F-4E2A-962D-B0528BC83168}" dt="2026-06-11T15:23:01.528" v="17" actId="478"/>
        <pc:sldMasterMkLst>
          <pc:docMk/>
          <pc:sldMasterMk cId="1215215378" sldId="2147483648"/>
        </pc:sldMasterMkLst>
        <pc:picChg chg="del">
          <ac:chgData name="Onwuagba, Kenechi IUC/G/UUDGS" userId="4f698ab4-0a9b-4090-aac8-15336bf9f736" providerId="ADAL" clId="{77E80BD3-9F7F-4E2A-962D-B0528BC83168}" dt="2026-06-11T15:22:37.442" v="12" actId="478"/>
          <ac:picMkLst>
            <pc:docMk/>
            <pc:sldMasterMk cId="1215215378" sldId="2147483648"/>
            <ac:picMk id="8" creationId="{D5C6DF64-83C3-795A-890F-E8667594AAFC}"/>
          </ac:picMkLst>
        </pc:picChg>
        <pc:picChg chg="del">
          <ac:chgData name="Onwuagba, Kenechi IUC/G/UUDGS" userId="4f698ab4-0a9b-4090-aac8-15336bf9f736" providerId="ADAL" clId="{77E80BD3-9F7F-4E2A-962D-B0528BC83168}" dt="2026-06-11T15:22:41.761" v="14" actId="478"/>
          <ac:picMkLst>
            <pc:docMk/>
            <pc:sldMasterMk cId="1215215378" sldId="2147483648"/>
            <ac:picMk id="9" creationId="{1624F312-E9D4-C01F-61DE-CD6C7C413E58}"/>
          </ac:picMkLst>
        </pc:picChg>
        <pc:picChg chg="del">
          <ac:chgData name="Onwuagba, Kenechi IUC/G/UUDGS" userId="4f698ab4-0a9b-4090-aac8-15336bf9f736" providerId="ADAL" clId="{77E80BD3-9F7F-4E2A-962D-B0528BC83168}" dt="2026-06-11T15:22:40.761" v="13" actId="478"/>
          <ac:picMkLst>
            <pc:docMk/>
            <pc:sldMasterMk cId="1215215378" sldId="2147483648"/>
            <ac:picMk id="11" creationId="{B4DCB19F-ADCF-F199-A170-0B67B2DB3D1A}"/>
          </ac:picMkLst>
        </pc:picChg>
        <pc:sldLayoutChg chg="delSp mod">
          <pc:chgData name="Onwuagba, Kenechi IUC/G/UUDGS" userId="4f698ab4-0a9b-4090-aac8-15336bf9f736" providerId="ADAL" clId="{77E80BD3-9F7F-4E2A-962D-B0528BC83168}" dt="2026-06-11T15:23:01.528" v="17" actId="478"/>
          <pc:sldLayoutMkLst>
            <pc:docMk/>
            <pc:sldMasterMk cId="1215215378" sldId="2147483648"/>
            <pc:sldLayoutMk cId="4248699767" sldId="2147483673"/>
          </pc:sldLayoutMkLst>
          <pc:spChg chg="del">
            <ac:chgData name="Onwuagba, Kenechi IUC/G/UUDGS" userId="4f698ab4-0a9b-4090-aac8-15336bf9f736" providerId="ADAL" clId="{77E80BD3-9F7F-4E2A-962D-B0528BC83168}" dt="2026-06-11T15:23:00.032" v="15" actId="478"/>
            <ac:spMkLst>
              <pc:docMk/>
              <pc:sldMasterMk cId="1215215378" sldId="2147483648"/>
              <pc:sldLayoutMk cId="4248699767" sldId="2147483673"/>
              <ac:spMk id="10" creationId="{1F1859A0-87D5-C2C0-19C4-21C0F76D47A9}"/>
            </ac:spMkLst>
          </pc:spChg>
          <pc:picChg chg="del">
            <ac:chgData name="Onwuagba, Kenechi IUC/G/UUDGS" userId="4f698ab4-0a9b-4090-aac8-15336bf9f736" providerId="ADAL" clId="{77E80BD3-9F7F-4E2A-962D-B0528BC83168}" dt="2026-06-11T15:23:00.543" v="16" actId="478"/>
            <ac:picMkLst>
              <pc:docMk/>
              <pc:sldMasterMk cId="1215215378" sldId="2147483648"/>
              <pc:sldLayoutMk cId="4248699767" sldId="2147483673"/>
              <ac:picMk id="7" creationId="{9DFBA37A-C49A-032A-9825-5BC2B4B7C067}"/>
            </ac:picMkLst>
          </pc:picChg>
          <pc:picChg chg="del">
            <ac:chgData name="Onwuagba, Kenechi IUC/G/UUDGS" userId="4f698ab4-0a9b-4090-aac8-15336bf9f736" providerId="ADAL" clId="{77E80BD3-9F7F-4E2A-962D-B0528BC83168}" dt="2026-06-11T15:23:01.528" v="17" actId="478"/>
            <ac:picMkLst>
              <pc:docMk/>
              <pc:sldMasterMk cId="1215215378" sldId="2147483648"/>
              <pc:sldLayoutMk cId="4248699767" sldId="2147483673"/>
              <ac:picMk id="8" creationId="{B42F03FF-820E-A6F5-01CD-8D88A3D7C1BE}"/>
            </ac:picMkLst>
          </pc:picChg>
        </pc:sldLayoutChg>
      </pc:sldMasterChg>
      <pc:sldMasterChg chg="modSldLayout">
        <pc:chgData name="Onwuagba, Kenechi IUC/G/UUDGS" userId="4f698ab4-0a9b-4090-aac8-15336bf9f736" providerId="ADAL" clId="{77E80BD3-9F7F-4E2A-962D-B0528BC83168}" dt="2026-06-11T15:22:05.818" v="10" actId="478"/>
        <pc:sldMasterMkLst>
          <pc:docMk/>
          <pc:sldMasterMk cId="2871492732" sldId="2147483660"/>
        </pc:sldMasterMkLst>
        <pc:sldLayoutChg chg="delSp mod">
          <pc:chgData name="Onwuagba, Kenechi IUC/G/UUDGS" userId="4f698ab4-0a9b-4090-aac8-15336bf9f736" providerId="ADAL" clId="{77E80BD3-9F7F-4E2A-962D-B0528BC83168}" dt="2026-06-11T15:22:05.818" v="10" actId="478"/>
          <pc:sldLayoutMkLst>
            <pc:docMk/>
            <pc:sldMasterMk cId="2871492732" sldId="2147483660"/>
            <pc:sldLayoutMk cId="3797059415" sldId="2147483661"/>
          </pc:sldLayoutMkLst>
          <pc:picChg chg="del">
            <ac:chgData name="Onwuagba, Kenechi IUC/G/UUDGS" userId="4f698ab4-0a9b-4090-aac8-15336bf9f736" providerId="ADAL" clId="{77E80BD3-9F7F-4E2A-962D-B0528BC83168}" dt="2026-06-11T15:22:05.818" v="10" actId="478"/>
            <ac:picMkLst>
              <pc:docMk/>
              <pc:sldMasterMk cId="2871492732" sldId="2147483660"/>
              <pc:sldLayoutMk cId="3797059415" sldId="2147483661"/>
              <ac:picMk id="7" creationId="{77ACECF7-0554-82F4-D2C6-B8AFF09F88CF}"/>
            </ac:picMkLst>
          </pc:picChg>
          <pc:picChg chg="del">
            <ac:chgData name="Onwuagba, Kenechi IUC/G/UUDGS" userId="4f698ab4-0a9b-4090-aac8-15336bf9f736" providerId="ADAL" clId="{77E80BD3-9F7F-4E2A-962D-B0528BC83168}" dt="2026-06-11T15:22:04.734" v="9" actId="478"/>
            <ac:picMkLst>
              <pc:docMk/>
              <pc:sldMasterMk cId="2871492732" sldId="2147483660"/>
              <pc:sldLayoutMk cId="3797059415" sldId="2147483661"/>
              <ac:picMk id="8" creationId="{ED46492D-C31F-3C20-9B08-AFB70A52F424}"/>
            </ac:picMkLst>
          </pc:picChg>
        </pc:sldLayoutChg>
        <pc:sldLayoutChg chg="delSp mod">
          <pc:chgData name="Onwuagba, Kenechi IUC/G/UUDGS" userId="4f698ab4-0a9b-4090-aac8-15336bf9f736" providerId="ADAL" clId="{77E80BD3-9F7F-4E2A-962D-B0528BC83168}" dt="2026-06-11T15:21:54.703" v="3" actId="478"/>
          <pc:sldLayoutMkLst>
            <pc:docMk/>
            <pc:sldMasterMk cId="2871492732" sldId="2147483660"/>
            <pc:sldLayoutMk cId="2946676054" sldId="2147483662"/>
          </pc:sldLayoutMkLst>
          <pc:picChg chg="del">
            <ac:chgData name="Onwuagba, Kenechi IUC/G/UUDGS" userId="4f698ab4-0a9b-4090-aac8-15336bf9f736" providerId="ADAL" clId="{77E80BD3-9F7F-4E2A-962D-B0528BC83168}" dt="2026-06-11T15:21:54.703" v="3" actId="478"/>
            <ac:picMkLst>
              <pc:docMk/>
              <pc:sldMasterMk cId="2871492732" sldId="2147483660"/>
              <pc:sldLayoutMk cId="2946676054" sldId="2147483662"/>
              <ac:picMk id="7" creationId="{9DFBA37A-C49A-032A-9825-5BC2B4B7C067}"/>
            </ac:picMkLst>
          </pc:picChg>
          <pc:picChg chg="del">
            <ac:chgData name="Onwuagba, Kenechi IUC/G/UUDGS" userId="4f698ab4-0a9b-4090-aac8-15336bf9f736" providerId="ADAL" clId="{77E80BD3-9F7F-4E2A-962D-B0528BC83168}" dt="2026-06-11T15:21:53.680" v="2" actId="478"/>
            <ac:picMkLst>
              <pc:docMk/>
              <pc:sldMasterMk cId="2871492732" sldId="2147483660"/>
              <pc:sldLayoutMk cId="2946676054" sldId="2147483662"/>
              <ac:picMk id="8" creationId="{B42F03FF-820E-A6F5-01CD-8D88A3D7C1BE}"/>
            </ac:picMkLst>
          </pc:picChg>
        </pc:sldLayoutChg>
        <pc:sldLayoutChg chg="delSp mod">
          <pc:chgData name="Onwuagba, Kenechi IUC/G/UUDGS" userId="4f698ab4-0a9b-4090-aac8-15336bf9f736" providerId="ADAL" clId="{77E80BD3-9F7F-4E2A-962D-B0528BC83168}" dt="2026-06-11T15:21:50.460" v="1" actId="478"/>
          <pc:sldLayoutMkLst>
            <pc:docMk/>
            <pc:sldMasterMk cId="2871492732" sldId="2147483660"/>
            <pc:sldLayoutMk cId="1578656887" sldId="2147483663"/>
          </pc:sldLayoutMkLst>
          <pc:picChg chg="del">
            <ac:chgData name="Onwuagba, Kenechi IUC/G/UUDGS" userId="4f698ab4-0a9b-4090-aac8-15336bf9f736" providerId="ADAL" clId="{77E80BD3-9F7F-4E2A-962D-B0528BC83168}" dt="2026-06-11T15:21:50.460" v="1" actId="478"/>
            <ac:picMkLst>
              <pc:docMk/>
              <pc:sldMasterMk cId="2871492732" sldId="2147483660"/>
              <pc:sldLayoutMk cId="1578656887" sldId="2147483663"/>
              <ac:picMk id="7" creationId="{500B2F56-1868-930E-5157-2801859491E4}"/>
            </ac:picMkLst>
          </pc:picChg>
          <pc:picChg chg="del">
            <ac:chgData name="Onwuagba, Kenechi IUC/G/UUDGS" userId="4f698ab4-0a9b-4090-aac8-15336bf9f736" providerId="ADAL" clId="{77E80BD3-9F7F-4E2A-962D-B0528BC83168}" dt="2026-06-11T15:21:47.006" v="0" actId="478"/>
            <ac:picMkLst>
              <pc:docMk/>
              <pc:sldMasterMk cId="2871492732" sldId="2147483660"/>
              <pc:sldLayoutMk cId="1578656887" sldId="2147483663"/>
              <ac:picMk id="8" creationId="{8DDDD961-93E2-7AFE-6015-C4AC43E19A72}"/>
            </ac:picMkLst>
          </pc:picChg>
        </pc:sldLayoutChg>
        <pc:sldLayoutChg chg="delSp modSp mod">
          <pc:chgData name="Onwuagba, Kenechi IUC/G/UUDGS" userId="4f698ab4-0a9b-4090-aac8-15336bf9f736" providerId="ADAL" clId="{77E80BD3-9F7F-4E2A-962D-B0528BC83168}" dt="2026-06-11T15:22:03.037" v="8" actId="478"/>
          <pc:sldLayoutMkLst>
            <pc:docMk/>
            <pc:sldMasterMk cId="2871492732" sldId="2147483660"/>
            <pc:sldLayoutMk cId="3188699340" sldId="2147483667"/>
          </pc:sldLayoutMkLst>
          <pc:spChg chg="del">
            <ac:chgData name="Onwuagba, Kenechi IUC/G/UUDGS" userId="4f698ab4-0a9b-4090-aac8-15336bf9f736" providerId="ADAL" clId="{77E80BD3-9F7F-4E2A-962D-B0528BC83168}" dt="2026-06-11T15:22:00.464" v="5" actId="478"/>
            <ac:spMkLst>
              <pc:docMk/>
              <pc:sldMasterMk cId="2871492732" sldId="2147483660"/>
              <pc:sldLayoutMk cId="3188699340" sldId="2147483667"/>
              <ac:spMk id="6" creationId="{90E75148-57B1-0757-8CD7-044CCA376E01}"/>
            </ac:spMkLst>
          </pc:spChg>
          <pc:spChg chg="mod">
            <ac:chgData name="Onwuagba, Kenechi IUC/G/UUDGS" userId="4f698ab4-0a9b-4090-aac8-15336bf9f736" providerId="ADAL" clId="{77E80BD3-9F7F-4E2A-962D-B0528BC83168}" dt="2026-06-11T15:22:01.205" v="6" actId="6549"/>
            <ac:spMkLst>
              <pc:docMk/>
              <pc:sldMasterMk cId="2871492732" sldId="2147483660"/>
              <pc:sldLayoutMk cId="3188699340" sldId="2147483667"/>
              <ac:spMk id="7" creationId="{05902486-C81E-0821-5968-C3ABF36EE3EF}"/>
            </ac:spMkLst>
          </pc:spChg>
          <pc:picChg chg="del">
            <ac:chgData name="Onwuagba, Kenechi IUC/G/UUDGS" userId="4f698ab4-0a9b-4090-aac8-15336bf9f736" providerId="ADAL" clId="{77E80BD3-9F7F-4E2A-962D-B0528BC83168}" dt="2026-06-11T15:22:01.869" v="7" actId="478"/>
            <ac:picMkLst>
              <pc:docMk/>
              <pc:sldMasterMk cId="2871492732" sldId="2147483660"/>
              <pc:sldLayoutMk cId="3188699340" sldId="2147483667"/>
              <ac:picMk id="5" creationId="{E00FDF7B-AA4B-2F5B-D3A3-210FD2729D04}"/>
            </ac:picMkLst>
          </pc:picChg>
          <pc:picChg chg="del">
            <ac:chgData name="Onwuagba, Kenechi IUC/G/UUDGS" userId="4f698ab4-0a9b-4090-aac8-15336bf9f736" providerId="ADAL" clId="{77E80BD3-9F7F-4E2A-962D-B0528BC83168}" dt="2026-06-11T15:22:03.037" v="8" actId="478"/>
            <ac:picMkLst>
              <pc:docMk/>
              <pc:sldMasterMk cId="2871492732" sldId="2147483660"/>
              <pc:sldLayoutMk cId="3188699340" sldId="2147483667"/>
              <ac:picMk id="8" creationId="{492E631B-7D6C-60D1-C9C6-733B6E66091E}"/>
            </ac:picMkLst>
          </pc:picChg>
          <pc:picChg chg="del">
            <ac:chgData name="Onwuagba, Kenechi IUC/G/UUDGS" userId="4f698ab4-0a9b-4090-aac8-15336bf9f736" providerId="ADAL" clId="{77E80BD3-9F7F-4E2A-962D-B0528BC83168}" dt="2026-06-11T15:21:59.474" v="4" actId="478"/>
            <ac:picMkLst>
              <pc:docMk/>
              <pc:sldMasterMk cId="2871492732" sldId="2147483660"/>
              <pc:sldLayoutMk cId="3188699340" sldId="2147483667"/>
              <ac:picMk id="9" creationId="{BF61B072-51C7-10AD-3ED7-C8C43467BB49}"/>
            </ac:picMkLst>
          </pc:pic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14:06:27.234"/>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14:06:27.234"/>
    </inkml:context>
    <inkml:brush xml:id="br0">
      <inkml:brushProperty name="width" value="0.035" units="cm"/>
      <inkml:brushProperty name="height" value="0.035"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D14484B2-9061-4334-914F-0BC0DCDE908F}" type="datetimeFigureOut">
              <a:rPr lang="en-US" smtClean="0"/>
              <a:t>6/11/2026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2EAA3CCD-3F78-4602-AA21-9F4563A4AD8B}" type="slidenum">
              <a:rPr lang="en-US" smtClean="0"/>
              <a:t>‹#›</a:t>
            </a:fld>
            <a:endParaRPr lang="en-US"/>
          </a:p>
        </p:txBody>
      </p:sp>
    </p:spTree>
    <p:extLst>
      <p:ext uri="{BB962C8B-B14F-4D97-AF65-F5344CB8AC3E}">
        <p14:creationId xmlns:p14="http://schemas.microsoft.com/office/powerpoint/2010/main" val="3845927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0C9BF-616D-1B3A-EA72-91EF0F341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EF4A9-A1CC-C355-6AF9-FF7ED735B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07F3A-D454-7B52-CCB6-AB43764E2B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EA33FF-8B13-95C9-1F49-812C86B65E47}"/>
              </a:ext>
            </a:extLst>
          </p:cNvPr>
          <p:cNvSpPr>
            <a:spLocks noGrp="1"/>
          </p:cNvSpPr>
          <p:nvPr>
            <p:ph type="sldNum" sz="quarter" idx="5"/>
          </p:nvPr>
        </p:nvSpPr>
        <p:spPr/>
        <p:txBody>
          <a:bodyPr/>
          <a:lstStyle/>
          <a:p>
            <a:fld id="{2EAA3CCD-3F78-4602-AA21-9F4563A4AD8B}" type="slidenum">
              <a:rPr lang="en-US" smtClean="0"/>
              <a:t>5</a:t>
            </a:fld>
            <a:endParaRPr lang="en-US"/>
          </a:p>
        </p:txBody>
      </p:sp>
    </p:spTree>
    <p:extLst>
      <p:ext uri="{BB962C8B-B14F-4D97-AF65-F5344CB8AC3E}">
        <p14:creationId xmlns:p14="http://schemas.microsoft.com/office/powerpoint/2010/main" val="265619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0952-B8A2-71F7-4D2E-71CC4C6721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CCA029-24C8-D0AA-3DEB-3B1F3A0DA5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BB52DF-2543-A323-ABEB-35AC948C8AFF}"/>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C8AA8EF0-E726-09B3-3430-240AC059E2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F3BD62-5064-C9A3-403B-8F0040B990D8}"/>
              </a:ext>
            </a:extLst>
          </p:cNvPr>
          <p:cNvSpPr>
            <a:spLocks noGrp="1"/>
          </p:cNvSpPr>
          <p:nvPr>
            <p:ph type="sldNum" sz="quarter" idx="12"/>
          </p:nvPr>
        </p:nvSpPr>
        <p:spPr/>
        <p:txBody>
          <a:bodyPr/>
          <a:lstStyle/>
          <a:p>
            <a:fld id="{4E000864-47DD-4F91-9703-DC19B0FD3713}" type="slidenum">
              <a:rPr lang="en-US" smtClean="0"/>
              <a:t>‹#›</a:t>
            </a:fld>
            <a:endParaRPr lang="en-US"/>
          </a:p>
        </p:txBody>
      </p:sp>
      <p:sp>
        <p:nvSpPr>
          <p:cNvPr id="7" name="object 7">
            <a:extLst>
              <a:ext uri="{FF2B5EF4-FFF2-40B4-BE49-F238E27FC236}">
                <a16:creationId xmlns:a16="http://schemas.microsoft.com/office/drawing/2014/main" id="{013EAF18-D8EF-B4F9-A4AF-8700469C9628}"/>
              </a:ext>
            </a:extLst>
          </p:cNvPr>
          <p:cNvSpPr txBox="1"/>
          <p:nvPr userDrawn="1"/>
        </p:nvSpPr>
        <p:spPr>
          <a:xfrm>
            <a:off x="8241352" y="6657100"/>
            <a:ext cx="3917990" cy="158377"/>
          </a:xfrm>
          <a:prstGeom prst="rect">
            <a:avLst/>
          </a:prstGeom>
        </p:spPr>
        <p:txBody>
          <a:bodyPr vert="horz" wrap="square" lIns="0" tIns="12065" rIns="0" bIns="0" rtlCol="0">
            <a:spAutoFit/>
          </a:bodyPr>
          <a:lstStyle/>
          <a:p>
            <a:pPr marL="12700" algn="r">
              <a:lnSpc>
                <a:spcPct val="100000"/>
              </a:lnSpc>
              <a:spcBef>
                <a:spcPts val="95"/>
              </a:spcBef>
              <a:tabLst>
                <a:tab pos="1271905" algn="l"/>
              </a:tabLst>
            </a:pPr>
            <a:r>
              <a:rPr lang="en-GB" sz="950" b="1" spc="-10" dirty="0">
                <a:solidFill>
                  <a:srgbClr val="006600"/>
                </a:solidFill>
                <a:latin typeface="Futura"/>
                <a:cs typeface="Garamond"/>
              </a:rPr>
              <a:t>Energy for People and Planet…</a:t>
            </a:r>
            <a:endParaRPr sz="950" dirty="0">
              <a:latin typeface="Futura"/>
              <a:cs typeface="Garamond"/>
            </a:endParaRPr>
          </a:p>
        </p:txBody>
      </p:sp>
    </p:spTree>
    <p:extLst>
      <p:ext uri="{BB962C8B-B14F-4D97-AF65-F5344CB8AC3E}">
        <p14:creationId xmlns:p14="http://schemas.microsoft.com/office/powerpoint/2010/main" val="869474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2E11-DB1F-F227-C7F1-81F610F3D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50B27F-DED5-4859-88AA-03AC88310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B7933-28FC-6E54-D7DE-07E0E506D2D4}"/>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DCF6DB0B-E109-2EB2-5476-081062169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96E8C-48EA-E872-F1B4-AC1B1F4166BE}"/>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125994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496ED-7C41-BD3A-5E2D-444C765B5F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BC33AC-29FE-14DE-65B6-A9F848E0A5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85C4CE-813A-0CFF-34F3-D16F63A993C9}"/>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A3276A60-EB32-D6AB-9F2F-8E0C0A25B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4FA97-C033-950C-3018-37DB5B8C3835}"/>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169882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6680-F8D2-5C2F-154A-A5BBEEFF1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508704-7436-CE62-99A5-7408651A0F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060703-EA3E-9864-33D5-C875F416BF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95C28B-CF5C-B7DA-F17F-623C2B7C0BF3}"/>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6" name="Footer Placeholder 5">
            <a:extLst>
              <a:ext uri="{FF2B5EF4-FFF2-40B4-BE49-F238E27FC236}">
                <a16:creationId xmlns:a16="http://schemas.microsoft.com/office/drawing/2014/main" id="{4A956344-B8FD-6ED0-71DB-D2E347F830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800DDA-6859-08ED-7827-C50797220488}"/>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4057985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9C675-B1BA-026D-82E6-B3E0D57ECB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FF2798-D24F-C853-92F5-CCE467B856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251C86-8CB3-CE66-429D-B8684C6E31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B7787A-45CD-B7B0-8802-F959B71549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FFE29E-3C0A-3EC4-DDCB-84E86B46E4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E3DFEB-3AED-77FE-D9E9-788D0A9E8086}"/>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8" name="Footer Placeholder 7">
            <a:extLst>
              <a:ext uri="{FF2B5EF4-FFF2-40B4-BE49-F238E27FC236}">
                <a16:creationId xmlns:a16="http://schemas.microsoft.com/office/drawing/2014/main" id="{3A49DDC7-F80E-AD87-812F-0837F28689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D9B4AC-3169-3979-29B3-4AB142ECF7EE}"/>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2662016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A544-D832-A932-A4B4-DDD32B1FC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66E39A-D22C-1C36-5AF4-D846D50FFF51}"/>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4" name="Footer Placeholder 3">
            <a:extLst>
              <a:ext uri="{FF2B5EF4-FFF2-40B4-BE49-F238E27FC236}">
                <a16:creationId xmlns:a16="http://schemas.microsoft.com/office/drawing/2014/main" id="{FB0D973D-7ACF-83C4-6DB3-7D1BC891AF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61138A-38F5-1584-450D-9DE646F7E15C}"/>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1150022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7EB056-2EE5-213E-82F5-1CD7C3F7EB8D}"/>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3" name="Footer Placeholder 2">
            <a:extLst>
              <a:ext uri="{FF2B5EF4-FFF2-40B4-BE49-F238E27FC236}">
                <a16:creationId xmlns:a16="http://schemas.microsoft.com/office/drawing/2014/main" id="{45807B49-8714-B7AF-FE72-C8900832CC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32D96E-1A49-2A8E-7763-B854FFFBCC77}"/>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171307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498E-CB91-32A4-EA79-3C574DE6BB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CD8542-5028-0269-F4E6-29E1862C6E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A94EF3-14FF-EB76-0921-9F73C83C1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72D2B4-469C-15D0-91BB-E2A000CD6425}"/>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6" name="Footer Placeholder 5">
            <a:extLst>
              <a:ext uri="{FF2B5EF4-FFF2-40B4-BE49-F238E27FC236}">
                <a16:creationId xmlns:a16="http://schemas.microsoft.com/office/drawing/2014/main" id="{7D91E7A5-B143-A482-E9D4-E1E34DF18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1B4B3D-8854-2414-EAB2-4FC2B6585AAE}"/>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3355274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7860-5A90-04EC-70D5-8FD7301088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2BF35D-A97C-8731-727D-C9CB034415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2A83EC-0A97-67EC-7BD7-5024D9D0B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64BD2C-3E71-1E9E-E4C7-1261BB9C1841}"/>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6" name="Footer Placeholder 5">
            <a:extLst>
              <a:ext uri="{FF2B5EF4-FFF2-40B4-BE49-F238E27FC236}">
                <a16:creationId xmlns:a16="http://schemas.microsoft.com/office/drawing/2014/main" id="{95B4B6E2-D1E0-B576-F87A-3881AB908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65969E-E476-B023-1446-34AE6C9EBE4E}"/>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400819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06A7-CB53-880A-A0B2-56CE52EC89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80DBE-BB33-1DF9-6549-5CDBD15846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E5D9D-47B2-2709-1C4B-8DDC8A5C9E9E}"/>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8B446F8C-206B-247E-9B43-9B3ADC890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5DE50-0003-62E9-4CFA-44EE5DC1D921}"/>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946652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772288-C734-0806-CEF1-7F01E70A11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E48688-7F98-6B6B-AAD7-3720DF3E1A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29FEB8-1E5F-5D08-D5BE-2C9C1236B598}"/>
              </a:ext>
            </a:extLst>
          </p:cNvPr>
          <p:cNvSpPr>
            <a:spLocks noGrp="1"/>
          </p:cNvSpPr>
          <p:nvPr>
            <p:ph type="dt" sz="half" idx="10"/>
          </p:nvPr>
        </p:nvSpPr>
        <p:spPr/>
        <p:txBody>
          <a:body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E91A3C3E-4A34-7193-A2EF-4ECE690E5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F3BEA-1794-00D4-86BE-B11D4308E7BB}"/>
              </a:ext>
            </a:extLst>
          </p:cNvPr>
          <p:cNvSpPr>
            <a:spLocks noGrp="1"/>
          </p:cNvSpPr>
          <p:nvPr>
            <p:ph type="sldNum" sz="quarter" idx="12"/>
          </p:nvPr>
        </p:nvSpPr>
        <p:spPr/>
        <p:txBody>
          <a:bodyPr/>
          <a:lstStyle/>
          <a:p>
            <a:fld id="{4E000864-47DD-4F91-9703-DC19B0FD3713}" type="slidenum">
              <a:rPr lang="en-US" smtClean="0"/>
              <a:t>‹#›</a:t>
            </a:fld>
            <a:endParaRPr lang="en-US"/>
          </a:p>
        </p:txBody>
      </p:sp>
    </p:spTree>
    <p:extLst>
      <p:ext uri="{BB962C8B-B14F-4D97-AF65-F5344CB8AC3E}">
        <p14:creationId xmlns:p14="http://schemas.microsoft.com/office/powerpoint/2010/main" val="2869486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699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object 6">
            <a:extLst>
              <a:ext uri="{FF2B5EF4-FFF2-40B4-BE49-F238E27FC236}">
                <a16:creationId xmlns:a16="http://schemas.microsoft.com/office/drawing/2014/main" id="{2EE326EF-8364-920F-80FD-7D22E70C692C}"/>
              </a:ext>
            </a:extLst>
          </p:cNvPr>
          <p:cNvSpPr txBox="1"/>
          <p:nvPr userDrawn="1"/>
        </p:nvSpPr>
        <p:spPr>
          <a:xfrm>
            <a:off x="-10886" y="4497737"/>
            <a:ext cx="12202886" cy="1072088"/>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ctr"/>
            <a:endParaRPr lang="en-GB" b="1" dirty="0">
              <a:solidFill>
                <a:srgbClr val="009200"/>
              </a:solidFill>
            </a:endParaRPr>
          </a:p>
        </p:txBody>
      </p:sp>
      <p:sp>
        <p:nvSpPr>
          <p:cNvPr id="10" name="object 7">
            <a:extLst>
              <a:ext uri="{FF2B5EF4-FFF2-40B4-BE49-F238E27FC236}">
                <a16:creationId xmlns:a16="http://schemas.microsoft.com/office/drawing/2014/main" id="{CB89C0DF-F874-B5E1-327C-2CD88BAE410F}"/>
              </a:ext>
            </a:extLst>
          </p:cNvPr>
          <p:cNvSpPr txBox="1"/>
          <p:nvPr userDrawn="1"/>
        </p:nvSpPr>
        <p:spPr>
          <a:xfrm>
            <a:off x="7870371" y="5775043"/>
            <a:ext cx="3917990" cy="227626"/>
          </a:xfrm>
          <a:prstGeom prst="rect">
            <a:avLst/>
          </a:prstGeom>
        </p:spPr>
        <p:txBody>
          <a:bodyPr vert="horz" wrap="square" lIns="0" tIns="12065" rIns="0" bIns="0" rtlCol="0">
            <a:spAutoFit/>
          </a:bodyPr>
          <a:lstStyle/>
          <a:p>
            <a:pPr marL="12700" algn="r">
              <a:lnSpc>
                <a:spcPct val="100000"/>
              </a:lnSpc>
              <a:spcBef>
                <a:spcPts val="95"/>
              </a:spcBef>
              <a:tabLst>
                <a:tab pos="1271905" algn="l"/>
              </a:tabLst>
            </a:pPr>
            <a:r>
              <a:rPr lang="en-GB" sz="1400" b="1" spc="-10" dirty="0">
                <a:solidFill>
                  <a:schemeClr val="bg1"/>
                </a:solidFill>
                <a:latin typeface="Futura"/>
                <a:cs typeface="Garamond"/>
              </a:rPr>
              <a:t>Energy for People and Planet…</a:t>
            </a:r>
            <a:endParaRPr sz="1400" dirty="0">
              <a:solidFill>
                <a:schemeClr val="bg1"/>
              </a:solidFill>
              <a:latin typeface="Futura"/>
              <a:cs typeface="Garamond"/>
            </a:endParaRPr>
          </a:p>
        </p:txBody>
      </p:sp>
      <p:sp>
        <p:nvSpPr>
          <p:cNvPr id="11" name="Title 1">
            <a:extLst>
              <a:ext uri="{FF2B5EF4-FFF2-40B4-BE49-F238E27FC236}">
                <a16:creationId xmlns:a16="http://schemas.microsoft.com/office/drawing/2014/main" id="{0DDB16E0-EA86-FDD4-7181-B3154656A2E0}"/>
              </a:ext>
            </a:extLst>
          </p:cNvPr>
          <p:cNvSpPr>
            <a:spLocks noGrp="1"/>
          </p:cNvSpPr>
          <p:nvPr>
            <p:ph type="title" hasCustomPrompt="1"/>
          </p:nvPr>
        </p:nvSpPr>
        <p:spPr>
          <a:xfrm>
            <a:off x="838200" y="4310949"/>
            <a:ext cx="10515600" cy="1325563"/>
          </a:xfrm>
        </p:spPr>
        <p:txBody>
          <a:bodyPr/>
          <a:lstStyle>
            <a:lvl1pPr>
              <a:defRPr b="0"/>
            </a:lvl1pPr>
          </a:lstStyle>
          <a:p>
            <a:pPr lvl="0" algn="ctr"/>
            <a:r>
              <a:rPr lang="en-GB" b="1" dirty="0">
                <a:solidFill>
                  <a:srgbClr val="009200"/>
                </a:solidFill>
              </a:rPr>
              <a:t>TITTITLE SLIDE</a:t>
            </a:r>
            <a:br>
              <a:rPr lang="en-GB" b="1" dirty="0">
                <a:solidFill>
                  <a:srgbClr val="009200"/>
                </a:solidFill>
              </a:rPr>
            </a:br>
            <a:r>
              <a:rPr lang="en-GB" b="1" dirty="0">
                <a:solidFill>
                  <a:srgbClr val="009200"/>
                </a:solidFill>
              </a:rPr>
              <a:t> Sub-Title</a:t>
            </a:r>
            <a:endParaRPr lang="en-US" dirty="0"/>
          </a:p>
        </p:txBody>
      </p:sp>
    </p:spTree>
    <p:extLst>
      <p:ext uri="{BB962C8B-B14F-4D97-AF65-F5344CB8AC3E}">
        <p14:creationId xmlns:p14="http://schemas.microsoft.com/office/powerpoint/2010/main" val="1578656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F1859A0-87D5-C2C0-19C4-21C0F76D47A9}"/>
              </a:ext>
            </a:extLst>
          </p:cNvPr>
          <p:cNvSpPr>
            <a:spLocks noGrp="1"/>
          </p:cNvSpPr>
          <p:nvPr>
            <p:ph type="title" hasCustomPrompt="1"/>
          </p:nvPr>
        </p:nvSpPr>
        <p:spPr>
          <a:xfrm>
            <a:off x="23194" y="3365475"/>
            <a:ext cx="12161520" cy="1325563"/>
          </a:xfrm>
          <a:solidFill>
            <a:schemeClr val="bg1"/>
          </a:solidFill>
          <a:ln>
            <a:noFill/>
          </a:ln>
        </p:spPr>
        <p:txBody>
          <a:bodyPr/>
          <a:lstStyle>
            <a:lvl1pPr algn="ctr">
              <a:defRPr>
                <a:solidFill>
                  <a:srgbClr val="009200"/>
                </a:solidFill>
              </a:defRPr>
            </a:lvl1pPr>
          </a:lstStyle>
          <a:p>
            <a:r>
              <a:rPr lang="en-GB" sz="4400" b="1" dirty="0">
                <a:solidFill>
                  <a:srgbClr val="009200"/>
                </a:solidFill>
                <a:latin typeface="Aptos" panose="020B0004020202020204" pitchFamily="34" charset="0"/>
                <a:cs typeface="Poppins" panose="00000500000000000000" pitchFamily="2" charset="0"/>
              </a:rPr>
              <a:t>SLIDE </a:t>
            </a:r>
            <a:r>
              <a:rPr lang="en-US" sz="4400" b="1" dirty="0">
                <a:solidFill>
                  <a:srgbClr val="009200"/>
                </a:solidFill>
                <a:latin typeface="Aptos" panose="020B0004020202020204" pitchFamily="34" charset="0"/>
                <a:cs typeface="Poppins" panose="00000500000000000000" pitchFamily="2" charset="0"/>
              </a:rPr>
              <a:t>BREAKER</a:t>
            </a:r>
            <a:endParaRPr lang="en-US" dirty="0"/>
          </a:p>
        </p:txBody>
      </p:sp>
    </p:spTree>
    <p:extLst>
      <p:ext uri="{BB962C8B-B14F-4D97-AF65-F5344CB8AC3E}">
        <p14:creationId xmlns:p14="http://schemas.microsoft.com/office/powerpoint/2010/main" val="2946676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05902486-C81E-0821-5968-C3ABF36EE3EF}"/>
              </a:ext>
            </a:extLst>
          </p:cNvPr>
          <p:cNvSpPr txBox="1">
            <a:spLocks noChangeArrowheads="1"/>
          </p:cNvSpPr>
          <p:nvPr userDrawn="1"/>
        </p:nvSpPr>
        <p:spPr bwMode="auto">
          <a:xfrm>
            <a:off x="7891036" y="1850057"/>
            <a:ext cx="4888053" cy="1158161"/>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lgn="l" defTabSz="914400" rtl="0" eaLnBrk="1" latinLnBrk="0" hangingPunct="1">
              <a:lnSpc>
                <a:spcPct val="90000"/>
              </a:lnSpc>
              <a:spcBef>
                <a:spcPct val="0"/>
              </a:spcBef>
              <a:buNone/>
              <a:defRPr sz="4400" kern="1200" cap="none" baseline="0">
                <a:solidFill>
                  <a:schemeClr val="tx1"/>
                </a:solidFill>
                <a:latin typeface="+mj-lt"/>
                <a:ea typeface="+mj-ea"/>
                <a:cs typeface="+mj-cs"/>
              </a:defRPr>
            </a:lvl1pPr>
          </a:lstStyle>
          <a:p>
            <a:r>
              <a:rPr lang="en-GB" sz="8000" b="1" dirty="0">
                <a:solidFill>
                  <a:schemeClr val="bg1"/>
                </a:solidFill>
                <a:latin typeface="Montserrat" pitchFamily="2" charset="77"/>
              </a:rPr>
              <a:t>&amp;A</a:t>
            </a:r>
          </a:p>
        </p:txBody>
      </p:sp>
    </p:spTree>
    <p:extLst>
      <p:ext uri="{BB962C8B-B14F-4D97-AF65-F5344CB8AC3E}">
        <p14:creationId xmlns:p14="http://schemas.microsoft.com/office/powerpoint/2010/main" val="3188699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059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7782-91E8-376C-6224-1C3A2C56A58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436DEF3-8681-E171-3B3E-E9F0780E5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29ECD4-51C6-39F7-7D94-084024307C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182085-A599-155F-75CB-3768D77194F2}"/>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6" name="Footer Placeholder 5">
            <a:extLst>
              <a:ext uri="{FF2B5EF4-FFF2-40B4-BE49-F238E27FC236}">
                <a16:creationId xmlns:a16="http://schemas.microsoft.com/office/drawing/2014/main" id="{2EADA90F-A95C-3ECD-4BA0-6653C13173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C44AA-0C89-490B-4CF8-55780A3C44B1}"/>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21550926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3BD3-4B59-628C-9BAA-8F27B2E211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021BF2-CEA3-72EC-FB08-51DCA5F214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CA0543-16C9-3FE6-3350-488DADBE6E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0824C1-587D-5356-8BF8-40B0C61908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5547FA-81BC-9975-A197-56785F6FAB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2ED4AD-F745-E654-82D6-FCC0712CE283}"/>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8" name="Footer Placeholder 7">
            <a:extLst>
              <a:ext uri="{FF2B5EF4-FFF2-40B4-BE49-F238E27FC236}">
                <a16:creationId xmlns:a16="http://schemas.microsoft.com/office/drawing/2014/main" id="{69145B43-4E32-B672-EF2A-9F1D168E90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1FD7C5-BE2C-C423-60A2-D7792142AC72}"/>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1223820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23AD2-F3DC-2E06-9D58-94B31476DA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3A2780-909F-37A1-E73D-162916BA1F72}"/>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4" name="Footer Placeholder 3">
            <a:extLst>
              <a:ext uri="{FF2B5EF4-FFF2-40B4-BE49-F238E27FC236}">
                <a16:creationId xmlns:a16="http://schemas.microsoft.com/office/drawing/2014/main" id="{D0C214AC-324B-A8A7-AEE2-9EEEB63962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F814D1-66CC-BD36-F7AE-42DE8FF2A5B9}"/>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2164764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9187F4-00E9-CDBE-39F2-C0EF098F4DE0}"/>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3" name="Footer Placeholder 2">
            <a:extLst>
              <a:ext uri="{FF2B5EF4-FFF2-40B4-BE49-F238E27FC236}">
                <a16:creationId xmlns:a16="http://schemas.microsoft.com/office/drawing/2014/main" id="{85B8D647-14FB-F610-1D58-7C8723B6D7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7744AC-5A25-1CF8-CCA9-140345486FE3}"/>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33621673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B5954-EA6C-FEF7-8EA9-D97112A059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AD026-8E25-5A83-9FE3-9696ED0127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DD04A0-ACCA-DA18-7035-2024BDDC0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687A93-9F52-FF56-3602-B1E34A3B35A4}"/>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6" name="Footer Placeholder 5">
            <a:extLst>
              <a:ext uri="{FF2B5EF4-FFF2-40B4-BE49-F238E27FC236}">
                <a16:creationId xmlns:a16="http://schemas.microsoft.com/office/drawing/2014/main" id="{E02B1FAF-31C8-320C-9EF7-73E40CE819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952DA1-2B1E-66A5-EC66-F8C907C7DB39}"/>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2206445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11484-05B4-2CDD-3C69-D347A162F5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33A8DA-4490-BAA8-148F-BDCB42B5B1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788DC-54BE-5A63-F334-46F498C5E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DFE29B-E902-A69F-E02F-4D51834E91BE}"/>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6" name="Footer Placeholder 5">
            <a:extLst>
              <a:ext uri="{FF2B5EF4-FFF2-40B4-BE49-F238E27FC236}">
                <a16:creationId xmlns:a16="http://schemas.microsoft.com/office/drawing/2014/main" id="{30253F2F-2571-0B9A-89C8-3B005B55A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2B95C7-C079-BE1B-650C-097B3CC249BA}"/>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3691613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1131-37DF-63B9-398F-1969E796B5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4A9D16-569E-BB7B-8419-D2C6C5BAE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2A453-FA40-A8C5-D2A3-701C0CCC1DB0}"/>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5" name="Footer Placeholder 4">
            <a:extLst>
              <a:ext uri="{FF2B5EF4-FFF2-40B4-BE49-F238E27FC236}">
                <a16:creationId xmlns:a16="http://schemas.microsoft.com/office/drawing/2014/main" id="{A2B7ACDF-4E58-CAF7-53F8-12F0DAB4F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58781-CAD4-107B-F76A-AA54C1E23FB4}"/>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1032479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3C246C-C230-4A02-B6C6-39FA7510F2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FE7780-0B10-167F-9940-C39558EA49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F0BBA2-85E2-77EE-B78D-41D4EEBE3487}"/>
              </a:ext>
            </a:extLst>
          </p:cNvPr>
          <p:cNvSpPr>
            <a:spLocks noGrp="1"/>
          </p:cNvSpPr>
          <p:nvPr>
            <p:ph type="dt" sz="half" idx="10"/>
          </p:nvPr>
        </p:nvSpPr>
        <p:spPr/>
        <p:txBody>
          <a:bodyPr/>
          <a:lstStyle/>
          <a:p>
            <a:fld id="{3AD57A04-82AA-4685-9B5B-2334FF890FB9}" type="datetimeFigureOut">
              <a:rPr lang="en-US" smtClean="0"/>
              <a:t>6/11/2026</a:t>
            </a:fld>
            <a:endParaRPr lang="en-US"/>
          </a:p>
        </p:txBody>
      </p:sp>
      <p:sp>
        <p:nvSpPr>
          <p:cNvPr id="5" name="Footer Placeholder 4">
            <a:extLst>
              <a:ext uri="{FF2B5EF4-FFF2-40B4-BE49-F238E27FC236}">
                <a16:creationId xmlns:a16="http://schemas.microsoft.com/office/drawing/2014/main" id="{A4E260FC-0851-9745-C49A-4BB4B2863C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A545B-4EC2-1693-B431-52EC6FA66750}"/>
              </a:ext>
            </a:extLst>
          </p:cNvPr>
          <p:cNvSpPr>
            <a:spLocks noGrp="1"/>
          </p:cNvSpPr>
          <p:nvPr>
            <p:ph type="sldNum" sz="quarter" idx="12"/>
          </p:nvPr>
        </p:nvSpPr>
        <p:spPr/>
        <p:txBody>
          <a:bodyPr/>
          <a:lstStyle/>
          <a:p>
            <a:fld id="{54014120-AEC9-42B2-96EC-8B4C96D09A48}" type="slidenum">
              <a:rPr lang="en-US" smtClean="0"/>
              <a:t>‹#›</a:t>
            </a:fld>
            <a:endParaRPr lang="en-US"/>
          </a:p>
        </p:txBody>
      </p:sp>
    </p:spTree>
    <p:extLst>
      <p:ext uri="{BB962C8B-B14F-4D97-AF65-F5344CB8AC3E}">
        <p14:creationId xmlns:p14="http://schemas.microsoft.com/office/powerpoint/2010/main" val="218706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332802-05F6-0CB7-86E3-FBC0871D5C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1239A3-6808-6F88-E2A6-18FDE0958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7B3AD-19BF-F104-D6D3-EBE413BDFF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EF48E5-9B9F-4F3C-BCD0-5A86BEE190E5}" type="datetimeFigureOut">
              <a:rPr lang="en-US" smtClean="0"/>
              <a:t>6/11/2026</a:t>
            </a:fld>
            <a:endParaRPr lang="en-US"/>
          </a:p>
        </p:txBody>
      </p:sp>
      <p:sp>
        <p:nvSpPr>
          <p:cNvPr id="5" name="Footer Placeholder 4">
            <a:extLst>
              <a:ext uri="{FF2B5EF4-FFF2-40B4-BE49-F238E27FC236}">
                <a16:creationId xmlns:a16="http://schemas.microsoft.com/office/drawing/2014/main" id="{9E6E2EE7-B884-CF44-111A-89828A0B3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8C0CA8-4783-5E1A-448A-E6CFD5F7A2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000864-47DD-4F91-9703-DC19B0FD3713}" type="slidenum">
              <a:rPr lang="en-US" smtClean="0"/>
              <a:t>‹#›</a:t>
            </a:fld>
            <a:endParaRPr lang="en-US"/>
          </a:p>
        </p:txBody>
      </p:sp>
    </p:spTree>
    <p:extLst>
      <p:ext uri="{BB962C8B-B14F-4D97-AF65-F5344CB8AC3E}">
        <p14:creationId xmlns:p14="http://schemas.microsoft.com/office/powerpoint/2010/main" val="1215215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E27650-EFEE-BE78-07C1-DBC9ECE68B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20E77E-49E0-F758-2D94-1435521211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89A99E-EEB3-E8BA-178A-8C2781D71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D57A04-82AA-4685-9B5B-2334FF890FB9}" type="datetimeFigureOut">
              <a:rPr lang="en-US" smtClean="0"/>
              <a:t>6/11/2026</a:t>
            </a:fld>
            <a:endParaRPr lang="en-US"/>
          </a:p>
        </p:txBody>
      </p:sp>
      <p:sp>
        <p:nvSpPr>
          <p:cNvPr id="5" name="Footer Placeholder 4">
            <a:extLst>
              <a:ext uri="{FF2B5EF4-FFF2-40B4-BE49-F238E27FC236}">
                <a16:creationId xmlns:a16="http://schemas.microsoft.com/office/drawing/2014/main" id="{CF7A5FCB-B0CD-FFDF-87CA-8148772792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F6374E-5B45-6C7B-F347-8357CA0232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14120-AEC9-42B2-96EC-8B4C96D09A48}" type="slidenum">
              <a:rPr lang="en-US" smtClean="0"/>
              <a:t>‹#›</a:t>
            </a:fld>
            <a:endParaRPr lang="en-US"/>
          </a:p>
        </p:txBody>
      </p:sp>
    </p:spTree>
    <p:extLst>
      <p:ext uri="{BB962C8B-B14F-4D97-AF65-F5344CB8AC3E}">
        <p14:creationId xmlns:p14="http://schemas.microsoft.com/office/powerpoint/2010/main" val="2871492732"/>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7" r:id="rId3"/>
    <p:sldLayoutId id="2147483661" r:id="rId4"/>
    <p:sldLayoutId id="2147483664" r:id="rId5"/>
    <p:sldLayoutId id="2147483665" r:id="rId6"/>
    <p:sldLayoutId id="2147483666" r:id="rId7"/>
    <p:sldLayoutId id="2147483672"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2.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54.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D87C46D2-6158-EE6D-63EE-872572F65067}"/>
              </a:ext>
            </a:extLst>
          </p:cNvPr>
          <p:cNvSpPr txBox="1"/>
          <p:nvPr/>
        </p:nvSpPr>
        <p:spPr>
          <a:xfrm>
            <a:off x="146304" y="4077113"/>
            <a:ext cx="12045696" cy="443711"/>
          </a:xfrm>
          <a:prstGeom prst="rect">
            <a:avLst/>
          </a:prstGeom>
        </p:spPr>
        <p:txBody>
          <a:bodyPr vert="horz" wrap="square" lIns="0" tIns="12700" rIns="0" bIns="0" rtlCol="0">
            <a:spAutoFit/>
          </a:bodyPr>
          <a:lstStyle/>
          <a:p>
            <a:pPr marL="12700" algn="ctr">
              <a:lnSpc>
                <a:spcPct val="100000"/>
              </a:lnSpc>
              <a:spcBef>
                <a:spcPts val="100"/>
              </a:spcBef>
            </a:pPr>
            <a:r>
              <a:rPr lang="en-GB" sz="2800" dirty="0">
                <a:solidFill>
                  <a:srgbClr val="009200"/>
                </a:solidFill>
                <a:latin typeface="Aptos" panose="020B0004020202020204" pitchFamily="34" charset="0"/>
                <a:cs typeface="Poppins" panose="00000500000000000000" pitchFamily="2" charset="0"/>
              </a:rPr>
              <a:t>PETROPHYSICS SOFTWARE WORKFLOW</a:t>
            </a:r>
          </a:p>
        </p:txBody>
      </p:sp>
    </p:spTree>
    <p:extLst>
      <p:ext uri="{BB962C8B-B14F-4D97-AF65-F5344CB8AC3E}">
        <p14:creationId xmlns:p14="http://schemas.microsoft.com/office/powerpoint/2010/main" val="1331691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8F349-7BE5-DEF8-D914-053CA1887806}"/>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D733CF67-DC65-DA8F-513A-974F83347AD7}"/>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chemeClr val="accent6">
                    <a:lumMod val="75000"/>
                  </a:schemeClr>
                </a:solidFill>
                <a:cs typeface="Poppins" panose="00000500000000000000" pitchFamily="2" charset="0"/>
              </a:rPr>
              <a:t>TABLE OF CONTENTS</a:t>
            </a:r>
          </a:p>
        </p:txBody>
      </p:sp>
      <p:sp>
        <p:nvSpPr>
          <p:cNvPr id="2" name="TextBox 1">
            <a:extLst>
              <a:ext uri="{FF2B5EF4-FFF2-40B4-BE49-F238E27FC236}">
                <a16:creationId xmlns:a16="http://schemas.microsoft.com/office/drawing/2014/main" id="{244F1CE6-6FFB-5F00-FD91-842AFAC172BF}"/>
              </a:ext>
            </a:extLst>
          </p:cNvPr>
          <p:cNvSpPr txBox="1"/>
          <p:nvPr/>
        </p:nvSpPr>
        <p:spPr>
          <a:xfrm>
            <a:off x="195594" y="948629"/>
            <a:ext cx="8547439" cy="5587940"/>
          </a:xfrm>
          <a:prstGeom prst="rect">
            <a:avLst/>
          </a:prstGeom>
          <a:noFill/>
        </p:spPr>
        <p:txBody>
          <a:bodyPr wrap="square" rtlCol="0">
            <a:spAutoFit/>
          </a:bodyPr>
          <a:lstStyle/>
          <a:p>
            <a:pPr marL="285750" indent="-285750">
              <a:lnSpc>
                <a:spcPct val="150000"/>
              </a:lnSpc>
              <a:buClr>
                <a:schemeClr val="accent6">
                  <a:lumMod val="75000"/>
                </a:schemeClr>
              </a:buClr>
              <a:buFont typeface="Wingdings" panose="05000000000000000000" pitchFamily="2" charset="2"/>
              <a:buChar char="q"/>
            </a:pPr>
            <a:r>
              <a:rPr lang="en-GB" sz="2000" dirty="0"/>
              <a:t>IMPORT LOGS/DATASETS</a:t>
            </a:r>
          </a:p>
          <a:p>
            <a:pPr marL="285750" indent="-285750">
              <a:lnSpc>
                <a:spcPct val="150000"/>
              </a:lnSpc>
              <a:buClr>
                <a:schemeClr val="accent6">
                  <a:lumMod val="75000"/>
                </a:schemeClr>
              </a:buClr>
              <a:buFont typeface="Wingdings" panose="05000000000000000000" pitchFamily="2" charset="2"/>
              <a:buChar char="q"/>
            </a:pPr>
            <a:r>
              <a:rPr lang="en-GB" sz="2000" dirty="0"/>
              <a:t>QC LOGS</a:t>
            </a:r>
          </a:p>
          <a:p>
            <a:pPr marL="285750" indent="-285750">
              <a:lnSpc>
                <a:spcPct val="150000"/>
              </a:lnSpc>
              <a:buClr>
                <a:schemeClr val="accent6">
                  <a:lumMod val="75000"/>
                </a:schemeClr>
              </a:buClr>
              <a:buFont typeface="Wingdings" panose="05000000000000000000" pitchFamily="2" charset="2"/>
              <a:buChar char="q"/>
            </a:pPr>
            <a:r>
              <a:rPr lang="en-GB" sz="2000" dirty="0"/>
              <a:t>PLOT LOGS</a:t>
            </a:r>
          </a:p>
          <a:p>
            <a:pPr marL="285750" indent="-285750">
              <a:lnSpc>
                <a:spcPct val="150000"/>
              </a:lnSpc>
              <a:buClr>
                <a:schemeClr val="accent6">
                  <a:lumMod val="75000"/>
                </a:schemeClr>
              </a:buClr>
              <a:buFont typeface="Wingdings" panose="05000000000000000000" pitchFamily="2" charset="2"/>
              <a:buChar char="q"/>
            </a:pPr>
            <a:r>
              <a:rPr lang="en-GB" sz="2000" dirty="0"/>
              <a:t>HCDP</a:t>
            </a:r>
          </a:p>
          <a:p>
            <a:pPr marL="285750" indent="-285750">
              <a:lnSpc>
                <a:spcPct val="150000"/>
              </a:lnSpc>
              <a:buClr>
                <a:schemeClr val="accent6">
                  <a:lumMod val="75000"/>
                </a:schemeClr>
              </a:buClr>
              <a:buFont typeface="Wingdings" panose="05000000000000000000" pitchFamily="2" charset="2"/>
              <a:buChar char="q"/>
            </a:pPr>
            <a:r>
              <a:rPr lang="en-GB" sz="2000" dirty="0"/>
              <a:t>NEW ZONATION</a:t>
            </a:r>
          </a:p>
          <a:p>
            <a:pPr marL="285750" indent="-285750">
              <a:lnSpc>
                <a:spcPct val="150000"/>
              </a:lnSpc>
              <a:buClr>
                <a:schemeClr val="accent6">
                  <a:lumMod val="75000"/>
                </a:schemeClr>
              </a:buClr>
              <a:buFont typeface="Wingdings" panose="05000000000000000000" pitchFamily="2" charset="2"/>
              <a:buChar char="q"/>
            </a:pPr>
            <a:r>
              <a:rPr lang="en-GB" sz="2000" dirty="0"/>
              <a:t>VSHALE ESTIMATION</a:t>
            </a:r>
          </a:p>
          <a:p>
            <a:pPr marL="285750" indent="-285750">
              <a:lnSpc>
                <a:spcPct val="150000"/>
              </a:lnSpc>
              <a:buClr>
                <a:schemeClr val="accent6">
                  <a:lumMod val="75000"/>
                </a:schemeClr>
              </a:buClr>
              <a:buFont typeface="Wingdings" panose="05000000000000000000" pitchFamily="2" charset="2"/>
              <a:buChar char="q"/>
            </a:pPr>
            <a:r>
              <a:rPr lang="en-GB" sz="2000" dirty="0"/>
              <a:t>POROSITY ESTIMATION</a:t>
            </a:r>
          </a:p>
          <a:p>
            <a:pPr marL="285750" indent="-285750">
              <a:lnSpc>
                <a:spcPct val="150000"/>
              </a:lnSpc>
              <a:buClr>
                <a:schemeClr val="accent6">
                  <a:lumMod val="75000"/>
                </a:schemeClr>
              </a:buClr>
              <a:buFont typeface="Wingdings" panose="05000000000000000000" pitchFamily="2" charset="2"/>
              <a:buChar char="q"/>
            </a:pPr>
            <a:r>
              <a:rPr lang="en-GB" sz="2000" dirty="0"/>
              <a:t>PERMEABILITY ESTIMATION</a:t>
            </a:r>
          </a:p>
          <a:p>
            <a:pPr marL="285750" indent="-285750">
              <a:lnSpc>
                <a:spcPct val="150000"/>
              </a:lnSpc>
              <a:buClr>
                <a:schemeClr val="accent6">
                  <a:lumMod val="75000"/>
                </a:schemeClr>
              </a:buClr>
              <a:buFont typeface="Wingdings" panose="05000000000000000000" pitchFamily="2" charset="2"/>
              <a:buChar char="q"/>
            </a:pPr>
            <a:r>
              <a:rPr lang="en-GB" sz="2000" dirty="0"/>
              <a:t>SATURATION ESTIMATION</a:t>
            </a:r>
          </a:p>
          <a:p>
            <a:pPr marL="285750" indent="-285750">
              <a:lnSpc>
                <a:spcPct val="150000"/>
              </a:lnSpc>
              <a:buClr>
                <a:schemeClr val="accent6">
                  <a:lumMod val="75000"/>
                </a:schemeClr>
              </a:buClr>
              <a:buFont typeface="Wingdings" panose="05000000000000000000" pitchFamily="2" charset="2"/>
              <a:buChar char="q"/>
            </a:pPr>
            <a:r>
              <a:rPr lang="en-GB" sz="2000" dirty="0"/>
              <a:t>SATURATION HEIGHT MODELING</a:t>
            </a:r>
          </a:p>
          <a:p>
            <a:pPr marL="285750" indent="-285750">
              <a:lnSpc>
                <a:spcPct val="150000"/>
              </a:lnSpc>
              <a:buClr>
                <a:schemeClr val="accent6">
                  <a:lumMod val="75000"/>
                </a:schemeClr>
              </a:buClr>
              <a:buFont typeface="Wingdings" panose="05000000000000000000" pitchFamily="2" charset="2"/>
              <a:buChar char="q"/>
            </a:pPr>
            <a:r>
              <a:rPr lang="en-GB" sz="2000" dirty="0"/>
              <a:t>SUMMARIES</a:t>
            </a:r>
          </a:p>
          <a:p>
            <a:pPr marL="285750" indent="-285750">
              <a:lnSpc>
                <a:spcPct val="150000"/>
              </a:lnSpc>
              <a:buClr>
                <a:schemeClr val="accent6">
                  <a:lumMod val="75000"/>
                </a:schemeClr>
              </a:buClr>
              <a:buFont typeface="Wingdings" panose="05000000000000000000" pitchFamily="2" charset="2"/>
              <a:buChar char="q"/>
            </a:pPr>
            <a:r>
              <a:rPr lang="en-GB" sz="2000" dirty="0"/>
              <a:t>EXPORT</a:t>
            </a:r>
          </a:p>
        </p:txBody>
      </p:sp>
    </p:spTree>
    <p:extLst>
      <p:ext uri="{BB962C8B-B14F-4D97-AF65-F5344CB8AC3E}">
        <p14:creationId xmlns:p14="http://schemas.microsoft.com/office/powerpoint/2010/main" val="4294848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E96DFDE2-C56D-281E-BFA9-DE9812E2BD48}"/>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IMPORT LOGS/DATASETS</a:t>
            </a:r>
            <a:endParaRPr lang="en-US" sz="2800" b="1" dirty="0">
              <a:solidFill>
                <a:srgbClr val="009200"/>
              </a:solidFill>
              <a:cs typeface="Poppins" panose="00000500000000000000" pitchFamily="2"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47468E8-8E60-B03E-D4FD-4AA441A1428C}"/>
                  </a:ext>
                </a:extLst>
              </p14:cNvPr>
              <p14:cNvContentPartPr/>
              <p14:nvPr/>
            </p14:nvContentPartPr>
            <p14:xfrm>
              <a:off x="2669220" y="5190427"/>
              <a:ext cx="360" cy="360"/>
            </p14:xfrm>
          </p:contentPart>
        </mc:Choice>
        <mc:Fallback xmlns="">
          <p:pic>
            <p:nvPicPr>
              <p:cNvPr id="3" name="Ink 2">
                <a:extLst>
                  <a:ext uri="{FF2B5EF4-FFF2-40B4-BE49-F238E27FC236}">
                    <a16:creationId xmlns:a16="http://schemas.microsoft.com/office/drawing/2014/main" id="{047468E8-8E60-B03E-D4FD-4AA441A1428C}"/>
                  </a:ext>
                </a:extLst>
              </p:cNvPr>
              <p:cNvPicPr/>
              <p:nvPr/>
            </p:nvPicPr>
            <p:blipFill>
              <a:blip r:embed="rId3"/>
              <a:stretch>
                <a:fillRect/>
              </a:stretch>
            </p:blipFill>
            <p:spPr>
              <a:xfrm>
                <a:off x="2663100" y="5184307"/>
                <a:ext cx="12600" cy="12600"/>
              </a:xfrm>
              <a:prstGeom prst="rect">
                <a:avLst/>
              </a:prstGeom>
            </p:spPr>
          </p:pic>
        </mc:Fallback>
      </mc:AlternateContent>
      <p:pic>
        <p:nvPicPr>
          <p:cNvPr id="17" name="Picture 16">
            <a:extLst>
              <a:ext uri="{FF2B5EF4-FFF2-40B4-BE49-F238E27FC236}">
                <a16:creationId xmlns:a16="http://schemas.microsoft.com/office/drawing/2014/main" id="{49EAE820-559D-25C6-A8D9-FB1922C248B7}"/>
              </a:ext>
            </a:extLst>
          </p:cNvPr>
          <p:cNvPicPr>
            <a:picLocks noChangeAspect="1"/>
          </p:cNvPicPr>
          <p:nvPr/>
        </p:nvPicPr>
        <p:blipFill>
          <a:blip r:embed="rId4">
            <a:extLst>
              <a:ext uri="{28A0092B-C50C-407E-A947-70E740481C1C}">
                <a14:useLocalDpi xmlns:a14="http://schemas.microsoft.com/office/drawing/2010/main" val="0"/>
              </a:ext>
            </a:extLst>
          </a:blip>
          <a:srcRect r="73077" b="57193"/>
          <a:stretch>
            <a:fillRect/>
          </a:stretch>
        </p:blipFill>
        <p:spPr>
          <a:xfrm>
            <a:off x="358602" y="2322675"/>
            <a:ext cx="4441402" cy="4218318"/>
          </a:xfrm>
          <a:prstGeom prst="rect">
            <a:avLst/>
          </a:prstGeom>
        </p:spPr>
      </p:pic>
      <p:cxnSp>
        <p:nvCxnSpPr>
          <p:cNvPr id="4" name="Straight Arrow Connector 3">
            <a:extLst>
              <a:ext uri="{FF2B5EF4-FFF2-40B4-BE49-F238E27FC236}">
                <a16:creationId xmlns:a16="http://schemas.microsoft.com/office/drawing/2014/main" id="{DA7DA09A-1AB3-FD4A-AAA1-3B42648773E4}"/>
              </a:ext>
            </a:extLst>
          </p:cNvPr>
          <p:cNvCxnSpPr/>
          <p:nvPr/>
        </p:nvCxnSpPr>
        <p:spPr>
          <a:xfrm flipV="1">
            <a:off x="1048466" y="1628617"/>
            <a:ext cx="1124663" cy="11246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6997F84-4BB2-5049-92B0-2ED61B72C004}"/>
              </a:ext>
            </a:extLst>
          </p:cNvPr>
          <p:cNvSpPr/>
          <p:nvPr/>
        </p:nvSpPr>
        <p:spPr>
          <a:xfrm>
            <a:off x="2185758" y="1026258"/>
            <a:ext cx="1598978" cy="63139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ON THE HOME TAB, CLICK ON IMPORT</a:t>
            </a:r>
          </a:p>
        </p:txBody>
      </p:sp>
      <p:grpSp>
        <p:nvGrpSpPr>
          <p:cNvPr id="69" name="Group 68">
            <a:extLst>
              <a:ext uri="{FF2B5EF4-FFF2-40B4-BE49-F238E27FC236}">
                <a16:creationId xmlns:a16="http://schemas.microsoft.com/office/drawing/2014/main" id="{3E8A285D-3333-D2E1-6003-C40B096E4DFB}"/>
              </a:ext>
            </a:extLst>
          </p:cNvPr>
          <p:cNvGrpSpPr/>
          <p:nvPr/>
        </p:nvGrpSpPr>
        <p:grpSpPr>
          <a:xfrm>
            <a:off x="5748545" y="1095323"/>
            <a:ext cx="6050639" cy="5538575"/>
            <a:chOff x="5748545" y="527729"/>
            <a:chExt cx="6050639" cy="6106170"/>
          </a:xfrm>
        </p:grpSpPr>
        <p:pic>
          <p:nvPicPr>
            <p:cNvPr id="8" name="Picture 7" descr="A screenshot of a computer">
              <a:extLst>
                <a:ext uri="{FF2B5EF4-FFF2-40B4-BE49-F238E27FC236}">
                  <a16:creationId xmlns:a16="http://schemas.microsoft.com/office/drawing/2014/main" id="{A84A3C7E-ABA3-1A32-9419-76112E8AC7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48545" y="527729"/>
              <a:ext cx="4008948" cy="6106170"/>
            </a:xfrm>
            <a:prstGeom prst="rect">
              <a:avLst/>
            </a:prstGeom>
          </p:spPr>
        </p:pic>
        <p:cxnSp>
          <p:nvCxnSpPr>
            <p:cNvPr id="9" name="Straight Arrow Connector 8">
              <a:extLst>
                <a:ext uri="{FF2B5EF4-FFF2-40B4-BE49-F238E27FC236}">
                  <a16:creationId xmlns:a16="http://schemas.microsoft.com/office/drawing/2014/main" id="{358305BD-34D7-D015-0C83-0CBCFC671D10}"/>
                </a:ext>
              </a:extLst>
            </p:cNvPr>
            <p:cNvCxnSpPr>
              <a:cxnSpLocks/>
            </p:cNvCxnSpPr>
            <p:nvPr/>
          </p:nvCxnSpPr>
          <p:spPr>
            <a:xfrm flipV="1">
              <a:off x="9613425" y="1413164"/>
              <a:ext cx="601450" cy="1222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78D6A3D-CF13-3819-3326-4E8C83EB63D4}"/>
                </a:ext>
              </a:extLst>
            </p:cNvPr>
            <p:cNvSpPr/>
            <p:nvPr/>
          </p:nvSpPr>
          <p:spPr>
            <a:xfrm>
              <a:off x="10200206" y="781766"/>
              <a:ext cx="1598978" cy="63139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BROWSE AND SELECT LOGS FROM FILES</a:t>
              </a:r>
            </a:p>
          </p:txBody>
        </p:sp>
        <p:sp>
          <p:nvSpPr>
            <p:cNvPr id="18" name="Rectangle 17">
              <a:extLst>
                <a:ext uri="{FF2B5EF4-FFF2-40B4-BE49-F238E27FC236}">
                  <a16:creationId xmlns:a16="http://schemas.microsoft.com/office/drawing/2014/main" id="{7DEB0635-58CD-1DC7-0DE8-AF4EABC30B92}"/>
                </a:ext>
              </a:extLst>
            </p:cNvPr>
            <p:cNvSpPr/>
            <p:nvPr/>
          </p:nvSpPr>
          <p:spPr>
            <a:xfrm>
              <a:off x="10029061" y="1558838"/>
              <a:ext cx="1315367" cy="1483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DATASET LOADS UP LIKE SO. SELECT THE DATASETS AND CLICK ON THE “ARROW” TO IMPORT TO PROJECT</a:t>
              </a:r>
            </a:p>
          </p:txBody>
        </p:sp>
        <p:sp>
          <p:nvSpPr>
            <p:cNvPr id="19" name="Right Brace 18">
              <a:extLst>
                <a:ext uri="{FF2B5EF4-FFF2-40B4-BE49-F238E27FC236}">
                  <a16:creationId xmlns:a16="http://schemas.microsoft.com/office/drawing/2014/main" id="{9ACA3626-F348-D4BD-A8EA-D64F017061DA}"/>
                </a:ext>
              </a:extLst>
            </p:cNvPr>
            <p:cNvSpPr/>
            <p:nvPr/>
          </p:nvSpPr>
          <p:spPr>
            <a:xfrm>
              <a:off x="9349373" y="1779902"/>
              <a:ext cx="78238" cy="33250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24583521-6ECE-B2D8-A7FE-DCEB2C951245}"/>
                </a:ext>
              </a:extLst>
            </p:cNvPr>
            <p:cNvCxnSpPr>
              <a:cxnSpLocks/>
            </p:cNvCxnSpPr>
            <p:nvPr/>
          </p:nvCxnSpPr>
          <p:spPr>
            <a:xfrm flipV="1">
              <a:off x="9424984" y="1823910"/>
              <a:ext cx="601450" cy="1222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46A087F-4261-F17C-E08E-9C7EFC635F22}"/>
                </a:ext>
              </a:extLst>
            </p:cNvPr>
            <p:cNvCxnSpPr/>
            <p:nvPr/>
          </p:nvCxnSpPr>
          <p:spPr>
            <a:xfrm flipH="1">
              <a:off x="7730836" y="2396021"/>
              <a:ext cx="2295598" cy="1427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ight Brace 22">
              <a:extLst>
                <a:ext uri="{FF2B5EF4-FFF2-40B4-BE49-F238E27FC236}">
                  <a16:creationId xmlns:a16="http://schemas.microsoft.com/office/drawing/2014/main" id="{E95E566A-2555-A50C-E0FE-CA779AF17226}"/>
                </a:ext>
              </a:extLst>
            </p:cNvPr>
            <p:cNvSpPr/>
            <p:nvPr/>
          </p:nvSpPr>
          <p:spPr>
            <a:xfrm>
              <a:off x="7273454" y="1657656"/>
              <a:ext cx="193377" cy="1598977"/>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25" name="Connector: Elbow 24">
              <a:extLst>
                <a:ext uri="{FF2B5EF4-FFF2-40B4-BE49-F238E27FC236}">
                  <a16:creationId xmlns:a16="http://schemas.microsoft.com/office/drawing/2014/main" id="{69799D03-5245-E13B-300A-82FE90220589}"/>
                </a:ext>
              </a:extLst>
            </p:cNvPr>
            <p:cNvCxnSpPr>
              <a:cxnSpLocks/>
            </p:cNvCxnSpPr>
            <p:nvPr/>
          </p:nvCxnSpPr>
          <p:spPr>
            <a:xfrm rot="10800000" flipH="1" flipV="1">
              <a:off x="7457955" y="2457144"/>
              <a:ext cx="2560916" cy="1521888"/>
            </a:xfrm>
            <a:prstGeom prst="bentConnector3">
              <a:avLst>
                <a:gd name="adj1" fmla="val 2234"/>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38434F9F-8F5E-4A9B-05CA-FB1028895660}"/>
                </a:ext>
              </a:extLst>
            </p:cNvPr>
            <p:cNvSpPr/>
            <p:nvPr/>
          </p:nvSpPr>
          <p:spPr>
            <a:xfrm>
              <a:off x="10021498" y="3529243"/>
              <a:ext cx="1217571" cy="7799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DATASET LOADS UP LIKE SO ON THE PROJECT BROWSER</a:t>
              </a:r>
            </a:p>
          </p:txBody>
        </p:sp>
        <p:cxnSp>
          <p:nvCxnSpPr>
            <p:cNvPr id="34" name="Straight Arrow Connector 33">
              <a:extLst>
                <a:ext uri="{FF2B5EF4-FFF2-40B4-BE49-F238E27FC236}">
                  <a16:creationId xmlns:a16="http://schemas.microsoft.com/office/drawing/2014/main" id="{2B411C0E-F757-11B4-5BFB-E00F641D0DE2}"/>
                </a:ext>
              </a:extLst>
            </p:cNvPr>
            <p:cNvCxnSpPr>
              <a:cxnSpLocks/>
            </p:cNvCxnSpPr>
            <p:nvPr/>
          </p:nvCxnSpPr>
          <p:spPr>
            <a:xfrm>
              <a:off x="7707565" y="2156419"/>
              <a:ext cx="2433962" cy="26600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BCB28C59-CE2B-44FA-C260-6E2ED4E733E2}"/>
                </a:ext>
              </a:extLst>
            </p:cNvPr>
            <p:cNvSpPr/>
            <p:nvPr/>
          </p:nvSpPr>
          <p:spPr>
            <a:xfrm>
              <a:off x="10141527" y="4405744"/>
              <a:ext cx="1388715" cy="103175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CLICK ON THE “EYE-LIKE” ICON TO CLOSE THE IMPORT WINDOW WHEN DONE IMPORTING</a:t>
              </a:r>
            </a:p>
          </p:txBody>
        </p:sp>
        <p:cxnSp>
          <p:nvCxnSpPr>
            <p:cNvPr id="64" name="Straight Arrow Connector 63">
              <a:extLst>
                <a:ext uri="{FF2B5EF4-FFF2-40B4-BE49-F238E27FC236}">
                  <a16:creationId xmlns:a16="http://schemas.microsoft.com/office/drawing/2014/main" id="{A334985B-DE58-26D7-6632-EF8F8FFE9C92}"/>
                </a:ext>
              </a:extLst>
            </p:cNvPr>
            <p:cNvCxnSpPr>
              <a:cxnSpLocks/>
            </p:cNvCxnSpPr>
            <p:nvPr/>
          </p:nvCxnSpPr>
          <p:spPr>
            <a:xfrm>
              <a:off x="7753019" y="5641581"/>
              <a:ext cx="2265852" cy="308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9E89B066-7517-CB9D-A2DE-36B8D0E5D8C7}"/>
                </a:ext>
              </a:extLst>
            </p:cNvPr>
            <p:cNvSpPr/>
            <p:nvPr/>
          </p:nvSpPr>
          <p:spPr>
            <a:xfrm>
              <a:off x="10005219" y="5673441"/>
              <a:ext cx="1461455" cy="7799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TO DELETE A DATASET, SELECT ON IT AND CLICK ON THE “TRASH” ICON</a:t>
              </a:r>
            </a:p>
          </p:txBody>
        </p:sp>
      </p:grpSp>
      <p:sp>
        <p:nvSpPr>
          <p:cNvPr id="70" name="Right Brace 69">
            <a:extLst>
              <a:ext uri="{FF2B5EF4-FFF2-40B4-BE49-F238E27FC236}">
                <a16:creationId xmlns:a16="http://schemas.microsoft.com/office/drawing/2014/main" id="{036FECA8-F5C1-C5CC-7D63-09F1D650FE53}"/>
              </a:ext>
            </a:extLst>
          </p:cNvPr>
          <p:cNvSpPr/>
          <p:nvPr/>
        </p:nvSpPr>
        <p:spPr>
          <a:xfrm rot="16200000">
            <a:off x="8649950" y="757931"/>
            <a:ext cx="139334" cy="1860204"/>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1" name="Rectangle 70">
            <a:extLst>
              <a:ext uri="{FF2B5EF4-FFF2-40B4-BE49-F238E27FC236}">
                <a16:creationId xmlns:a16="http://schemas.microsoft.com/office/drawing/2014/main" id="{E3AEB0E4-5DBA-1DA4-517F-81E6288C460B}"/>
              </a:ext>
            </a:extLst>
          </p:cNvPr>
          <p:cNvSpPr/>
          <p:nvPr/>
        </p:nvSpPr>
        <p:spPr>
          <a:xfrm>
            <a:off x="5443206" y="347478"/>
            <a:ext cx="1598978" cy="63139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THIS OPENS THE IMPORT WINDOW</a:t>
            </a:r>
          </a:p>
        </p:txBody>
      </p:sp>
      <p:cxnSp>
        <p:nvCxnSpPr>
          <p:cNvPr id="72" name="Straight Arrow Connector 71">
            <a:extLst>
              <a:ext uri="{FF2B5EF4-FFF2-40B4-BE49-F238E27FC236}">
                <a16:creationId xmlns:a16="http://schemas.microsoft.com/office/drawing/2014/main" id="{8B95668A-73F7-5499-F823-8E643941B073}"/>
              </a:ext>
            </a:extLst>
          </p:cNvPr>
          <p:cNvCxnSpPr>
            <a:cxnSpLocks/>
            <a:endCxn id="71" idx="1"/>
          </p:cNvCxnSpPr>
          <p:nvPr/>
        </p:nvCxnSpPr>
        <p:spPr>
          <a:xfrm flipV="1">
            <a:off x="3784736" y="663177"/>
            <a:ext cx="1658470" cy="363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3BCCD4CB-FBCF-8DDE-F51D-BEE80090D11D}"/>
              </a:ext>
            </a:extLst>
          </p:cNvPr>
          <p:cNvCxnSpPr>
            <a:stCxn id="71" idx="3"/>
            <a:endCxn id="70" idx="1"/>
          </p:cNvCxnSpPr>
          <p:nvPr/>
        </p:nvCxnSpPr>
        <p:spPr>
          <a:xfrm>
            <a:off x="7042184" y="663177"/>
            <a:ext cx="1677433" cy="9551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076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BC7A9-8A99-F833-C681-D97369FB737F}"/>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B1B93E8B-DD3F-A698-182D-8BC0EFE78DF4}"/>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QC LOGS</a:t>
            </a:r>
            <a:endParaRPr lang="en-US" sz="2800" b="1" dirty="0">
              <a:solidFill>
                <a:srgbClr val="009200"/>
              </a:solidFill>
              <a:cs typeface="Poppins" panose="00000500000000000000" pitchFamily="2"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714AB7-5F40-DDDB-06C6-E01A26E4EB29}"/>
                  </a:ext>
                </a:extLst>
              </p14:cNvPr>
              <p14:cNvContentPartPr/>
              <p14:nvPr/>
            </p14:nvContentPartPr>
            <p14:xfrm>
              <a:off x="2669220" y="5190427"/>
              <a:ext cx="360" cy="360"/>
            </p14:xfrm>
          </p:contentPart>
        </mc:Choice>
        <mc:Fallback xmlns="">
          <p:pic>
            <p:nvPicPr>
              <p:cNvPr id="3" name="Ink 2">
                <a:extLst>
                  <a:ext uri="{FF2B5EF4-FFF2-40B4-BE49-F238E27FC236}">
                    <a16:creationId xmlns:a16="http://schemas.microsoft.com/office/drawing/2014/main" id="{047468E8-8E60-B03E-D4FD-4AA441A1428C}"/>
                  </a:ext>
                </a:extLst>
              </p:cNvPr>
              <p:cNvPicPr/>
              <p:nvPr/>
            </p:nvPicPr>
            <p:blipFill>
              <a:blip r:embed="rId3"/>
              <a:stretch>
                <a:fillRect/>
              </a:stretch>
            </p:blipFill>
            <p:spPr>
              <a:xfrm>
                <a:off x="2663100" y="5184307"/>
                <a:ext cx="12600" cy="12600"/>
              </a:xfrm>
              <a:prstGeom prst="rect">
                <a:avLst/>
              </a:prstGeom>
            </p:spPr>
          </p:pic>
        </mc:Fallback>
      </mc:AlternateContent>
      <p:pic>
        <p:nvPicPr>
          <p:cNvPr id="6" name="Picture 5">
            <a:extLst>
              <a:ext uri="{FF2B5EF4-FFF2-40B4-BE49-F238E27FC236}">
                <a16:creationId xmlns:a16="http://schemas.microsoft.com/office/drawing/2014/main" id="{7842FBE3-95CD-4D90-BF46-66E8B5E8F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24" y="983994"/>
            <a:ext cx="2695795" cy="4265265"/>
          </a:xfrm>
          <a:prstGeom prst="rect">
            <a:avLst/>
          </a:prstGeom>
        </p:spPr>
      </p:pic>
      <p:pic>
        <p:nvPicPr>
          <p:cNvPr id="8" name="Picture 7" descr="A screenshot of a computer">
            <a:extLst>
              <a:ext uri="{FF2B5EF4-FFF2-40B4-BE49-F238E27FC236}">
                <a16:creationId xmlns:a16="http://schemas.microsoft.com/office/drawing/2014/main" id="{8AA2DB0E-D0FE-6AA9-2CA9-5A214B31D6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93638" y="987859"/>
            <a:ext cx="2913444" cy="4261400"/>
          </a:xfrm>
          <a:prstGeom prst="rect">
            <a:avLst/>
          </a:prstGeom>
        </p:spPr>
      </p:pic>
      <p:pic>
        <p:nvPicPr>
          <p:cNvPr id="10" name="Picture 9">
            <a:extLst>
              <a:ext uri="{FF2B5EF4-FFF2-40B4-BE49-F238E27FC236}">
                <a16:creationId xmlns:a16="http://schemas.microsoft.com/office/drawing/2014/main" id="{64D9C9C2-1C82-8F9D-D280-13736EF069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64844" y="2787670"/>
            <a:ext cx="3131433" cy="3894481"/>
          </a:xfrm>
          <a:prstGeom prst="rect">
            <a:avLst/>
          </a:prstGeom>
        </p:spPr>
      </p:pic>
      <p:sp>
        <p:nvSpPr>
          <p:cNvPr id="12" name="Right Brace 11">
            <a:extLst>
              <a:ext uri="{FF2B5EF4-FFF2-40B4-BE49-F238E27FC236}">
                <a16:creationId xmlns:a16="http://schemas.microsoft.com/office/drawing/2014/main" id="{2CF7108E-87F9-E1DD-30B2-09A2D3AA7662}"/>
              </a:ext>
            </a:extLst>
          </p:cNvPr>
          <p:cNvSpPr/>
          <p:nvPr/>
        </p:nvSpPr>
        <p:spPr>
          <a:xfrm>
            <a:off x="2283555" y="3165525"/>
            <a:ext cx="93835" cy="60943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6" name="Straight Arrow Connector 15">
            <a:extLst>
              <a:ext uri="{FF2B5EF4-FFF2-40B4-BE49-F238E27FC236}">
                <a16:creationId xmlns:a16="http://schemas.microsoft.com/office/drawing/2014/main" id="{FC7CE1EC-C1B8-40C9-D85D-2D72C35671D5}"/>
              </a:ext>
            </a:extLst>
          </p:cNvPr>
          <p:cNvCxnSpPr>
            <a:cxnSpLocks/>
            <a:stCxn id="12" idx="1"/>
          </p:cNvCxnSpPr>
          <p:nvPr/>
        </p:nvCxnSpPr>
        <p:spPr>
          <a:xfrm flipV="1">
            <a:off x="2377390" y="2384523"/>
            <a:ext cx="681617" cy="10857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22036C1-5931-FCA1-7E1F-011AA7397BD0}"/>
              </a:ext>
            </a:extLst>
          </p:cNvPr>
          <p:cNvSpPr/>
          <p:nvPr/>
        </p:nvSpPr>
        <p:spPr>
          <a:xfrm>
            <a:off x="3059007" y="1543433"/>
            <a:ext cx="1598978" cy="8465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LOGS WITH SUCH APPEARANCE MEAN THE PARAMETERS WERE NOT CORRECTLY LOADED</a:t>
            </a:r>
          </a:p>
        </p:txBody>
      </p:sp>
      <p:cxnSp>
        <p:nvCxnSpPr>
          <p:cNvPr id="19" name="Straight Arrow Connector 18">
            <a:extLst>
              <a:ext uri="{FF2B5EF4-FFF2-40B4-BE49-F238E27FC236}">
                <a16:creationId xmlns:a16="http://schemas.microsoft.com/office/drawing/2014/main" id="{7BF823D1-F583-AA80-B47E-1D6579E82095}"/>
              </a:ext>
            </a:extLst>
          </p:cNvPr>
          <p:cNvCxnSpPr>
            <a:cxnSpLocks/>
          </p:cNvCxnSpPr>
          <p:nvPr/>
        </p:nvCxnSpPr>
        <p:spPr>
          <a:xfrm>
            <a:off x="3750879" y="2384523"/>
            <a:ext cx="0" cy="6080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5DD8D402-BADF-DFD6-8AE6-22F3FFC6FE43}"/>
              </a:ext>
            </a:extLst>
          </p:cNvPr>
          <p:cNvSpPr/>
          <p:nvPr/>
        </p:nvSpPr>
        <p:spPr>
          <a:xfrm>
            <a:off x="3022566" y="2992582"/>
            <a:ext cx="1562354" cy="5913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SELECT SUCH LOGS AND CLICK ON THE PROPERTIES PANE</a:t>
            </a:r>
          </a:p>
        </p:txBody>
      </p:sp>
      <p:cxnSp>
        <p:nvCxnSpPr>
          <p:cNvPr id="25" name="Straight Arrow Connector 24">
            <a:extLst>
              <a:ext uri="{FF2B5EF4-FFF2-40B4-BE49-F238E27FC236}">
                <a16:creationId xmlns:a16="http://schemas.microsoft.com/office/drawing/2014/main" id="{6FD605A3-64D0-2BBB-F688-D9022F329E19}"/>
              </a:ext>
            </a:extLst>
          </p:cNvPr>
          <p:cNvCxnSpPr>
            <a:cxnSpLocks/>
            <a:stCxn id="24" idx="1"/>
          </p:cNvCxnSpPr>
          <p:nvPr/>
        </p:nvCxnSpPr>
        <p:spPr>
          <a:xfrm flipH="1">
            <a:off x="1775012" y="3288268"/>
            <a:ext cx="1247554" cy="18436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F412584-8052-89EE-6C98-FA879A5F0481}"/>
              </a:ext>
            </a:extLst>
          </p:cNvPr>
          <p:cNvCxnSpPr>
            <a:cxnSpLocks/>
          </p:cNvCxnSpPr>
          <p:nvPr/>
        </p:nvCxnSpPr>
        <p:spPr>
          <a:xfrm flipV="1">
            <a:off x="7301926" y="1164902"/>
            <a:ext cx="1063327" cy="1412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36FC89B4-AD14-2832-EFE1-CE0F5EAA6EE6}"/>
              </a:ext>
            </a:extLst>
          </p:cNvPr>
          <p:cNvSpPr/>
          <p:nvPr/>
        </p:nvSpPr>
        <p:spPr>
          <a:xfrm>
            <a:off x="8365253" y="573531"/>
            <a:ext cx="1562354" cy="13658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ON THE PROPERTIES WINDOW, SELECT THE APPROPRIATE FAMILIES FOR EACH LOG AND THEY SHOULD DISPLAY PROPERLY ON THE PROJECT BROWSER</a:t>
            </a:r>
          </a:p>
        </p:txBody>
      </p:sp>
      <p:cxnSp>
        <p:nvCxnSpPr>
          <p:cNvPr id="37" name="Straight Arrow Connector 36">
            <a:extLst>
              <a:ext uri="{FF2B5EF4-FFF2-40B4-BE49-F238E27FC236}">
                <a16:creationId xmlns:a16="http://schemas.microsoft.com/office/drawing/2014/main" id="{E2A16E9C-6D56-AE89-A9B4-291C96113F3D}"/>
              </a:ext>
            </a:extLst>
          </p:cNvPr>
          <p:cNvCxnSpPr>
            <a:cxnSpLocks/>
            <a:endCxn id="10" idx="0"/>
          </p:cNvCxnSpPr>
          <p:nvPr/>
        </p:nvCxnSpPr>
        <p:spPr>
          <a:xfrm>
            <a:off x="9927607" y="1966708"/>
            <a:ext cx="402954" cy="820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0890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D690-A0D9-EBB7-F511-A2F17011140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4811A7A-C2FE-80CA-27D9-261877714E43}"/>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PLOT LOGS</a:t>
            </a:r>
            <a:endParaRPr lang="en-US" sz="2800" b="1" dirty="0">
              <a:solidFill>
                <a:srgbClr val="009200"/>
              </a:solidFill>
              <a:cs typeface="Poppins" panose="00000500000000000000" pitchFamily="2" charset="0"/>
            </a:endParaRPr>
          </a:p>
        </p:txBody>
      </p:sp>
      <p:pic>
        <p:nvPicPr>
          <p:cNvPr id="14" name="Picture 13">
            <a:extLst>
              <a:ext uri="{FF2B5EF4-FFF2-40B4-BE49-F238E27FC236}">
                <a16:creationId xmlns:a16="http://schemas.microsoft.com/office/drawing/2014/main" id="{3AE90CEA-D3FA-5AF8-DAA7-18E232BE1F8A}"/>
              </a:ext>
            </a:extLst>
          </p:cNvPr>
          <p:cNvPicPr>
            <a:picLocks noChangeAspect="1"/>
          </p:cNvPicPr>
          <p:nvPr/>
        </p:nvPicPr>
        <p:blipFill>
          <a:blip r:embed="rId3"/>
          <a:srcRect l="-1" t="-1" r="25141" b="25769"/>
          <a:stretch>
            <a:fillRect/>
          </a:stretch>
        </p:blipFill>
        <p:spPr>
          <a:xfrm>
            <a:off x="309704" y="2210878"/>
            <a:ext cx="4673661" cy="3413107"/>
          </a:xfrm>
          <a:prstGeom prst="rect">
            <a:avLst/>
          </a:prstGeom>
        </p:spPr>
      </p:pic>
      <p:cxnSp>
        <p:nvCxnSpPr>
          <p:cNvPr id="16" name="Straight Arrow Connector 15">
            <a:extLst>
              <a:ext uri="{FF2B5EF4-FFF2-40B4-BE49-F238E27FC236}">
                <a16:creationId xmlns:a16="http://schemas.microsoft.com/office/drawing/2014/main" id="{02DE4DC9-83F9-8F19-530F-75B34213E2A1}"/>
              </a:ext>
            </a:extLst>
          </p:cNvPr>
          <p:cNvCxnSpPr>
            <a:cxnSpLocks/>
          </p:cNvCxnSpPr>
          <p:nvPr/>
        </p:nvCxnSpPr>
        <p:spPr>
          <a:xfrm flipV="1">
            <a:off x="1129553" y="1855543"/>
            <a:ext cx="1344706" cy="3504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6887B8F9-064E-E2A3-4F41-2A6E299F8F48}"/>
              </a:ext>
            </a:extLst>
          </p:cNvPr>
          <p:cNvSpPr/>
          <p:nvPr/>
        </p:nvSpPr>
        <p:spPr>
          <a:xfrm>
            <a:off x="2085400" y="1450801"/>
            <a:ext cx="1507801" cy="39985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CLICK ON PLOT AND SELECT LOGVIEW</a:t>
            </a:r>
          </a:p>
        </p:txBody>
      </p:sp>
      <p:cxnSp>
        <p:nvCxnSpPr>
          <p:cNvPr id="18" name="Straight Arrow Connector 17">
            <a:extLst>
              <a:ext uri="{FF2B5EF4-FFF2-40B4-BE49-F238E27FC236}">
                <a16:creationId xmlns:a16="http://schemas.microsoft.com/office/drawing/2014/main" id="{286D0433-3F2A-B610-D329-E21A834C0FB5}"/>
              </a:ext>
            </a:extLst>
          </p:cNvPr>
          <p:cNvCxnSpPr>
            <a:cxnSpLocks/>
          </p:cNvCxnSpPr>
          <p:nvPr/>
        </p:nvCxnSpPr>
        <p:spPr>
          <a:xfrm flipV="1">
            <a:off x="547662" y="1860433"/>
            <a:ext cx="2679632" cy="696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4" name="Picture 23">
            <a:extLst>
              <a:ext uri="{FF2B5EF4-FFF2-40B4-BE49-F238E27FC236}">
                <a16:creationId xmlns:a16="http://schemas.microsoft.com/office/drawing/2014/main" id="{04D6BF89-2133-5FA4-6E51-6F0A02CC63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8012" y="1045204"/>
            <a:ext cx="6068044" cy="3701608"/>
          </a:xfrm>
          <a:prstGeom prst="rect">
            <a:avLst/>
          </a:prstGeom>
        </p:spPr>
      </p:pic>
      <p:sp>
        <p:nvSpPr>
          <p:cNvPr id="27" name="Rectangle 26">
            <a:extLst>
              <a:ext uri="{FF2B5EF4-FFF2-40B4-BE49-F238E27FC236}">
                <a16:creationId xmlns:a16="http://schemas.microsoft.com/office/drawing/2014/main" id="{72AB4C42-12C5-67F3-BAF9-75BE36A624B6}"/>
              </a:ext>
            </a:extLst>
          </p:cNvPr>
          <p:cNvSpPr/>
          <p:nvPr/>
        </p:nvSpPr>
        <p:spPr>
          <a:xfrm>
            <a:off x="3822424" y="1442503"/>
            <a:ext cx="1443933" cy="39985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 WELL LAYOUT WINDOW OPENS</a:t>
            </a:r>
          </a:p>
        </p:txBody>
      </p:sp>
      <p:cxnSp>
        <p:nvCxnSpPr>
          <p:cNvPr id="28" name="Straight Arrow Connector 27">
            <a:extLst>
              <a:ext uri="{FF2B5EF4-FFF2-40B4-BE49-F238E27FC236}">
                <a16:creationId xmlns:a16="http://schemas.microsoft.com/office/drawing/2014/main" id="{C0981AF6-2572-0195-AA78-263C529ADED6}"/>
              </a:ext>
            </a:extLst>
          </p:cNvPr>
          <p:cNvCxnSpPr>
            <a:cxnSpLocks/>
            <a:endCxn id="27" idx="2"/>
          </p:cNvCxnSpPr>
          <p:nvPr/>
        </p:nvCxnSpPr>
        <p:spPr>
          <a:xfrm flipV="1">
            <a:off x="3036590" y="1842355"/>
            <a:ext cx="1507801" cy="1549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Arrow: Curved Down 30">
            <a:extLst>
              <a:ext uri="{FF2B5EF4-FFF2-40B4-BE49-F238E27FC236}">
                <a16:creationId xmlns:a16="http://schemas.microsoft.com/office/drawing/2014/main" id="{4CDCAFE3-7AE0-0048-1A1D-B4919B87E0B1}"/>
              </a:ext>
            </a:extLst>
          </p:cNvPr>
          <p:cNvSpPr/>
          <p:nvPr/>
        </p:nvSpPr>
        <p:spPr>
          <a:xfrm>
            <a:off x="7388548" y="3051260"/>
            <a:ext cx="1819020" cy="679688"/>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33" name="Straight Arrow Connector 32">
            <a:extLst>
              <a:ext uri="{FF2B5EF4-FFF2-40B4-BE49-F238E27FC236}">
                <a16:creationId xmlns:a16="http://schemas.microsoft.com/office/drawing/2014/main" id="{3C90944F-52ED-7C68-37A1-AB9502015638}"/>
              </a:ext>
            </a:extLst>
          </p:cNvPr>
          <p:cNvCxnSpPr>
            <a:cxnSpLocks/>
          </p:cNvCxnSpPr>
          <p:nvPr/>
        </p:nvCxnSpPr>
        <p:spPr>
          <a:xfrm>
            <a:off x="7799294" y="3391764"/>
            <a:ext cx="506458" cy="1952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FAFE5755-A0D1-96E2-1CC4-92F2B68B390C}"/>
              </a:ext>
            </a:extLst>
          </p:cNvPr>
          <p:cNvSpPr/>
          <p:nvPr/>
        </p:nvSpPr>
        <p:spPr>
          <a:xfrm>
            <a:off x="7666653" y="5344594"/>
            <a:ext cx="2029899" cy="52321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DRAG AND DROP THE LOGS IN THE WELL LAYOUT WINDOW</a:t>
            </a:r>
          </a:p>
        </p:txBody>
      </p:sp>
      <p:cxnSp>
        <p:nvCxnSpPr>
          <p:cNvPr id="39" name="Straight Arrow Connector 38">
            <a:extLst>
              <a:ext uri="{FF2B5EF4-FFF2-40B4-BE49-F238E27FC236}">
                <a16:creationId xmlns:a16="http://schemas.microsoft.com/office/drawing/2014/main" id="{34C207EF-AC74-BB4C-C700-9B181EF96AC2}"/>
              </a:ext>
            </a:extLst>
          </p:cNvPr>
          <p:cNvCxnSpPr/>
          <p:nvPr/>
        </p:nvCxnSpPr>
        <p:spPr>
          <a:xfrm>
            <a:off x="10552274" y="3628261"/>
            <a:ext cx="5965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6087E5A0-499B-DCC9-80A6-FBFAAF42F525}"/>
              </a:ext>
            </a:extLst>
          </p:cNvPr>
          <p:cNvSpPr txBox="1"/>
          <p:nvPr/>
        </p:nvSpPr>
        <p:spPr>
          <a:xfrm>
            <a:off x="11090156" y="3474372"/>
            <a:ext cx="542772" cy="307777"/>
          </a:xfrm>
          <a:prstGeom prst="rect">
            <a:avLst/>
          </a:prstGeom>
          <a:noFill/>
        </p:spPr>
        <p:txBody>
          <a:bodyPr wrap="square" rtlCol="0">
            <a:spAutoFit/>
          </a:bodyPr>
          <a:lstStyle/>
          <a:p>
            <a:r>
              <a:rPr lang="en-GB" sz="1400" dirty="0"/>
              <a:t>LOG</a:t>
            </a:r>
          </a:p>
        </p:txBody>
      </p:sp>
      <p:sp>
        <p:nvSpPr>
          <p:cNvPr id="42" name="Oval 41">
            <a:extLst>
              <a:ext uri="{FF2B5EF4-FFF2-40B4-BE49-F238E27FC236}">
                <a16:creationId xmlns:a16="http://schemas.microsoft.com/office/drawing/2014/main" id="{29D7A77A-7990-5914-4BD0-099B59FF2B40}"/>
              </a:ext>
            </a:extLst>
          </p:cNvPr>
          <p:cNvSpPr/>
          <p:nvPr/>
        </p:nvSpPr>
        <p:spPr>
          <a:xfrm>
            <a:off x="10068181" y="2347126"/>
            <a:ext cx="396076" cy="2399684"/>
          </a:xfrm>
          <a:prstGeom prst="ellipse">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Arrow Connector 42">
            <a:extLst>
              <a:ext uri="{FF2B5EF4-FFF2-40B4-BE49-F238E27FC236}">
                <a16:creationId xmlns:a16="http://schemas.microsoft.com/office/drawing/2014/main" id="{772CE426-3ECD-1FAC-4E20-7597B8EAAE5D}"/>
              </a:ext>
            </a:extLst>
          </p:cNvPr>
          <p:cNvCxnSpPr/>
          <p:nvPr/>
        </p:nvCxnSpPr>
        <p:spPr>
          <a:xfrm>
            <a:off x="10425953" y="2968948"/>
            <a:ext cx="5965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8101E531-5CAC-8D5A-E916-C07C6CFF0EAB}"/>
              </a:ext>
            </a:extLst>
          </p:cNvPr>
          <p:cNvSpPr txBox="1"/>
          <p:nvPr/>
        </p:nvSpPr>
        <p:spPr>
          <a:xfrm>
            <a:off x="10911396" y="2815059"/>
            <a:ext cx="1212432" cy="307777"/>
          </a:xfrm>
          <a:prstGeom prst="rect">
            <a:avLst/>
          </a:prstGeom>
          <a:noFill/>
        </p:spPr>
        <p:txBody>
          <a:bodyPr wrap="square" rtlCol="0">
            <a:spAutoFit/>
          </a:bodyPr>
          <a:lstStyle/>
          <a:p>
            <a:r>
              <a:rPr lang="en-GB" sz="1400" dirty="0"/>
              <a:t>LOG TRACK</a:t>
            </a:r>
          </a:p>
        </p:txBody>
      </p:sp>
    </p:spTree>
    <p:extLst>
      <p:ext uri="{BB962C8B-B14F-4D97-AF65-F5344CB8AC3E}">
        <p14:creationId xmlns:p14="http://schemas.microsoft.com/office/powerpoint/2010/main" val="3769888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C962B-5882-221E-2ED5-0461BD666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3884B-6832-A604-1A22-073E1D712912}"/>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PLOT LOGS (2)</a:t>
            </a:r>
            <a:endParaRPr lang="en-US" sz="2800" b="1" dirty="0">
              <a:solidFill>
                <a:srgbClr val="009200"/>
              </a:solidFill>
              <a:cs typeface="Poppins" panose="00000500000000000000" pitchFamily="2" charset="0"/>
            </a:endParaRPr>
          </a:p>
        </p:txBody>
      </p:sp>
      <p:pic>
        <p:nvPicPr>
          <p:cNvPr id="4" name="Picture 3">
            <a:extLst>
              <a:ext uri="{FF2B5EF4-FFF2-40B4-BE49-F238E27FC236}">
                <a16:creationId xmlns:a16="http://schemas.microsoft.com/office/drawing/2014/main" id="{1BDDF6B2-E178-3A24-7AB5-B1F001EA4456}"/>
              </a:ext>
            </a:extLst>
          </p:cNvPr>
          <p:cNvPicPr>
            <a:picLocks noChangeAspect="1"/>
          </p:cNvPicPr>
          <p:nvPr/>
        </p:nvPicPr>
        <p:blipFill>
          <a:blip r:embed="rId2">
            <a:extLst>
              <a:ext uri="{28A0092B-C50C-407E-A947-70E740481C1C}">
                <a14:useLocalDpi xmlns:a14="http://schemas.microsoft.com/office/drawing/2010/main" val="0"/>
              </a:ext>
            </a:extLst>
          </a:blip>
          <a:srcRect l="19226" r="20102" b="992"/>
          <a:stretch>
            <a:fillRect/>
          </a:stretch>
        </p:blipFill>
        <p:spPr>
          <a:xfrm>
            <a:off x="341647" y="1037809"/>
            <a:ext cx="3057936" cy="4513904"/>
          </a:xfrm>
          <a:prstGeom prst="rect">
            <a:avLst/>
          </a:prstGeom>
        </p:spPr>
      </p:pic>
      <p:grpSp>
        <p:nvGrpSpPr>
          <p:cNvPr id="30" name="Group 29">
            <a:extLst>
              <a:ext uri="{FF2B5EF4-FFF2-40B4-BE49-F238E27FC236}">
                <a16:creationId xmlns:a16="http://schemas.microsoft.com/office/drawing/2014/main" id="{264281AE-D51F-C54A-9ED7-E834506E6C78}"/>
              </a:ext>
            </a:extLst>
          </p:cNvPr>
          <p:cNvGrpSpPr/>
          <p:nvPr/>
        </p:nvGrpSpPr>
        <p:grpSpPr>
          <a:xfrm>
            <a:off x="3316433" y="1543551"/>
            <a:ext cx="1952950" cy="3917728"/>
            <a:chOff x="4412680" y="1679204"/>
            <a:chExt cx="1952950" cy="3917728"/>
          </a:xfrm>
        </p:grpSpPr>
        <p:sp>
          <p:nvSpPr>
            <p:cNvPr id="6" name="Rectangle 5">
              <a:extLst>
                <a:ext uri="{FF2B5EF4-FFF2-40B4-BE49-F238E27FC236}">
                  <a16:creationId xmlns:a16="http://schemas.microsoft.com/office/drawing/2014/main" id="{63A46FE9-1A12-B93D-492A-A5EF2DBB1224}"/>
                </a:ext>
              </a:extLst>
            </p:cNvPr>
            <p:cNvSpPr/>
            <p:nvPr/>
          </p:nvSpPr>
          <p:spPr>
            <a:xfrm>
              <a:off x="4773947" y="1679204"/>
              <a:ext cx="1391644" cy="12939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CLICK ON LOGS AND USE THE DIRECTIONS BOTTON TO MOVE LOGS UNTO THEIR DESIRED TRACKS.</a:t>
              </a:r>
            </a:p>
          </p:txBody>
        </p:sp>
        <p:sp>
          <p:nvSpPr>
            <p:cNvPr id="7" name="Rectangle 6">
              <a:extLst>
                <a:ext uri="{FF2B5EF4-FFF2-40B4-BE49-F238E27FC236}">
                  <a16:creationId xmlns:a16="http://schemas.microsoft.com/office/drawing/2014/main" id="{66EE9A47-79F6-9A4D-2619-DC0CFCD9A195}"/>
                </a:ext>
              </a:extLst>
            </p:cNvPr>
            <p:cNvSpPr/>
            <p:nvPr/>
          </p:nvSpPr>
          <p:spPr>
            <a:xfrm>
              <a:off x="5107617" y="3960716"/>
              <a:ext cx="1258013" cy="16362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CLICK ON LOG TRACKS AND USE THE DIRECTIONS BOTTON TO MOVE LOGS UNTO THEIR DESIRED LOCATION TO GET A LOG VIEW LIKE SO.</a:t>
              </a:r>
            </a:p>
          </p:txBody>
        </p:sp>
        <p:cxnSp>
          <p:nvCxnSpPr>
            <p:cNvPr id="9" name="Straight Arrow Connector 8">
              <a:extLst>
                <a:ext uri="{FF2B5EF4-FFF2-40B4-BE49-F238E27FC236}">
                  <a16:creationId xmlns:a16="http://schemas.microsoft.com/office/drawing/2014/main" id="{D27F0B50-74EB-8FC5-721C-6D3BFD9E5722}"/>
                </a:ext>
              </a:extLst>
            </p:cNvPr>
            <p:cNvCxnSpPr>
              <a:cxnSpLocks/>
            </p:cNvCxnSpPr>
            <p:nvPr/>
          </p:nvCxnSpPr>
          <p:spPr>
            <a:xfrm flipH="1">
              <a:off x="5636603" y="2971397"/>
              <a:ext cx="1" cy="987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6765695-BCB4-1E38-BD5F-4FCDEB976733}"/>
                </a:ext>
              </a:extLst>
            </p:cNvPr>
            <p:cNvCxnSpPr>
              <a:cxnSpLocks/>
            </p:cNvCxnSpPr>
            <p:nvPr/>
          </p:nvCxnSpPr>
          <p:spPr>
            <a:xfrm flipH="1">
              <a:off x="4412680" y="4480930"/>
              <a:ext cx="694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98B05F64-6BF8-2085-BAAB-77A864ECD9BC}"/>
              </a:ext>
            </a:extLst>
          </p:cNvPr>
          <p:cNvGrpSpPr/>
          <p:nvPr/>
        </p:nvGrpSpPr>
        <p:grpSpPr>
          <a:xfrm>
            <a:off x="5431756" y="2298226"/>
            <a:ext cx="6721326" cy="4189919"/>
            <a:chOff x="1072508" y="993731"/>
            <a:chExt cx="10046987" cy="5524426"/>
          </a:xfrm>
        </p:grpSpPr>
        <p:pic>
          <p:nvPicPr>
            <p:cNvPr id="17" name="Picture 16" descr="A screenshot of a computer">
              <a:extLst>
                <a:ext uri="{FF2B5EF4-FFF2-40B4-BE49-F238E27FC236}">
                  <a16:creationId xmlns:a16="http://schemas.microsoft.com/office/drawing/2014/main" id="{14998745-6C6B-4AED-E940-24554E7FE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4055" y="3110981"/>
              <a:ext cx="6985782" cy="3407176"/>
            </a:xfrm>
            <a:prstGeom prst="rect">
              <a:avLst/>
            </a:prstGeom>
          </p:spPr>
        </p:pic>
        <p:cxnSp>
          <p:nvCxnSpPr>
            <p:cNvPr id="18" name="Straight Arrow Connector 17">
              <a:extLst>
                <a:ext uri="{FF2B5EF4-FFF2-40B4-BE49-F238E27FC236}">
                  <a16:creationId xmlns:a16="http://schemas.microsoft.com/office/drawing/2014/main" id="{58115AC5-1157-80EE-5BF4-2034B0BB9F81}"/>
                </a:ext>
              </a:extLst>
            </p:cNvPr>
            <p:cNvCxnSpPr>
              <a:cxnSpLocks/>
            </p:cNvCxnSpPr>
            <p:nvPr/>
          </p:nvCxnSpPr>
          <p:spPr>
            <a:xfrm flipH="1" flipV="1">
              <a:off x="2114055" y="1765232"/>
              <a:ext cx="3739085" cy="14828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A78530BB-A28A-AB69-B18E-1C30D27A7F71}"/>
                </a:ext>
              </a:extLst>
            </p:cNvPr>
            <p:cNvSpPr/>
            <p:nvPr/>
          </p:nvSpPr>
          <p:spPr>
            <a:xfrm rot="5400000">
              <a:off x="5762677" y="3095676"/>
              <a:ext cx="180926" cy="4857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0" name="Rectangle 19">
              <a:extLst>
                <a:ext uri="{FF2B5EF4-FFF2-40B4-BE49-F238E27FC236}">
                  <a16:creationId xmlns:a16="http://schemas.microsoft.com/office/drawing/2014/main" id="{D748F219-869B-5FA7-EEF6-D06A99D9D4D0}"/>
                </a:ext>
              </a:extLst>
            </p:cNvPr>
            <p:cNvSpPr/>
            <p:nvPr/>
          </p:nvSpPr>
          <p:spPr>
            <a:xfrm>
              <a:off x="1072508" y="993731"/>
              <a:ext cx="2560643" cy="77150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ON THE MD LOG AND COPY AND PASTE. THIS CREATES A NEW MD TRACK RIGHT NEXT TO IT. </a:t>
              </a:r>
            </a:p>
          </p:txBody>
        </p:sp>
        <p:sp>
          <p:nvSpPr>
            <p:cNvPr id="21" name="Left Brace 20">
              <a:extLst>
                <a:ext uri="{FF2B5EF4-FFF2-40B4-BE49-F238E27FC236}">
                  <a16:creationId xmlns:a16="http://schemas.microsoft.com/office/drawing/2014/main" id="{566F3514-D4E1-D69B-C742-5D1AB29BE710}"/>
                </a:ext>
              </a:extLst>
            </p:cNvPr>
            <p:cNvSpPr/>
            <p:nvPr/>
          </p:nvSpPr>
          <p:spPr>
            <a:xfrm rot="5400000">
              <a:off x="6213357" y="3095677"/>
              <a:ext cx="180926" cy="4857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id="{39CE27A3-176D-35DC-3069-6CB7650DCFA8}"/>
                </a:ext>
              </a:extLst>
            </p:cNvPr>
            <p:cNvCxnSpPr>
              <a:cxnSpLocks/>
            </p:cNvCxnSpPr>
            <p:nvPr/>
          </p:nvCxnSpPr>
          <p:spPr>
            <a:xfrm>
              <a:off x="3633151" y="1765231"/>
              <a:ext cx="2670669" cy="14828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4AA0243-AF55-8574-973F-6A174F84613E}"/>
                </a:ext>
              </a:extLst>
            </p:cNvPr>
            <p:cNvCxnSpPr>
              <a:cxnSpLocks/>
            </p:cNvCxnSpPr>
            <p:nvPr/>
          </p:nvCxnSpPr>
          <p:spPr>
            <a:xfrm flipV="1">
              <a:off x="6513600" y="2069957"/>
              <a:ext cx="3564345" cy="35016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9B34300-465E-62BB-187A-17E5406F22EE}"/>
                </a:ext>
              </a:extLst>
            </p:cNvPr>
            <p:cNvCxnSpPr>
              <a:cxnSpLocks/>
              <a:endCxn id="25" idx="2"/>
            </p:cNvCxnSpPr>
            <p:nvPr/>
          </p:nvCxnSpPr>
          <p:spPr>
            <a:xfrm flipV="1">
              <a:off x="4117122" y="2069959"/>
              <a:ext cx="5667039" cy="31161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3EAB636B-E162-FE44-05F2-34D2F64A0B95}"/>
                </a:ext>
              </a:extLst>
            </p:cNvPr>
            <p:cNvSpPr/>
            <p:nvPr/>
          </p:nvSpPr>
          <p:spPr>
            <a:xfrm>
              <a:off x="8448826" y="1123362"/>
              <a:ext cx="2670669" cy="94659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THE NEW MD TRACK GO TO THE PROPERTIES WINDOW TO CHANGE THE REFERENCE DEPTH TO TRUE VERTICAL DEPTH SUBSEA</a:t>
              </a:r>
            </a:p>
          </p:txBody>
        </p:sp>
      </p:grpSp>
    </p:spTree>
    <p:extLst>
      <p:ext uri="{BB962C8B-B14F-4D97-AF65-F5344CB8AC3E}">
        <p14:creationId xmlns:p14="http://schemas.microsoft.com/office/powerpoint/2010/main" val="172618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60AC6-5DC0-061E-37FC-5F6E131B2395}"/>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0BBB1A08-494C-7FBD-EEFE-2476FA256CF8}"/>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PLOT LOGS (3)</a:t>
            </a:r>
            <a:endParaRPr lang="en-US" sz="2800" b="1" dirty="0">
              <a:solidFill>
                <a:srgbClr val="009200"/>
              </a:solidFill>
              <a:cs typeface="Poppins" panose="00000500000000000000" pitchFamily="2" charset="0"/>
            </a:endParaRPr>
          </a:p>
        </p:txBody>
      </p:sp>
      <p:pic>
        <p:nvPicPr>
          <p:cNvPr id="3" name="Picture 2">
            <a:extLst>
              <a:ext uri="{FF2B5EF4-FFF2-40B4-BE49-F238E27FC236}">
                <a16:creationId xmlns:a16="http://schemas.microsoft.com/office/drawing/2014/main" id="{214FA768-0A6A-AA8A-7977-1D78D7640F7E}"/>
              </a:ext>
            </a:extLst>
          </p:cNvPr>
          <p:cNvPicPr>
            <a:picLocks noChangeAspect="1"/>
          </p:cNvPicPr>
          <p:nvPr/>
        </p:nvPicPr>
        <p:blipFill>
          <a:blip r:embed="rId2"/>
          <a:stretch>
            <a:fillRect/>
          </a:stretch>
        </p:blipFill>
        <p:spPr>
          <a:xfrm>
            <a:off x="162512" y="3351921"/>
            <a:ext cx="2953998" cy="3178599"/>
          </a:xfrm>
          <a:prstGeom prst="rect">
            <a:avLst/>
          </a:prstGeom>
        </p:spPr>
      </p:pic>
      <p:cxnSp>
        <p:nvCxnSpPr>
          <p:cNvPr id="4" name="Straight Arrow Connector 3">
            <a:extLst>
              <a:ext uri="{FF2B5EF4-FFF2-40B4-BE49-F238E27FC236}">
                <a16:creationId xmlns:a16="http://schemas.microsoft.com/office/drawing/2014/main" id="{824D588F-1A05-D1F9-234E-940A63E0B27E}"/>
              </a:ext>
            </a:extLst>
          </p:cNvPr>
          <p:cNvCxnSpPr>
            <a:cxnSpLocks/>
            <a:endCxn id="9" idx="2"/>
          </p:cNvCxnSpPr>
          <p:nvPr/>
        </p:nvCxnSpPr>
        <p:spPr>
          <a:xfrm flipV="1">
            <a:off x="901815" y="1471303"/>
            <a:ext cx="990632" cy="3172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83798798-3F3E-61EA-13FB-C1BA4B4A6418}"/>
              </a:ext>
            </a:extLst>
          </p:cNvPr>
          <p:cNvSpPr/>
          <p:nvPr/>
        </p:nvSpPr>
        <p:spPr>
          <a:xfrm>
            <a:off x="1035925" y="886169"/>
            <a:ext cx="1713043" cy="5851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RIGHT CLICK AND SELECT THIS ICON TO CREATE A ZONATION TRACK</a:t>
            </a:r>
          </a:p>
        </p:txBody>
      </p:sp>
      <p:pic>
        <p:nvPicPr>
          <p:cNvPr id="11" name="Picture 10">
            <a:extLst>
              <a:ext uri="{FF2B5EF4-FFF2-40B4-BE49-F238E27FC236}">
                <a16:creationId xmlns:a16="http://schemas.microsoft.com/office/drawing/2014/main" id="{C03DFA66-C3BC-89E3-C7C8-7F61ACC24DE8}"/>
              </a:ext>
            </a:extLst>
          </p:cNvPr>
          <p:cNvPicPr>
            <a:picLocks noChangeAspect="1"/>
          </p:cNvPicPr>
          <p:nvPr/>
        </p:nvPicPr>
        <p:blipFill>
          <a:blip r:embed="rId3"/>
          <a:stretch>
            <a:fillRect/>
          </a:stretch>
        </p:blipFill>
        <p:spPr>
          <a:xfrm>
            <a:off x="3440143" y="3675407"/>
            <a:ext cx="5213348" cy="2824599"/>
          </a:xfrm>
          <a:prstGeom prst="rect">
            <a:avLst/>
          </a:prstGeom>
        </p:spPr>
      </p:pic>
      <p:cxnSp>
        <p:nvCxnSpPr>
          <p:cNvPr id="15" name="Connector: Elbow 14">
            <a:extLst>
              <a:ext uri="{FF2B5EF4-FFF2-40B4-BE49-F238E27FC236}">
                <a16:creationId xmlns:a16="http://schemas.microsoft.com/office/drawing/2014/main" id="{C77E546D-AFE4-B5D8-B3AC-CFE517EE4F52}"/>
              </a:ext>
            </a:extLst>
          </p:cNvPr>
          <p:cNvCxnSpPr>
            <a:cxnSpLocks/>
            <a:endCxn id="19" idx="4"/>
          </p:cNvCxnSpPr>
          <p:nvPr/>
        </p:nvCxnSpPr>
        <p:spPr>
          <a:xfrm>
            <a:off x="2748968" y="1417739"/>
            <a:ext cx="5469155" cy="4978867"/>
          </a:xfrm>
          <a:prstGeom prst="bentConnector4">
            <a:avLst>
              <a:gd name="adj1" fmla="val 10157"/>
              <a:gd name="adj2" fmla="val 105518"/>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38EF13DC-7758-26C3-07E3-E053A3371948}"/>
              </a:ext>
            </a:extLst>
          </p:cNvPr>
          <p:cNvSpPr/>
          <p:nvPr/>
        </p:nvSpPr>
        <p:spPr>
          <a:xfrm>
            <a:off x="8062881" y="3996922"/>
            <a:ext cx="310484" cy="2399684"/>
          </a:xfrm>
          <a:prstGeom prst="ellipse">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Arrow Connector 22">
            <a:extLst>
              <a:ext uri="{FF2B5EF4-FFF2-40B4-BE49-F238E27FC236}">
                <a16:creationId xmlns:a16="http://schemas.microsoft.com/office/drawing/2014/main" id="{C417390D-356A-C344-257F-F349B4554E79}"/>
              </a:ext>
            </a:extLst>
          </p:cNvPr>
          <p:cNvCxnSpPr>
            <a:cxnSpLocks/>
          </p:cNvCxnSpPr>
          <p:nvPr/>
        </p:nvCxnSpPr>
        <p:spPr>
          <a:xfrm flipV="1">
            <a:off x="3773458" y="2130127"/>
            <a:ext cx="82355" cy="42664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52D69AF-6B71-9297-BDF1-AB1E46D94908}"/>
              </a:ext>
            </a:extLst>
          </p:cNvPr>
          <p:cNvSpPr/>
          <p:nvPr/>
        </p:nvSpPr>
        <p:spPr>
          <a:xfrm>
            <a:off x="3665989" y="1602297"/>
            <a:ext cx="1652544" cy="5278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THE GLOBAL ZONATION WINDOW AND SELECT THE RESERVOIR OF INTEREST </a:t>
            </a:r>
          </a:p>
        </p:txBody>
      </p:sp>
      <p:cxnSp>
        <p:nvCxnSpPr>
          <p:cNvPr id="28" name="Straight Arrow Connector 27">
            <a:extLst>
              <a:ext uri="{FF2B5EF4-FFF2-40B4-BE49-F238E27FC236}">
                <a16:creationId xmlns:a16="http://schemas.microsoft.com/office/drawing/2014/main" id="{961EBFB5-D152-539A-F6DA-05AA3395BB5E}"/>
              </a:ext>
            </a:extLst>
          </p:cNvPr>
          <p:cNvCxnSpPr>
            <a:cxnSpLocks/>
            <a:endCxn id="27" idx="2"/>
          </p:cNvCxnSpPr>
          <p:nvPr/>
        </p:nvCxnSpPr>
        <p:spPr>
          <a:xfrm flipV="1">
            <a:off x="4462012" y="2130127"/>
            <a:ext cx="30249" cy="36540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D08456F3-2C22-E053-8CFD-7137AA2F3A42}"/>
              </a:ext>
            </a:extLst>
          </p:cNvPr>
          <p:cNvPicPr>
            <a:picLocks noChangeAspect="1"/>
          </p:cNvPicPr>
          <p:nvPr/>
        </p:nvPicPr>
        <p:blipFill>
          <a:blip r:embed="rId4"/>
          <a:stretch>
            <a:fillRect/>
          </a:stretch>
        </p:blipFill>
        <p:spPr>
          <a:xfrm>
            <a:off x="9303465" y="1298686"/>
            <a:ext cx="2604373" cy="2886392"/>
          </a:xfrm>
          <a:prstGeom prst="rect">
            <a:avLst/>
          </a:prstGeom>
        </p:spPr>
      </p:pic>
      <p:cxnSp>
        <p:nvCxnSpPr>
          <p:cNvPr id="58" name="Straight Arrow Connector 57">
            <a:extLst>
              <a:ext uri="{FF2B5EF4-FFF2-40B4-BE49-F238E27FC236}">
                <a16:creationId xmlns:a16="http://schemas.microsoft.com/office/drawing/2014/main" id="{C394579C-9C8E-1888-033F-66B0B871A3EA}"/>
              </a:ext>
            </a:extLst>
          </p:cNvPr>
          <p:cNvCxnSpPr>
            <a:cxnSpLocks/>
          </p:cNvCxnSpPr>
          <p:nvPr/>
        </p:nvCxnSpPr>
        <p:spPr>
          <a:xfrm flipV="1">
            <a:off x="5318533" y="1833366"/>
            <a:ext cx="922917" cy="286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B66651FC-B78D-749E-3CF7-2B68C9115C0D}"/>
              </a:ext>
            </a:extLst>
          </p:cNvPr>
          <p:cNvSpPr/>
          <p:nvPr/>
        </p:nvSpPr>
        <p:spPr>
          <a:xfrm>
            <a:off x="6241450" y="1651615"/>
            <a:ext cx="1203780" cy="3718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WELL LOG LAYOUT DISPLAYS LIKE SO</a:t>
            </a:r>
          </a:p>
        </p:txBody>
      </p:sp>
      <p:cxnSp>
        <p:nvCxnSpPr>
          <p:cNvPr id="67" name="Straight Arrow Connector 66">
            <a:extLst>
              <a:ext uri="{FF2B5EF4-FFF2-40B4-BE49-F238E27FC236}">
                <a16:creationId xmlns:a16="http://schemas.microsoft.com/office/drawing/2014/main" id="{96F8E700-EDC0-6D3D-3471-B1453DAEFD19}"/>
              </a:ext>
            </a:extLst>
          </p:cNvPr>
          <p:cNvCxnSpPr>
            <a:cxnSpLocks/>
          </p:cNvCxnSpPr>
          <p:nvPr/>
        </p:nvCxnSpPr>
        <p:spPr>
          <a:xfrm>
            <a:off x="7445230" y="1833366"/>
            <a:ext cx="1858235" cy="227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8002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50FFC-375D-4528-9124-4AFBFC099B55}"/>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91A8DDD6-5523-9D9E-654F-170B46CEDFDE}"/>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PLOT LOGS (4)</a:t>
            </a:r>
            <a:endParaRPr lang="en-US" sz="2800" b="1" dirty="0">
              <a:solidFill>
                <a:srgbClr val="009200"/>
              </a:solidFill>
              <a:cs typeface="Poppins" panose="00000500000000000000" pitchFamily="2" charset="0"/>
            </a:endParaRPr>
          </a:p>
        </p:txBody>
      </p:sp>
      <p:sp>
        <p:nvSpPr>
          <p:cNvPr id="2" name="Rectangle 2">
            <a:extLst>
              <a:ext uri="{FF2B5EF4-FFF2-40B4-BE49-F238E27FC236}">
                <a16:creationId xmlns:a16="http://schemas.microsoft.com/office/drawing/2014/main" id="{DC788969-E120-72E0-A56D-49A9ECC7AD3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7" name="Picture 6" descr="A screenshot of a computer">
            <a:extLst>
              <a:ext uri="{FF2B5EF4-FFF2-40B4-BE49-F238E27FC236}">
                <a16:creationId xmlns:a16="http://schemas.microsoft.com/office/drawing/2014/main" id="{0417EFEB-C4CA-965A-9BC0-C2EE06600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237" y="3200933"/>
            <a:ext cx="6291743" cy="3204128"/>
          </a:xfrm>
          <a:prstGeom prst="rect">
            <a:avLst/>
          </a:prstGeom>
        </p:spPr>
      </p:pic>
      <p:sp>
        <p:nvSpPr>
          <p:cNvPr id="12" name="Rectangle 11">
            <a:extLst>
              <a:ext uri="{FF2B5EF4-FFF2-40B4-BE49-F238E27FC236}">
                <a16:creationId xmlns:a16="http://schemas.microsoft.com/office/drawing/2014/main" id="{DBF22B53-7BB5-F28D-53CF-62ECC9B031E2}"/>
              </a:ext>
            </a:extLst>
          </p:cNvPr>
          <p:cNvSpPr/>
          <p:nvPr/>
        </p:nvSpPr>
        <p:spPr>
          <a:xfrm>
            <a:off x="1732326" y="1698771"/>
            <a:ext cx="1870745" cy="72564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AFTER IDENTIFYING HYDROCARBON ZONES AND WATER ZONES, CLICK ON THIS SELECTION ICON TO HIGHLIGHT THE ZONES ON THE LOGS </a:t>
            </a:r>
          </a:p>
        </p:txBody>
      </p:sp>
      <p:cxnSp>
        <p:nvCxnSpPr>
          <p:cNvPr id="13" name="Straight Arrow Connector 12">
            <a:extLst>
              <a:ext uri="{FF2B5EF4-FFF2-40B4-BE49-F238E27FC236}">
                <a16:creationId xmlns:a16="http://schemas.microsoft.com/office/drawing/2014/main" id="{BAA5F7E1-8A0F-7E51-57BF-DB0775FDCEBA}"/>
              </a:ext>
            </a:extLst>
          </p:cNvPr>
          <p:cNvCxnSpPr>
            <a:cxnSpLocks/>
          </p:cNvCxnSpPr>
          <p:nvPr/>
        </p:nvCxnSpPr>
        <p:spPr>
          <a:xfrm flipH="1">
            <a:off x="2611075" y="2424417"/>
            <a:ext cx="1684556" cy="8430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2427C65-9A35-121F-E54E-407F9FB8C381}"/>
              </a:ext>
            </a:extLst>
          </p:cNvPr>
          <p:cNvCxnSpPr>
            <a:cxnSpLocks/>
            <a:endCxn id="12" idx="0"/>
          </p:cNvCxnSpPr>
          <p:nvPr/>
        </p:nvCxnSpPr>
        <p:spPr>
          <a:xfrm>
            <a:off x="2667698" y="1484851"/>
            <a:ext cx="1" cy="213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A6749C7-3A72-050A-DC45-CE1CEDAC5BEA}"/>
              </a:ext>
            </a:extLst>
          </p:cNvPr>
          <p:cNvCxnSpPr>
            <a:cxnSpLocks/>
          </p:cNvCxnSpPr>
          <p:nvPr/>
        </p:nvCxnSpPr>
        <p:spPr>
          <a:xfrm flipH="1">
            <a:off x="1914788" y="2424418"/>
            <a:ext cx="2107737" cy="10129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754ACA22-C2E0-2998-D9A3-ECEB08E355A6}"/>
              </a:ext>
            </a:extLst>
          </p:cNvPr>
          <p:cNvCxnSpPr>
            <a:cxnSpLocks/>
            <a:stCxn id="12" idx="1"/>
          </p:cNvCxnSpPr>
          <p:nvPr/>
        </p:nvCxnSpPr>
        <p:spPr>
          <a:xfrm rot="10800000" flipH="1" flipV="1">
            <a:off x="1732326" y="2061594"/>
            <a:ext cx="1765886" cy="1990289"/>
          </a:xfrm>
          <a:prstGeom prst="bentConnector4">
            <a:avLst>
              <a:gd name="adj1" fmla="val -12945"/>
              <a:gd name="adj2" fmla="val 9957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E7D2773B-3B12-6C1B-7CD6-FC00DBC90221}"/>
              </a:ext>
            </a:extLst>
          </p:cNvPr>
          <p:cNvCxnSpPr>
            <a:stCxn id="12" idx="0"/>
          </p:cNvCxnSpPr>
          <p:nvPr/>
        </p:nvCxnSpPr>
        <p:spPr>
          <a:xfrm rot="16200000" flipH="1" flipV="1">
            <a:off x="-192946" y="2315361"/>
            <a:ext cx="3477236" cy="2244055"/>
          </a:xfrm>
          <a:prstGeom prst="bentConnector3">
            <a:avLst>
              <a:gd name="adj1" fmla="val -6574"/>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F5D8FE26-6D79-B33C-BC91-D28B83FC4084}"/>
              </a:ext>
            </a:extLst>
          </p:cNvPr>
          <p:cNvCxnSpPr/>
          <p:nvPr/>
        </p:nvCxnSpPr>
        <p:spPr>
          <a:xfrm>
            <a:off x="423644" y="5176007"/>
            <a:ext cx="3674378" cy="0"/>
          </a:xfrm>
          <a:prstGeom prst="line">
            <a:avLst/>
          </a:prstGeom>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24B720A6-4F79-46CF-5254-BFE659FD7DA4}"/>
              </a:ext>
            </a:extLst>
          </p:cNvPr>
          <p:cNvSpPr/>
          <p:nvPr/>
        </p:nvSpPr>
        <p:spPr>
          <a:xfrm>
            <a:off x="3810279" y="1857304"/>
            <a:ext cx="1595303" cy="57015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DATA AND SELECT DATA  EDITOR. </a:t>
            </a:r>
            <a:br>
              <a:rPr lang="en-GB" sz="900" dirty="0">
                <a:solidFill>
                  <a:schemeClr val="tx1"/>
                </a:solidFill>
              </a:rPr>
            </a:br>
            <a:r>
              <a:rPr lang="en-GB" sz="900" dirty="0">
                <a:solidFill>
                  <a:schemeClr val="tx1"/>
                </a:solidFill>
              </a:rPr>
              <a:t>A DATA EDITOR WINDOW SHOWS UP.</a:t>
            </a:r>
          </a:p>
        </p:txBody>
      </p:sp>
      <p:cxnSp>
        <p:nvCxnSpPr>
          <p:cNvPr id="69" name="Straight Arrow Connector 68">
            <a:extLst>
              <a:ext uri="{FF2B5EF4-FFF2-40B4-BE49-F238E27FC236}">
                <a16:creationId xmlns:a16="http://schemas.microsoft.com/office/drawing/2014/main" id="{3C09A0C1-B566-89FC-0714-A8E2648097B4}"/>
              </a:ext>
            </a:extLst>
          </p:cNvPr>
          <p:cNvCxnSpPr>
            <a:cxnSpLocks/>
          </p:cNvCxnSpPr>
          <p:nvPr/>
        </p:nvCxnSpPr>
        <p:spPr>
          <a:xfrm flipH="1" flipV="1">
            <a:off x="4832524" y="2424417"/>
            <a:ext cx="785301" cy="144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Arrow: Curved Down 71">
            <a:extLst>
              <a:ext uri="{FF2B5EF4-FFF2-40B4-BE49-F238E27FC236}">
                <a16:creationId xmlns:a16="http://schemas.microsoft.com/office/drawing/2014/main" id="{1F5EFBE3-FDAE-5A28-1B4E-A7CDAE8F48F3}"/>
              </a:ext>
            </a:extLst>
          </p:cNvPr>
          <p:cNvSpPr/>
          <p:nvPr/>
        </p:nvSpPr>
        <p:spPr>
          <a:xfrm>
            <a:off x="3141678" y="4074432"/>
            <a:ext cx="2759978" cy="487073"/>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73" name="Straight Arrow Connector 72">
            <a:extLst>
              <a:ext uri="{FF2B5EF4-FFF2-40B4-BE49-F238E27FC236}">
                <a16:creationId xmlns:a16="http://schemas.microsoft.com/office/drawing/2014/main" id="{4ABD870B-F3BF-783B-EDF4-9D2163D94A9E}"/>
              </a:ext>
            </a:extLst>
          </p:cNvPr>
          <p:cNvCxnSpPr>
            <a:cxnSpLocks/>
          </p:cNvCxnSpPr>
          <p:nvPr/>
        </p:nvCxnSpPr>
        <p:spPr>
          <a:xfrm flipV="1">
            <a:off x="5617825" y="2318374"/>
            <a:ext cx="524193" cy="19995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Rectangle 81">
            <a:extLst>
              <a:ext uri="{FF2B5EF4-FFF2-40B4-BE49-F238E27FC236}">
                <a16:creationId xmlns:a16="http://schemas.microsoft.com/office/drawing/2014/main" id="{C90B1032-0645-8F7F-86C9-67612F8DAEA1}"/>
              </a:ext>
            </a:extLst>
          </p:cNvPr>
          <p:cNvSpPr/>
          <p:nvPr/>
        </p:nvSpPr>
        <p:spPr>
          <a:xfrm>
            <a:off x="5639419" y="1868978"/>
            <a:ext cx="1562439" cy="44939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DRAG AND DROP ANY OF THE LQC DATASET IN THE DATA EDITOR WINDOW</a:t>
            </a:r>
          </a:p>
        </p:txBody>
      </p:sp>
      <p:sp>
        <p:nvSpPr>
          <p:cNvPr id="84" name="Right Brace 83">
            <a:extLst>
              <a:ext uri="{FF2B5EF4-FFF2-40B4-BE49-F238E27FC236}">
                <a16:creationId xmlns:a16="http://schemas.microsoft.com/office/drawing/2014/main" id="{E2FC079E-33A0-F5AF-94A6-EBF40CAD2410}"/>
              </a:ext>
            </a:extLst>
          </p:cNvPr>
          <p:cNvSpPr/>
          <p:nvPr/>
        </p:nvSpPr>
        <p:spPr>
          <a:xfrm rot="5163245">
            <a:off x="6844671" y="3212434"/>
            <a:ext cx="207655" cy="2073869"/>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85" name="Connector: Elbow 84">
            <a:extLst>
              <a:ext uri="{FF2B5EF4-FFF2-40B4-BE49-F238E27FC236}">
                <a16:creationId xmlns:a16="http://schemas.microsoft.com/office/drawing/2014/main" id="{93AEF65F-9AF7-8A89-A7B0-BCF5B79B53B4}"/>
              </a:ext>
            </a:extLst>
          </p:cNvPr>
          <p:cNvCxnSpPr>
            <a:cxnSpLocks/>
          </p:cNvCxnSpPr>
          <p:nvPr/>
        </p:nvCxnSpPr>
        <p:spPr>
          <a:xfrm rot="10800000">
            <a:off x="6957384" y="4338153"/>
            <a:ext cx="1238660" cy="182726"/>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89" name="Rectangle 88">
            <a:extLst>
              <a:ext uri="{FF2B5EF4-FFF2-40B4-BE49-F238E27FC236}">
                <a16:creationId xmlns:a16="http://schemas.microsoft.com/office/drawing/2014/main" id="{9AED991E-2354-0B8A-C962-04A8CBFD157D}"/>
              </a:ext>
            </a:extLst>
          </p:cNvPr>
          <p:cNvSpPr/>
          <p:nvPr/>
        </p:nvSpPr>
        <p:spPr>
          <a:xfrm>
            <a:off x="7411603" y="1969981"/>
            <a:ext cx="1700055" cy="66356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FORMULA BAR, INPUT “FLD=FLD” AND PRESS ENTER TO CREATE A NEW LOG COLUMN FOR FLUID DISTRIBUTION</a:t>
            </a:r>
          </a:p>
        </p:txBody>
      </p:sp>
      <p:cxnSp>
        <p:nvCxnSpPr>
          <p:cNvPr id="92" name="Straight Arrow Connector 91">
            <a:extLst>
              <a:ext uri="{FF2B5EF4-FFF2-40B4-BE49-F238E27FC236}">
                <a16:creationId xmlns:a16="http://schemas.microsoft.com/office/drawing/2014/main" id="{FEECC98F-CA81-DCD3-FA7D-45A7EDAE3A72}"/>
              </a:ext>
            </a:extLst>
          </p:cNvPr>
          <p:cNvCxnSpPr>
            <a:cxnSpLocks/>
          </p:cNvCxnSpPr>
          <p:nvPr/>
        </p:nvCxnSpPr>
        <p:spPr>
          <a:xfrm flipH="1" flipV="1">
            <a:off x="7990120" y="2633549"/>
            <a:ext cx="205924" cy="19022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7" name="Picture 96" descr="A screenshot of a computer">
            <a:extLst>
              <a:ext uri="{FF2B5EF4-FFF2-40B4-BE49-F238E27FC236}">
                <a16:creationId xmlns:a16="http://schemas.microsoft.com/office/drawing/2014/main" id="{A9B254DD-3BE2-B555-32C1-0A532A96F6F1}"/>
              </a:ext>
            </a:extLst>
          </p:cNvPr>
          <p:cNvPicPr>
            <a:picLocks noChangeAspect="1"/>
          </p:cNvPicPr>
          <p:nvPr/>
        </p:nvPicPr>
        <p:blipFill>
          <a:blip r:embed="rId3">
            <a:extLst>
              <a:ext uri="{28A0092B-C50C-407E-A947-70E740481C1C}">
                <a14:useLocalDpi xmlns:a14="http://schemas.microsoft.com/office/drawing/2010/main" val="0"/>
              </a:ext>
            </a:extLst>
          </a:blip>
          <a:srcRect l="58681" t="318" r="6125" b="-1"/>
          <a:stretch>
            <a:fillRect/>
          </a:stretch>
        </p:blipFill>
        <p:spPr>
          <a:xfrm>
            <a:off x="8932480" y="3235995"/>
            <a:ext cx="2224709" cy="3204128"/>
          </a:xfrm>
          <a:prstGeom prst="rect">
            <a:avLst/>
          </a:prstGeom>
        </p:spPr>
      </p:pic>
      <p:cxnSp>
        <p:nvCxnSpPr>
          <p:cNvPr id="100" name="Straight Arrow Connector 99">
            <a:extLst>
              <a:ext uri="{FF2B5EF4-FFF2-40B4-BE49-F238E27FC236}">
                <a16:creationId xmlns:a16="http://schemas.microsoft.com/office/drawing/2014/main" id="{A6E969EA-024F-610C-8789-C31B1914943C}"/>
              </a:ext>
            </a:extLst>
          </p:cNvPr>
          <p:cNvCxnSpPr>
            <a:cxnSpLocks/>
            <a:stCxn id="89" idx="2"/>
          </p:cNvCxnSpPr>
          <p:nvPr/>
        </p:nvCxnSpPr>
        <p:spPr>
          <a:xfrm>
            <a:off x="8261631" y="2633549"/>
            <a:ext cx="680736" cy="1283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8DBE9F4C-5E73-BF1F-F1DC-5F539196468D}"/>
              </a:ext>
            </a:extLst>
          </p:cNvPr>
          <p:cNvCxnSpPr>
            <a:cxnSpLocks/>
          </p:cNvCxnSpPr>
          <p:nvPr/>
        </p:nvCxnSpPr>
        <p:spPr>
          <a:xfrm flipV="1">
            <a:off x="9511312" y="2181608"/>
            <a:ext cx="279291" cy="24735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3B6440D5-E741-4BC2-5F6D-34C8033D9D75}"/>
              </a:ext>
            </a:extLst>
          </p:cNvPr>
          <p:cNvSpPr/>
          <p:nvPr/>
        </p:nvSpPr>
        <p:spPr>
          <a:xfrm>
            <a:off x="9321403" y="1215932"/>
            <a:ext cx="1836138" cy="9656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THE HIGHLIGHTED SECTION SHOWS UP ON THE DATA EDITOR WINDOW. INPUT THE FLUID CODES BASED ON WATER, OIL OR GAS. (1 FOR WATER, 2 FOR OIL AND 3 FOR GAS)</a:t>
            </a:r>
          </a:p>
        </p:txBody>
      </p:sp>
      <p:sp>
        <p:nvSpPr>
          <p:cNvPr id="5" name="Rectangle 4">
            <a:extLst>
              <a:ext uri="{FF2B5EF4-FFF2-40B4-BE49-F238E27FC236}">
                <a16:creationId xmlns:a16="http://schemas.microsoft.com/office/drawing/2014/main" id="{E0F0F02C-125A-16EB-791F-75BCBB70E2C9}"/>
              </a:ext>
            </a:extLst>
          </p:cNvPr>
          <p:cNvSpPr/>
          <p:nvPr/>
        </p:nvSpPr>
        <p:spPr>
          <a:xfrm>
            <a:off x="10518046" y="2318374"/>
            <a:ext cx="1581320" cy="57151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DATA EDITOR AND CLICK ON SAVE ALL MODIFIED VARIABLES TO SAVE THE FLD LOG </a:t>
            </a:r>
          </a:p>
        </p:txBody>
      </p:sp>
      <p:cxnSp>
        <p:nvCxnSpPr>
          <p:cNvPr id="6" name="Straight Arrow Connector 5">
            <a:extLst>
              <a:ext uri="{FF2B5EF4-FFF2-40B4-BE49-F238E27FC236}">
                <a16:creationId xmlns:a16="http://schemas.microsoft.com/office/drawing/2014/main" id="{24072409-63C1-A41F-FDF9-3395CBECA123}"/>
              </a:ext>
            </a:extLst>
          </p:cNvPr>
          <p:cNvCxnSpPr>
            <a:cxnSpLocks/>
            <a:endCxn id="5" idx="2"/>
          </p:cNvCxnSpPr>
          <p:nvPr/>
        </p:nvCxnSpPr>
        <p:spPr>
          <a:xfrm flipV="1">
            <a:off x="10681851" y="2889893"/>
            <a:ext cx="626855" cy="4282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5C873B8-11B0-CA39-A086-7012F208E2D1}"/>
              </a:ext>
            </a:extLst>
          </p:cNvPr>
          <p:cNvCxnSpPr>
            <a:cxnSpLocks/>
          </p:cNvCxnSpPr>
          <p:nvPr/>
        </p:nvCxnSpPr>
        <p:spPr>
          <a:xfrm flipV="1">
            <a:off x="10054996" y="2889893"/>
            <a:ext cx="574107" cy="377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75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16F2E-B0A4-D719-85BC-E11673BA060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505929A-D585-0E72-9E9B-DEF97C365141}"/>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PLOT LOGS (5)</a:t>
            </a:r>
            <a:endParaRPr lang="en-US" sz="2800" b="1" dirty="0">
              <a:solidFill>
                <a:srgbClr val="009200"/>
              </a:solidFill>
              <a:cs typeface="Poppins" panose="00000500000000000000" pitchFamily="2" charset="0"/>
            </a:endParaRPr>
          </a:p>
        </p:txBody>
      </p:sp>
      <p:pic>
        <p:nvPicPr>
          <p:cNvPr id="3" name="Picture 2" descr="A screenshot of a computer&#10;&#10;AI-generated content may be incorrect.">
            <a:extLst>
              <a:ext uri="{FF2B5EF4-FFF2-40B4-BE49-F238E27FC236}">
                <a16:creationId xmlns:a16="http://schemas.microsoft.com/office/drawing/2014/main" id="{22F0E7D1-258B-B28A-4944-921A8BE462AC}"/>
              </a:ext>
            </a:extLst>
          </p:cNvPr>
          <p:cNvPicPr>
            <a:picLocks noChangeAspect="1"/>
          </p:cNvPicPr>
          <p:nvPr/>
        </p:nvPicPr>
        <p:blipFill>
          <a:blip r:embed="rId2">
            <a:extLst>
              <a:ext uri="{28A0092B-C50C-407E-A947-70E740481C1C}">
                <a14:useLocalDpi xmlns:a14="http://schemas.microsoft.com/office/drawing/2010/main" val="0"/>
              </a:ext>
            </a:extLst>
          </a:blip>
          <a:srcRect t="17011" r="73449" b="11291"/>
          <a:stretch>
            <a:fillRect/>
          </a:stretch>
        </p:blipFill>
        <p:spPr>
          <a:xfrm>
            <a:off x="0" y="2919233"/>
            <a:ext cx="2562276" cy="3833635"/>
          </a:xfrm>
          <a:prstGeom prst="rect">
            <a:avLst/>
          </a:prstGeom>
        </p:spPr>
      </p:pic>
      <p:pic>
        <p:nvPicPr>
          <p:cNvPr id="8" name="Picture 7" descr="A screenshot of a computer">
            <a:extLst>
              <a:ext uri="{FF2B5EF4-FFF2-40B4-BE49-F238E27FC236}">
                <a16:creationId xmlns:a16="http://schemas.microsoft.com/office/drawing/2014/main" id="{2AD07944-0337-3B70-9D57-9426BB2B1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3023" y="2919187"/>
            <a:ext cx="2487672" cy="3938813"/>
          </a:xfrm>
          <a:prstGeom prst="rect">
            <a:avLst/>
          </a:prstGeom>
        </p:spPr>
      </p:pic>
      <p:cxnSp>
        <p:nvCxnSpPr>
          <p:cNvPr id="9" name="Straight Arrow Connector 8">
            <a:extLst>
              <a:ext uri="{FF2B5EF4-FFF2-40B4-BE49-F238E27FC236}">
                <a16:creationId xmlns:a16="http://schemas.microsoft.com/office/drawing/2014/main" id="{350E8EAF-7EBC-156B-577F-5B75C18A1304}"/>
              </a:ext>
            </a:extLst>
          </p:cNvPr>
          <p:cNvCxnSpPr>
            <a:cxnSpLocks/>
          </p:cNvCxnSpPr>
          <p:nvPr/>
        </p:nvCxnSpPr>
        <p:spPr>
          <a:xfrm flipH="1">
            <a:off x="880171" y="2216720"/>
            <a:ext cx="1070875" cy="2575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BC1F4B5-4614-31AD-792C-5FAB7C32AEB9}"/>
              </a:ext>
            </a:extLst>
          </p:cNvPr>
          <p:cNvSpPr/>
          <p:nvPr/>
        </p:nvSpPr>
        <p:spPr>
          <a:xfrm>
            <a:off x="1609852" y="1160514"/>
            <a:ext cx="2562276" cy="10562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FLD LOG SHOWS UP ON THE PROJECT BROWSER BUT PARAMETERS ARE NOT CORRECT ( HENCE, ITS APPEARANCE DIFFERENT FROM THE OTHER LOGS). SELECT THE FLD LOG AND CLICK ON PROPERTIES. ON THE PROPERTIES WINDOW, SELECT THE APPROPIATE UNIT FOR THE LOG (IN THIS CASE, “unitless”)</a:t>
            </a:r>
          </a:p>
        </p:txBody>
      </p:sp>
      <p:cxnSp>
        <p:nvCxnSpPr>
          <p:cNvPr id="14" name="Straight Arrow Connector 13">
            <a:extLst>
              <a:ext uri="{FF2B5EF4-FFF2-40B4-BE49-F238E27FC236}">
                <a16:creationId xmlns:a16="http://schemas.microsoft.com/office/drawing/2014/main" id="{10FF80DB-0005-7359-6C6C-A75CEC48A6DA}"/>
              </a:ext>
            </a:extLst>
          </p:cNvPr>
          <p:cNvCxnSpPr>
            <a:cxnSpLocks/>
          </p:cNvCxnSpPr>
          <p:nvPr/>
        </p:nvCxnSpPr>
        <p:spPr>
          <a:xfrm>
            <a:off x="3442447" y="2216720"/>
            <a:ext cx="773689" cy="28882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 name="Picture 18" descr="A screenshot of a graph">
            <a:extLst>
              <a:ext uri="{FF2B5EF4-FFF2-40B4-BE49-F238E27FC236}">
                <a16:creationId xmlns:a16="http://schemas.microsoft.com/office/drawing/2014/main" id="{3ECE19FD-12A3-2EB6-00F5-FA69BC96E4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8005" y="1117534"/>
            <a:ext cx="3326346" cy="2992621"/>
          </a:xfrm>
          <a:prstGeom prst="rect">
            <a:avLst/>
          </a:prstGeom>
        </p:spPr>
      </p:pic>
      <p:sp>
        <p:nvSpPr>
          <p:cNvPr id="20" name="Rectangle 19">
            <a:extLst>
              <a:ext uri="{FF2B5EF4-FFF2-40B4-BE49-F238E27FC236}">
                <a16:creationId xmlns:a16="http://schemas.microsoft.com/office/drawing/2014/main" id="{B17C919D-115A-0DFD-C06C-70947585B596}"/>
              </a:ext>
            </a:extLst>
          </p:cNvPr>
          <p:cNvSpPr/>
          <p:nvPr/>
        </p:nvSpPr>
        <p:spPr>
          <a:xfrm>
            <a:off x="4587763" y="1355065"/>
            <a:ext cx="1944338" cy="65769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DRAG AND DROP THE FLD LOG ON THE WELL LOG LAYOUT AND YOU SHOULD HAVE A LAYOUT LIKE THIS. </a:t>
            </a:r>
          </a:p>
        </p:txBody>
      </p:sp>
      <p:cxnSp>
        <p:nvCxnSpPr>
          <p:cNvPr id="21" name="Straight Arrow Connector 20">
            <a:extLst>
              <a:ext uri="{FF2B5EF4-FFF2-40B4-BE49-F238E27FC236}">
                <a16:creationId xmlns:a16="http://schemas.microsoft.com/office/drawing/2014/main" id="{31099758-2473-68AF-C549-3B461924EF5B}"/>
              </a:ext>
            </a:extLst>
          </p:cNvPr>
          <p:cNvCxnSpPr>
            <a:cxnSpLocks/>
            <a:endCxn id="20" idx="3"/>
          </p:cNvCxnSpPr>
          <p:nvPr/>
        </p:nvCxnSpPr>
        <p:spPr>
          <a:xfrm flipH="1">
            <a:off x="6532101" y="1683910"/>
            <a:ext cx="62590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5" name="Picture 24" descr="A screenshot of a computer&#10;&#10;AI-generated content may be incorrect.">
            <a:extLst>
              <a:ext uri="{FF2B5EF4-FFF2-40B4-BE49-F238E27FC236}">
                <a16:creationId xmlns:a16="http://schemas.microsoft.com/office/drawing/2014/main" id="{608FE364-76B6-81CB-B799-9ACD7C8F88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3510" y="5563763"/>
            <a:ext cx="5680107" cy="1130948"/>
          </a:xfrm>
          <a:prstGeom prst="rect">
            <a:avLst/>
          </a:prstGeom>
        </p:spPr>
      </p:pic>
      <p:cxnSp>
        <p:nvCxnSpPr>
          <p:cNvPr id="31" name="Straight Arrow Connector 30">
            <a:extLst>
              <a:ext uri="{FF2B5EF4-FFF2-40B4-BE49-F238E27FC236}">
                <a16:creationId xmlns:a16="http://schemas.microsoft.com/office/drawing/2014/main" id="{0C329317-D4AF-F054-E0C6-84F5B12CA887}"/>
              </a:ext>
            </a:extLst>
          </p:cNvPr>
          <p:cNvCxnSpPr>
            <a:cxnSpLocks/>
          </p:cNvCxnSpPr>
          <p:nvPr/>
        </p:nvCxnSpPr>
        <p:spPr>
          <a:xfrm flipH="1">
            <a:off x="7750486" y="5300586"/>
            <a:ext cx="391097" cy="481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603D671-7E54-311C-C62E-4E4AE7EB5647}"/>
              </a:ext>
            </a:extLst>
          </p:cNvPr>
          <p:cNvSpPr/>
          <p:nvPr/>
        </p:nvSpPr>
        <p:spPr>
          <a:xfrm>
            <a:off x="7827373" y="4718695"/>
            <a:ext cx="1838409" cy="57350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MULTI WELL LAYOUT AND CLICK ON SAVE TO SAVE THE WELL LOG LAYOUT THAT HAS BEEN CREATED</a:t>
            </a:r>
          </a:p>
        </p:txBody>
      </p:sp>
      <p:cxnSp>
        <p:nvCxnSpPr>
          <p:cNvPr id="34" name="Straight Arrow Connector 33">
            <a:extLst>
              <a:ext uri="{FF2B5EF4-FFF2-40B4-BE49-F238E27FC236}">
                <a16:creationId xmlns:a16="http://schemas.microsoft.com/office/drawing/2014/main" id="{00F359E2-66BA-246F-0E6B-D76FE79A68B1}"/>
              </a:ext>
            </a:extLst>
          </p:cNvPr>
          <p:cNvCxnSpPr>
            <a:cxnSpLocks/>
          </p:cNvCxnSpPr>
          <p:nvPr/>
        </p:nvCxnSpPr>
        <p:spPr>
          <a:xfrm>
            <a:off x="9071933" y="5292202"/>
            <a:ext cx="1123383" cy="316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9341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8BD1-56A6-CBA6-C7A0-E248A7021E2D}"/>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6E9F8C95-B358-71ED-B297-AF2658C04686}"/>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rgbClr val="009200"/>
                </a:solidFill>
                <a:cs typeface="Poppins" panose="00000500000000000000" pitchFamily="2" charset="0"/>
              </a:rPr>
              <a:t>HCDP</a:t>
            </a:r>
          </a:p>
        </p:txBody>
      </p:sp>
      <p:sp>
        <p:nvSpPr>
          <p:cNvPr id="2" name="Rectangle 2">
            <a:extLst>
              <a:ext uri="{FF2B5EF4-FFF2-40B4-BE49-F238E27FC236}">
                <a16:creationId xmlns:a16="http://schemas.microsoft.com/office/drawing/2014/main" id="{C82409AD-D048-BB88-1900-7E38B78132E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4" name="Picture 3" descr="A screenshot of a computer&#10;&#10;AI-generated content may be incorrect.">
            <a:extLst>
              <a:ext uri="{FF2B5EF4-FFF2-40B4-BE49-F238E27FC236}">
                <a16:creationId xmlns:a16="http://schemas.microsoft.com/office/drawing/2014/main" id="{313FC1AD-1B0D-115B-D885-7700A27CE533}"/>
              </a:ext>
            </a:extLst>
          </p:cNvPr>
          <p:cNvPicPr>
            <a:picLocks noChangeAspect="1"/>
          </p:cNvPicPr>
          <p:nvPr/>
        </p:nvPicPr>
        <p:blipFill>
          <a:blip r:embed="rId2">
            <a:extLst>
              <a:ext uri="{28A0092B-C50C-407E-A947-70E740481C1C}">
                <a14:useLocalDpi xmlns:a14="http://schemas.microsoft.com/office/drawing/2010/main" val="0"/>
              </a:ext>
            </a:extLst>
          </a:blip>
          <a:srcRect r="29963"/>
          <a:stretch>
            <a:fillRect/>
          </a:stretch>
        </p:blipFill>
        <p:spPr>
          <a:xfrm>
            <a:off x="669989" y="3209735"/>
            <a:ext cx="2708890" cy="2936793"/>
          </a:xfrm>
          <a:prstGeom prst="rect">
            <a:avLst/>
          </a:prstGeom>
        </p:spPr>
      </p:pic>
      <p:cxnSp>
        <p:nvCxnSpPr>
          <p:cNvPr id="6" name="Straight Arrow Connector 5">
            <a:extLst>
              <a:ext uri="{FF2B5EF4-FFF2-40B4-BE49-F238E27FC236}">
                <a16:creationId xmlns:a16="http://schemas.microsoft.com/office/drawing/2014/main" id="{F08D51F1-BCE8-E909-A5A8-7618B96903C6}"/>
              </a:ext>
            </a:extLst>
          </p:cNvPr>
          <p:cNvCxnSpPr>
            <a:cxnSpLocks/>
          </p:cNvCxnSpPr>
          <p:nvPr/>
        </p:nvCxnSpPr>
        <p:spPr>
          <a:xfrm flipH="1">
            <a:off x="2073292" y="2195538"/>
            <a:ext cx="102687" cy="11882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91D375F-C3C1-5A3F-ED57-65D6EEEDEED7}"/>
              </a:ext>
            </a:extLst>
          </p:cNvPr>
          <p:cNvSpPr/>
          <p:nvPr/>
        </p:nvSpPr>
        <p:spPr>
          <a:xfrm>
            <a:off x="1721225" y="1419698"/>
            <a:ext cx="2431344" cy="7758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ANOTHER WELL LAYOUT CAN BE CREATED PUTTING THE RESISTIVITY LOG, GR LOG, PERF LOG AND FLD LOG ON THE SAME TRACK NEXT TO A TVDSS LOG TO HAVE A SIMPLE VIEW OF FLUID DISTRIBUTION IN THE WELL </a:t>
            </a:r>
          </a:p>
        </p:txBody>
      </p:sp>
      <p:pic>
        <p:nvPicPr>
          <p:cNvPr id="13" name="Picture 12">
            <a:extLst>
              <a:ext uri="{FF2B5EF4-FFF2-40B4-BE49-F238E27FC236}">
                <a16:creationId xmlns:a16="http://schemas.microsoft.com/office/drawing/2014/main" id="{272EFC8A-7D37-3D46-5443-29D027818308}"/>
              </a:ext>
            </a:extLst>
          </p:cNvPr>
          <p:cNvPicPr>
            <a:picLocks noChangeAspect="1"/>
          </p:cNvPicPr>
          <p:nvPr/>
        </p:nvPicPr>
        <p:blipFill>
          <a:blip r:embed="rId3"/>
          <a:stretch>
            <a:fillRect/>
          </a:stretch>
        </p:blipFill>
        <p:spPr>
          <a:xfrm>
            <a:off x="4887586" y="3209734"/>
            <a:ext cx="4412315" cy="2936793"/>
          </a:xfrm>
          <a:prstGeom prst="rect">
            <a:avLst/>
          </a:prstGeom>
        </p:spPr>
      </p:pic>
      <p:cxnSp>
        <p:nvCxnSpPr>
          <p:cNvPr id="22" name="Straight Arrow Connector 21">
            <a:extLst>
              <a:ext uri="{FF2B5EF4-FFF2-40B4-BE49-F238E27FC236}">
                <a16:creationId xmlns:a16="http://schemas.microsoft.com/office/drawing/2014/main" id="{2EFACD73-8FD0-D45A-DCA6-97AFB1BBBA3D}"/>
              </a:ext>
            </a:extLst>
          </p:cNvPr>
          <p:cNvCxnSpPr>
            <a:cxnSpLocks/>
          </p:cNvCxnSpPr>
          <p:nvPr/>
        </p:nvCxnSpPr>
        <p:spPr>
          <a:xfrm>
            <a:off x="6713750" y="2244436"/>
            <a:ext cx="0" cy="9652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3B6768F5-754B-0F1B-4AD7-3C62E376BB1D}"/>
              </a:ext>
            </a:extLst>
          </p:cNvPr>
          <p:cNvSpPr/>
          <p:nvPr/>
        </p:nvSpPr>
        <p:spPr>
          <a:xfrm>
            <a:off x="5291622" y="1468596"/>
            <a:ext cx="2431344" cy="7758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STEPS FROM SLIDE 4 THROUGH 8 CAN BE REPEATED FOR OTHER WELLS. AND THE FLUID DISTRIBUTION LOGS CAN ALL BE PLACED ON THE SAME WELL LOG LAYOUT TO HAVE A HYDROCARBON DISTRIBUTION PLOT</a:t>
            </a:r>
          </a:p>
        </p:txBody>
      </p:sp>
      <p:sp>
        <p:nvSpPr>
          <p:cNvPr id="27" name="Rectangle 26">
            <a:extLst>
              <a:ext uri="{FF2B5EF4-FFF2-40B4-BE49-F238E27FC236}">
                <a16:creationId xmlns:a16="http://schemas.microsoft.com/office/drawing/2014/main" id="{FF2930A6-3CFD-67B5-1592-3FDBD0AEAAFC}"/>
              </a:ext>
            </a:extLst>
          </p:cNvPr>
          <p:cNvSpPr/>
          <p:nvPr/>
        </p:nvSpPr>
        <p:spPr>
          <a:xfrm>
            <a:off x="9657432" y="2068401"/>
            <a:ext cx="2323041" cy="7212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*NOTE: TO DELETE A LOG, TRACK OR BASELINE IN WELL LOG WINDOW, SIMPLY CLICK ON IT AND PRESS DELETE ON YOUR KEYBOARD</a:t>
            </a:r>
          </a:p>
        </p:txBody>
      </p:sp>
    </p:spTree>
    <p:extLst>
      <p:ext uri="{BB962C8B-B14F-4D97-AF65-F5344CB8AC3E}">
        <p14:creationId xmlns:p14="http://schemas.microsoft.com/office/powerpoint/2010/main" val="3223702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81B60-4F2D-2D83-713D-E78F96BE39ED}"/>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2204406B-7FB1-D9E0-1833-8FD0E389FAAB}"/>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chemeClr val="accent6">
                    <a:lumMod val="75000"/>
                  </a:schemeClr>
                </a:solidFill>
                <a:cs typeface="Poppins" panose="00000500000000000000" pitchFamily="2" charset="0"/>
              </a:rPr>
              <a:t>NEW ZONATION</a:t>
            </a:r>
          </a:p>
        </p:txBody>
      </p:sp>
      <p:pic>
        <p:nvPicPr>
          <p:cNvPr id="7" name="Picture 6" descr="A screenshot of a computer">
            <a:extLst>
              <a:ext uri="{FF2B5EF4-FFF2-40B4-BE49-F238E27FC236}">
                <a16:creationId xmlns:a16="http://schemas.microsoft.com/office/drawing/2014/main" id="{DE83F265-8553-15F3-0BE4-6B147209B2EE}"/>
              </a:ext>
            </a:extLst>
          </p:cNvPr>
          <p:cNvPicPr>
            <a:picLocks noChangeAspect="1"/>
          </p:cNvPicPr>
          <p:nvPr/>
        </p:nvPicPr>
        <p:blipFill>
          <a:blip r:embed="rId2">
            <a:extLst>
              <a:ext uri="{28A0092B-C50C-407E-A947-70E740481C1C}">
                <a14:useLocalDpi xmlns:a14="http://schemas.microsoft.com/office/drawing/2010/main" val="0"/>
              </a:ext>
            </a:extLst>
          </a:blip>
          <a:srcRect l="15413" r="17401"/>
          <a:stretch>
            <a:fillRect/>
          </a:stretch>
        </p:blipFill>
        <p:spPr>
          <a:xfrm>
            <a:off x="255916" y="3343637"/>
            <a:ext cx="2976268" cy="2962020"/>
          </a:xfrm>
          <a:prstGeom prst="rect">
            <a:avLst/>
          </a:prstGeom>
        </p:spPr>
      </p:pic>
      <p:pic>
        <p:nvPicPr>
          <p:cNvPr id="10" name="Picture 9" descr="A screenshot of a computer">
            <a:extLst>
              <a:ext uri="{FF2B5EF4-FFF2-40B4-BE49-F238E27FC236}">
                <a16:creationId xmlns:a16="http://schemas.microsoft.com/office/drawing/2014/main" id="{F72C0C0B-4E1C-29C8-55F8-E19E5DD1AE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5924" y="3343637"/>
            <a:ext cx="7430279" cy="310413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878BA9A1-5529-8852-A8CA-5117E2B160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3694" y="779894"/>
            <a:ext cx="2329063" cy="2382299"/>
          </a:xfrm>
          <a:prstGeom prst="rect">
            <a:avLst/>
          </a:prstGeom>
        </p:spPr>
      </p:pic>
      <p:cxnSp>
        <p:nvCxnSpPr>
          <p:cNvPr id="16" name="Straight Arrow Connector 15">
            <a:extLst>
              <a:ext uri="{FF2B5EF4-FFF2-40B4-BE49-F238E27FC236}">
                <a16:creationId xmlns:a16="http://schemas.microsoft.com/office/drawing/2014/main" id="{7559EF12-33B6-5BE9-6378-810FFF613196}"/>
              </a:ext>
            </a:extLst>
          </p:cNvPr>
          <p:cNvCxnSpPr>
            <a:cxnSpLocks/>
          </p:cNvCxnSpPr>
          <p:nvPr/>
        </p:nvCxnSpPr>
        <p:spPr>
          <a:xfrm flipH="1">
            <a:off x="661499" y="2220686"/>
            <a:ext cx="604593" cy="26039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FCC88C27-5237-C82F-5480-834EA6503555}"/>
              </a:ext>
            </a:extLst>
          </p:cNvPr>
          <p:cNvSpPr/>
          <p:nvPr/>
        </p:nvSpPr>
        <p:spPr>
          <a:xfrm>
            <a:off x="440060" y="1721402"/>
            <a:ext cx="2127293" cy="49928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RIGHT CLICK ON THE WELL LOG LAYOUT AND CLICK ON THIS OPTION TO CREATE A NEW ZONATION</a:t>
            </a:r>
          </a:p>
        </p:txBody>
      </p:sp>
      <p:cxnSp>
        <p:nvCxnSpPr>
          <p:cNvPr id="23" name="Straight Arrow Connector 22">
            <a:extLst>
              <a:ext uri="{FF2B5EF4-FFF2-40B4-BE49-F238E27FC236}">
                <a16:creationId xmlns:a16="http://schemas.microsoft.com/office/drawing/2014/main" id="{DAF99413-CA6C-80BB-A36C-DC0A97BF5C2C}"/>
              </a:ext>
            </a:extLst>
          </p:cNvPr>
          <p:cNvCxnSpPr>
            <a:cxnSpLocks/>
          </p:cNvCxnSpPr>
          <p:nvPr/>
        </p:nvCxnSpPr>
        <p:spPr>
          <a:xfrm>
            <a:off x="3946101" y="2373229"/>
            <a:ext cx="3452226" cy="24041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74B1B363-3B79-6EE3-BA66-C1824E2901AC}"/>
              </a:ext>
            </a:extLst>
          </p:cNvPr>
          <p:cNvSpPr/>
          <p:nvPr/>
        </p:nvSpPr>
        <p:spPr>
          <a:xfrm>
            <a:off x="2786385" y="1642986"/>
            <a:ext cx="2127293" cy="73024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USE THE CUSOR TO SELECT AND HIGHLIGHT NEW ZONES BASED ON FLUID FILL AND TOP AND BOTTOM SHALE. CLICK ON NEW ZONE AFTER HIGHLIGHTING EACH ZONE </a:t>
            </a:r>
          </a:p>
        </p:txBody>
      </p:sp>
      <p:cxnSp>
        <p:nvCxnSpPr>
          <p:cNvPr id="31" name="Straight Arrow Connector 30">
            <a:extLst>
              <a:ext uri="{FF2B5EF4-FFF2-40B4-BE49-F238E27FC236}">
                <a16:creationId xmlns:a16="http://schemas.microsoft.com/office/drawing/2014/main" id="{9787FB5D-425E-A832-3809-702EB53F30BD}"/>
              </a:ext>
            </a:extLst>
          </p:cNvPr>
          <p:cNvCxnSpPr>
            <a:cxnSpLocks/>
          </p:cNvCxnSpPr>
          <p:nvPr/>
        </p:nvCxnSpPr>
        <p:spPr>
          <a:xfrm>
            <a:off x="3637767" y="2373229"/>
            <a:ext cx="156749" cy="13430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BFC6561-315B-5359-9137-6CA19EE1F3F9}"/>
              </a:ext>
            </a:extLst>
          </p:cNvPr>
          <p:cNvCxnSpPr>
            <a:cxnSpLocks/>
          </p:cNvCxnSpPr>
          <p:nvPr/>
        </p:nvCxnSpPr>
        <p:spPr>
          <a:xfrm flipH="1">
            <a:off x="5373934" y="1911927"/>
            <a:ext cx="777484" cy="21664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E7DEEFEC-A874-0590-95E8-2D85CCEA57D9}"/>
              </a:ext>
            </a:extLst>
          </p:cNvPr>
          <p:cNvSpPr/>
          <p:nvPr/>
        </p:nvSpPr>
        <p:spPr>
          <a:xfrm>
            <a:off x="5373934" y="1535410"/>
            <a:ext cx="1913559" cy="37651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THIS ICON TO EDIT THE ZONE NAME AND COLOUR</a:t>
            </a:r>
          </a:p>
        </p:txBody>
      </p:sp>
      <p:cxnSp>
        <p:nvCxnSpPr>
          <p:cNvPr id="39" name="Straight Arrow Connector 38">
            <a:extLst>
              <a:ext uri="{FF2B5EF4-FFF2-40B4-BE49-F238E27FC236}">
                <a16:creationId xmlns:a16="http://schemas.microsoft.com/office/drawing/2014/main" id="{E668A103-9838-CED8-3C8C-64C3F0B42FC1}"/>
              </a:ext>
            </a:extLst>
          </p:cNvPr>
          <p:cNvCxnSpPr>
            <a:cxnSpLocks/>
            <a:endCxn id="38" idx="3"/>
          </p:cNvCxnSpPr>
          <p:nvPr/>
        </p:nvCxnSpPr>
        <p:spPr>
          <a:xfrm flipH="1">
            <a:off x="7287493" y="1721402"/>
            <a:ext cx="1136201" cy="2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219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2BE94-325C-6382-9D87-57467B55A067}"/>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DFA3923A-D0DB-4743-CAEE-EFF21D3B9F8C}"/>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b="1" dirty="0">
                <a:solidFill>
                  <a:schemeClr val="accent6">
                    <a:lumMod val="75000"/>
                  </a:schemeClr>
                </a:solidFill>
                <a:cs typeface="Poppins" panose="00000500000000000000" pitchFamily="2" charset="0"/>
              </a:rPr>
              <a:t>NEW ZONATION (2)</a:t>
            </a:r>
          </a:p>
        </p:txBody>
      </p:sp>
      <p:pic>
        <p:nvPicPr>
          <p:cNvPr id="5" name="Picture 4">
            <a:extLst>
              <a:ext uri="{FF2B5EF4-FFF2-40B4-BE49-F238E27FC236}">
                <a16:creationId xmlns:a16="http://schemas.microsoft.com/office/drawing/2014/main" id="{8F411472-F161-004C-8950-05D40A780169}"/>
              </a:ext>
            </a:extLst>
          </p:cNvPr>
          <p:cNvPicPr>
            <a:picLocks noChangeAspect="1"/>
          </p:cNvPicPr>
          <p:nvPr/>
        </p:nvPicPr>
        <p:blipFill>
          <a:blip r:embed="rId2">
            <a:extLst>
              <a:ext uri="{28A0092B-C50C-407E-A947-70E740481C1C}">
                <a14:useLocalDpi xmlns:a14="http://schemas.microsoft.com/office/drawing/2010/main" val="0"/>
              </a:ext>
            </a:extLst>
          </a:blip>
          <a:srcRect b="42640"/>
          <a:stretch>
            <a:fillRect/>
          </a:stretch>
        </p:blipFill>
        <p:spPr>
          <a:xfrm>
            <a:off x="6464369" y="1238459"/>
            <a:ext cx="5231610" cy="2222147"/>
          </a:xfrm>
          <a:prstGeom prst="rect">
            <a:avLst/>
          </a:prstGeom>
        </p:spPr>
      </p:pic>
      <p:pic>
        <p:nvPicPr>
          <p:cNvPr id="9" name="Picture 8">
            <a:extLst>
              <a:ext uri="{FF2B5EF4-FFF2-40B4-BE49-F238E27FC236}">
                <a16:creationId xmlns:a16="http://schemas.microsoft.com/office/drawing/2014/main" id="{39D7DC28-6219-F194-6A98-022436810690}"/>
              </a:ext>
            </a:extLst>
          </p:cNvPr>
          <p:cNvPicPr>
            <a:picLocks noChangeAspect="1"/>
          </p:cNvPicPr>
          <p:nvPr/>
        </p:nvPicPr>
        <p:blipFill>
          <a:blip r:embed="rId3">
            <a:extLst>
              <a:ext uri="{28A0092B-C50C-407E-A947-70E740481C1C}">
                <a14:useLocalDpi xmlns:a14="http://schemas.microsoft.com/office/drawing/2010/main" val="0"/>
              </a:ext>
            </a:extLst>
          </a:blip>
          <a:srcRect r="38969"/>
          <a:stretch>
            <a:fillRect/>
          </a:stretch>
        </p:blipFill>
        <p:spPr>
          <a:xfrm>
            <a:off x="4836683" y="3909826"/>
            <a:ext cx="2372374" cy="2363309"/>
          </a:xfrm>
          <a:prstGeom prst="rect">
            <a:avLst/>
          </a:prstGeom>
        </p:spPr>
      </p:pic>
      <p:pic>
        <p:nvPicPr>
          <p:cNvPr id="12" name="Picture 11">
            <a:extLst>
              <a:ext uri="{FF2B5EF4-FFF2-40B4-BE49-F238E27FC236}">
                <a16:creationId xmlns:a16="http://schemas.microsoft.com/office/drawing/2014/main" id="{B3B8BDBD-3F02-9ACB-5C2E-81A40423F7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7516" y="3685402"/>
            <a:ext cx="2332811" cy="2812156"/>
          </a:xfrm>
          <a:prstGeom prst="rect">
            <a:avLst/>
          </a:prstGeom>
        </p:spPr>
      </p:pic>
      <p:grpSp>
        <p:nvGrpSpPr>
          <p:cNvPr id="25" name="Group 24">
            <a:extLst>
              <a:ext uri="{FF2B5EF4-FFF2-40B4-BE49-F238E27FC236}">
                <a16:creationId xmlns:a16="http://schemas.microsoft.com/office/drawing/2014/main" id="{B09D77FD-F185-3790-6EE9-C5B50F7B93C7}"/>
              </a:ext>
            </a:extLst>
          </p:cNvPr>
          <p:cNvGrpSpPr/>
          <p:nvPr/>
        </p:nvGrpSpPr>
        <p:grpSpPr>
          <a:xfrm>
            <a:off x="50242" y="1046202"/>
            <a:ext cx="6315389" cy="3567640"/>
            <a:chOff x="1125415" y="1033090"/>
            <a:chExt cx="6315389" cy="3567640"/>
          </a:xfrm>
        </p:grpSpPr>
        <p:pic>
          <p:nvPicPr>
            <p:cNvPr id="3" name="Picture 2" descr="A screenshot of a computer">
              <a:extLst>
                <a:ext uri="{FF2B5EF4-FFF2-40B4-BE49-F238E27FC236}">
                  <a16:creationId xmlns:a16="http://schemas.microsoft.com/office/drawing/2014/main" id="{2DEC9350-0915-A142-BFB1-CFA726027B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0908" y="2601490"/>
              <a:ext cx="2787726" cy="1999240"/>
            </a:xfrm>
            <a:prstGeom prst="rect">
              <a:avLst/>
            </a:prstGeom>
          </p:spPr>
        </p:pic>
        <p:pic>
          <p:nvPicPr>
            <p:cNvPr id="14" name="Picture 13">
              <a:extLst>
                <a:ext uri="{FF2B5EF4-FFF2-40B4-BE49-F238E27FC236}">
                  <a16:creationId xmlns:a16="http://schemas.microsoft.com/office/drawing/2014/main" id="{F55CA7DD-65D3-0717-5CEF-020797A841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7711" y="1724871"/>
              <a:ext cx="6223093" cy="735779"/>
            </a:xfrm>
            <a:prstGeom prst="rect">
              <a:avLst/>
            </a:prstGeom>
          </p:spPr>
        </p:pic>
        <p:cxnSp>
          <p:nvCxnSpPr>
            <p:cNvPr id="15" name="Straight Arrow Connector 14">
              <a:extLst>
                <a:ext uri="{FF2B5EF4-FFF2-40B4-BE49-F238E27FC236}">
                  <a16:creationId xmlns:a16="http://schemas.microsoft.com/office/drawing/2014/main" id="{09DCC61A-9EE8-1BA1-26DA-A62ADC51ECC4}"/>
                </a:ext>
              </a:extLst>
            </p:cNvPr>
            <p:cNvCxnSpPr>
              <a:cxnSpLocks/>
            </p:cNvCxnSpPr>
            <p:nvPr/>
          </p:nvCxnSpPr>
          <p:spPr>
            <a:xfrm>
              <a:off x="2883877" y="1532374"/>
              <a:ext cx="437103" cy="517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89C9AB2-0A0B-EDEE-BE59-D62D711710D8}"/>
                </a:ext>
              </a:extLst>
            </p:cNvPr>
            <p:cNvCxnSpPr>
              <a:cxnSpLocks/>
            </p:cNvCxnSpPr>
            <p:nvPr/>
          </p:nvCxnSpPr>
          <p:spPr>
            <a:xfrm>
              <a:off x="3102428" y="1532374"/>
              <a:ext cx="2417107" cy="291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4044C0D8-7648-7E95-8A5A-21E710DB312A}"/>
                </a:ext>
              </a:extLst>
            </p:cNvPr>
            <p:cNvSpPr/>
            <p:nvPr/>
          </p:nvSpPr>
          <p:spPr>
            <a:xfrm>
              <a:off x="1453310" y="1033090"/>
              <a:ext cx="2127293" cy="49928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MULTI WELL LAYOUT AND CLICK ON SAVE THE ZONATION TO SAVE THE NEW ZONATION JUST CREATED</a:t>
              </a:r>
            </a:p>
          </p:txBody>
        </p:sp>
        <p:cxnSp>
          <p:nvCxnSpPr>
            <p:cNvPr id="21" name="Straight Arrow Connector 20">
              <a:extLst>
                <a:ext uri="{FF2B5EF4-FFF2-40B4-BE49-F238E27FC236}">
                  <a16:creationId xmlns:a16="http://schemas.microsoft.com/office/drawing/2014/main" id="{F7CFF96D-CFDC-D0D2-2FFE-0DBACBDA2912}"/>
                </a:ext>
              </a:extLst>
            </p:cNvPr>
            <p:cNvCxnSpPr>
              <a:cxnSpLocks/>
            </p:cNvCxnSpPr>
            <p:nvPr/>
          </p:nvCxnSpPr>
          <p:spPr>
            <a:xfrm>
              <a:off x="2391508" y="3601111"/>
              <a:ext cx="981575" cy="517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91EDCA16-8ACC-C6EC-0507-07C502CAD2AD}"/>
                </a:ext>
              </a:extLst>
            </p:cNvPr>
            <p:cNvSpPr/>
            <p:nvPr/>
          </p:nvSpPr>
          <p:spPr>
            <a:xfrm>
              <a:off x="1125415" y="3180303"/>
              <a:ext cx="1512278" cy="42080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INPUT A NAME FOR THE ZONATION AND CLICK OKAY</a:t>
              </a:r>
            </a:p>
          </p:txBody>
        </p:sp>
      </p:grpSp>
      <p:sp>
        <p:nvSpPr>
          <p:cNvPr id="27" name="Arrow: Curved Down 26">
            <a:extLst>
              <a:ext uri="{FF2B5EF4-FFF2-40B4-BE49-F238E27FC236}">
                <a16:creationId xmlns:a16="http://schemas.microsoft.com/office/drawing/2014/main" id="{3DA3302C-879E-D83F-CF39-0AA82858C110}"/>
              </a:ext>
            </a:extLst>
          </p:cNvPr>
          <p:cNvSpPr/>
          <p:nvPr/>
        </p:nvSpPr>
        <p:spPr>
          <a:xfrm>
            <a:off x="7855929" y="2403205"/>
            <a:ext cx="1264524" cy="279258"/>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8" name="Straight Arrow Connector 27">
            <a:extLst>
              <a:ext uri="{FF2B5EF4-FFF2-40B4-BE49-F238E27FC236}">
                <a16:creationId xmlns:a16="http://schemas.microsoft.com/office/drawing/2014/main" id="{8F8C3A89-97EA-632F-4820-4418A6D60434}"/>
              </a:ext>
            </a:extLst>
          </p:cNvPr>
          <p:cNvCxnSpPr>
            <a:cxnSpLocks/>
          </p:cNvCxnSpPr>
          <p:nvPr/>
        </p:nvCxnSpPr>
        <p:spPr>
          <a:xfrm>
            <a:off x="7437446" y="1095324"/>
            <a:ext cx="575232" cy="13835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0F9CB051-6125-742D-60E6-D6E784155FE7}"/>
              </a:ext>
            </a:extLst>
          </p:cNvPr>
          <p:cNvSpPr/>
          <p:nvPr/>
        </p:nvSpPr>
        <p:spPr>
          <a:xfrm>
            <a:off x="6591504" y="387477"/>
            <a:ext cx="1602081" cy="70784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TO QC THE NEW ZONATION CREATED, DRAG AND DROP THE NEW ZONATION FROM THE PROJECT BROWSER TO DATA EDITOR</a:t>
            </a:r>
          </a:p>
        </p:txBody>
      </p:sp>
      <p:cxnSp>
        <p:nvCxnSpPr>
          <p:cNvPr id="31" name="Straight Arrow Connector 30">
            <a:extLst>
              <a:ext uri="{FF2B5EF4-FFF2-40B4-BE49-F238E27FC236}">
                <a16:creationId xmlns:a16="http://schemas.microsoft.com/office/drawing/2014/main" id="{32F770B0-24A4-A777-FD85-7CE97FC9FDA9}"/>
              </a:ext>
            </a:extLst>
          </p:cNvPr>
          <p:cNvCxnSpPr>
            <a:cxnSpLocks/>
          </p:cNvCxnSpPr>
          <p:nvPr/>
        </p:nvCxnSpPr>
        <p:spPr>
          <a:xfrm flipH="1">
            <a:off x="6648846" y="4087906"/>
            <a:ext cx="909695" cy="1119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338406DB-C548-46F4-7D22-F365B6E84D33}"/>
              </a:ext>
            </a:extLst>
          </p:cNvPr>
          <p:cNvSpPr/>
          <p:nvPr/>
        </p:nvSpPr>
        <p:spPr>
          <a:xfrm>
            <a:off x="7491963" y="3550324"/>
            <a:ext cx="1513162" cy="53758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AND RIGHT CLICK ON THE ZONATIONS AND A ROW BETWEEN ALL ZONES</a:t>
            </a:r>
          </a:p>
        </p:txBody>
      </p:sp>
      <p:cxnSp>
        <p:nvCxnSpPr>
          <p:cNvPr id="35" name="Straight Arrow Connector 34">
            <a:extLst>
              <a:ext uri="{FF2B5EF4-FFF2-40B4-BE49-F238E27FC236}">
                <a16:creationId xmlns:a16="http://schemas.microsoft.com/office/drawing/2014/main" id="{D882AE7C-4C75-9925-2C70-748EBD45F788}"/>
              </a:ext>
            </a:extLst>
          </p:cNvPr>
          <p:cNvCxnSpPr>
            <a:cxnSpLocks/>
          </p:cNvCxnSpPr>
          <p:nvPr/>
        </p:nvCxnSpPr>
        <p:spPr>
          <a:xfrm>
            <a:off x="8997673" y="5476620"/>
            <a:ext cx="843012" cy="4547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32F7A0D7-0F9B-8E5D-F0D9-D8F7C6BC4033}"/>
              </a:ext>
            </a:extLst>
          </p:cNvPr>
          <p:cNvSpPr/>
          <p:nvPr/>
        </p:nvSpPr>
        <p:spPr>
          <a:xfrm>
            <a:off x="7484511" y="4938888"/>
            <a:ext cx="1513162" cy="99248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MD COLUMN, INPUT THE DEPTH VALUE FOR NEXT ROW ON EACH ROWS IN BETWEEN ZONES CREATED. SAVE THE MODIFIED VARIABLES AFTER THIS STEP</a:t>
            </a:r>
          </a:p>
        </p:txBody>
      </p:sp>
    </p:spTree>
    <p:extLst>
      <p:ext uri="{BB962C8B-B14F-4D97-AF65-F5344CB8AC3E}">
        <p14:creationId xmlns:p14="http://schemas.microsoft.com/office/powerpoint/2010/main" val="2366035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3C250-D53E-5EA3-08CA-A70DF85E7D48}"/>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830A0BF0-5F5F-79CE-D1DF-1F638EAC3EB4}"/>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V</a:t>
            </a:r>
            <a:r>
              <a:rPr lang="en-GB" sz="2800" b="1" dirty="0">
                <a:solidFill>
                  <a:schemeClr val="accent6">
                    <a:lumMod val="75000"/>
                  </a:schemeClr>
                </a:solidFill>
                <a:cs typeface="Poppins" panose="00000500000000000000" pitchFamily="2" charset="0"/>
              </a:rPr>
              <a:t>SHALE ESTIMATION</a:t>
            </a:r>
          </a:p>
        </p:txBody>
      </p:sp>
      <p:pic>
        <p:nvPicPr>
          <p:cNvPr id="9" name="Picture 8" descr="A screenshot of a computer">
            <a:extLst>
              <a:ext uri="{FF2B5EF4-FFF2-40B4-BE49-F238E27FC236}">
                <a16:creationId xmlns:a16="http://schemas.microsoft.com/office/drawing/2014/main" id="{4F0D1280-14AE-66B9-7B2D-B2E01AE84480}"/>
              </a:ext>
            </a:extLst>
          </p:cNvPr>
          <p:cNvPicPr>
            <a:picLocks noChangeAspect="1"/>
          </p:cNvPicPr>
          <p:nvPr/>
        </p:nvPicPr>
        <p:blipFill>
          <a:blip r:embed="rId2">
            <a:extLst>
              <a:ext uri="{28A0092B-C50C-407E-A947-70E740481C1C}">
                <a14:useLocalDpi xmlns:a14="http://schemas.microsoft.com/office/drawing/2010/main" val="0"/>
              </a:ext>
            </a:extLst>
          </a:blip>
          <a:srcRect r="24636"/>
          <a:stretch>
            <a:fillRect/>
          </a:stretch>
        </p:blipFill>
        <p:spPr>
          <a:xfrm>
            <a:off x="172738" y="4393325"/>
            <a:ext cx="5489696" cy="1985738"/>
          </a:xfrm>
          <a:prstGeom prst="rect">
            <a:avLst/>
          </a:prstGeom>
        </p:spPr>
      </p:pic>
      <p:grpSp>
        <p:nvGrpSpPr>
          <p:cNvPr id="31" name="Group 30">
            <a:extLst>
              <a:ext uri="{FF2B5EF4-FFF2-40B4-BE49-F238E27FC236}">
                <a16:creationId xmlns:a16="http://schemas.microsoft.com/office/drawing/2014/main" id="{A7240D0A-343B-6443-A39B-870BDB38A4DA}"/>
              </a:ext>
            </a:extLst>
          </p:cNvPr>
          <p:cNvGrpSpPr/>
          <p:nvPr/>
        </p:nvGrpSpPr>
        <p:grpSpPr>
          <a:xfrm>
            <a:off x="254736" y="846394"/>
            <a:ext cx="5662268" cy="3115549"/>
            <a:chOff x="215723" y="1196100"/>
            <a:chExt cx="5662268" cy="3115549"/>
          </a:xfrm>
        </p:grpSpPr>
        <p:pic>
          <p:nvPicPr>
            <p:cNvPr id="5" name="Picture 4" descr="A screenshot of a computer&#10;&#10;AI-generated content may be incorrect.">
              <a:extLst>
                <a:ext uri="{FF2B5EF4-FFF2-40B4-BE49-F238E27FC236}">
                  <a16:creationId xmlns:a16="http://schemas.microsoft.com/office/drawing/2014/main" id="{48EDBF4D-800E-8473-53DE-03A819271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723" y="2175124"/>
              <a:ext cx="5662268" cy="2136525"/>
            </a:xfrm>
            <a:prstGeom prst="rect">
              <a:avLst/>
            </a:prstGeom>
          </p:spPr>
        </p:pic>
        <p:cxnSp>
          <p:nvCxnSpPr>
            <p:cNvPr id="10" name="Straight Arrow Connector 9">
              <a:extLst>
                <a:ext uri="{FF2B5EF4-FFF2-40B4-BE49-F238E27FC236}">
                  <a16:creationId xmlns:a16="http://schemas.microsoft.com/office/drawing/2014/main" id="{65BF290C-AF6E-0FDA-FB46-1F5685310C37}"/>
                </a:ext>
              </a:extLst>
            </p:cNvPr>
            <p:cNvCxnSpPr>
              <a:cxnSpLocks/>
              <a:stCxn id="17" idx="2"/>
            </p:cNvCxnSpPr>
            <p:nvPr/>
          </p:nvCxnSpPr>
          <p:spPr>
            <a:xfrm>
              <a:off x="1552470" y="1733682"/>
              <a:ext cx="406959" cy="487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7DA61E4-ACDB-011C-FBD5-BBB7BA9C5BD6}"/>
                </a:ext>
              </a:extLst>
            </p:cNvPr>
            <p:cNvCxnSpPr>
              <a:cxnSpLocks/>
            </p:cNvCxnSpPr>
            <p:nvPr/>
          </p:nvCxnSpPr>
          <p:spPr>
            <a:xfrm>
              <a:off x="1879042" y="1743742"/>
              <a:ext cx="1251020" cy="13511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C9607E95-398A-5CE1-B07B-048401306B67}"/>
                </a:ext>
              </a:extLst>
            </p:cNvPr>
            <p:cNvSpPr/>
            <p:nvPr/>
          </p:nvSpPr>
          <p:spPr>
            <a:xfrm>
              <a:off x="795889" y="1196100"/>
              <a:ext cx="1513162" cy="53758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PETROPHYSICS, SELECT SHALE VOLUME AND NAVIGATE TO GAMMA RAY </a:t>
              </a:r>
            </a:p>
          </p:txBody>
        </p:sp>
      </p:grpSp>
      <p:grpSp>
        <p:nvGrpSpPr>
          <p:cNvPr id="32" name="Group 31">
            <a:extLst>
              <a:ext uri="{FF2B5EF4-FFF2-40B4-BE49-F238E27FC236}">
                <a16:creationId xmlns:a16="http://schemas.microsoft.com/office/drawing/2014/main" id="{69D7C0C1-1420-0E1A-42E6-78CD3E129784}"/>
              </a:ext>
            </a:extLst>
          </p:cNvPr>
          <p:cNvGrpSpPr/>
          <p:nvPr/>
        </p:nvGrpSpPr>
        <p:grpSpPr>
          <a:xfrm>
            <a:off x="6162622" y="706780"/>
            <a:ext cx="4489969" cy="2558385"/>
            <a:chOff x="6634572" y="536507"/>
            <a:chExt cx="4489969" cy="2558385"/>
          </a:xfrm>
        </p:grpSpPr>
        <p:pic>
          <p:nvPicPr>
            <p:cNvPr id="7" name="Picture 6" descr="A screenshot of a computer&#10;&#10;AI-generated content may be incorrect.">
              <a:extLst>
                <a:ext uri="{FF2B5EF4-FFF2-40B4-BE49-F238E27FC236}">
                  <a16:creationId xmlns:a16="http://schemas.microsoft.com/office/drawing/2014/main" id="{BA484FBA-94E9-79B0-7117-04026A0E8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4572" y="536507"/>
              <a:ext cx="4489969" cy="1698907"/>
            </a:xfrm>
            <a:prstGeom prst="rect">
              <a:avLst/>
            </a:prstGeom>
          </p:spPr>
        </p:pic>
        <p:cxnSp>
          <p:nvCxnSpPr>
            <p:cNvPr id="19" name="Straight Arrow Connector 18">
              <a:extLst>
                <a:ext uri="{FF2B5EF4-FFF2-40B4-BE49-F238E27FC236}">
                  <a16:creationId xmlns:a16="http://schemas.microsoft.com/office/drawing/2014/main" id="{DAA1BBF7-381A-DA91-5B03-43C11416A071}"/>
                </a:ext>
              </a:extLst>
            </p:cNvPr>
            <p:cNvCxnSpPr>
              <a:cxnSpLocks/>
            </p:cNvCxnSpPr>
            <p:nvPr/>
          </p:nvCxnSpPr>
          <p:spPr>
            <a:xfrm flipV="1">
              <a:off x="9183119" y="1196100"/>
              <a:ext cx="146695" cy="13123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85AFCF6A-13E4-9F65-127C-685928D78F2A}"/>
                </a:ext>
              </a:extLst>
            </p:cNvPr>
            <p:cNvSpPr/>
            <p:nvPr/>
          </p:nvSpPr>
          <p:spPr>
            <a:xfrm>
              <a:off x="8426538" y="2508488"/>
              <a:ext cx="1827456" cy="5864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SELECT GAMMA RAY FROM THE INPUT WINDOW AND CLICK ON GAMMA RAY TO INPUT THE LOG AND CLICK ON CREATE</a:t>
              </a:r>
            </a:p>
          </p:txBody>
        </p:sp>
        <p:cxnSp>
          <p:nvCxnSpPr>
            <p:cNvPr id="27" name="Straight Arrow Connector 26">
              <a:extLst>
                <a:ext uri="{FF2B5EF4-FFF2-40B4-BE49-F238E27FC236}">
                  <a16:creationId xmlns:a16="http://schemas.microsoft.com/office/drawing/2014/main" id="{8A575CFF-D209-C890-E044-1241C58E0A1E}"/>
                </a:ext>
              </a:extLst>
            </p:cNvPr>
            <p:cNvCxnSpPr>
              <a:cxnSpLocks/>
            </p:cNvCxnSpPr>
            <p:nvPr/>
          </p:nvCxnSpPr>
          <p:spPr>
            <a:xfrm flipV="1">
              <a:off x="9706332" y="2127080"/>
              <a:ext cx="606626" cy="3814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0" name="Arrow: Curved Down 29">
            <a:extLst>
              <a:ext uri="{FF2B5EF4-FFF2-40B4-BE49-F238E27FC236}">
                <a16:creationId xmlns:a16="http://schemas.microsoft.com/office/drawing/2014/main" id="{0228AEEF-1B93-FF71-6C9D-76BF683029EB}"/>
              </a:ext>
            </a:extLst>
          </p:cNvPr>
          <p:cNvSpPr/>
          <p:nvPr/>
        </p:nvSpPr>
        <p:spPr>
          <a:xfrm>
            <a:off x="1411122" y="5324335"/>
            <a:ext cx="2647446" cy="279258"/>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34" name="Picture 33" descr="A screenshot of a computer">
            <a:extLst>
              <a:ext uri="{FF2B5EF4-FFF2-40B4-BE49-F238E27FC236}">
                <a16:creationId xmlns:a16="http://schemas.microsoft.com/office/drawing/2014/main" id="{944BA393-77A8-DD03-F8FD-C5102C0BC103}"/>
              </a:ext>
            </a:extLst>
          </p:cNvPr>
          <p:cNvPicPr>
            <a:picLocks noChangeAspect="1"/>
          </p:cNvPicPr>
          <p:nvPr/>
        </p:nvPicPr>
        <p:blipFill>
          <a:blip r:embed="rId5">
            <a:extLst>
              <a:ext uri="{28A0092B-C50C-407E-A947-70E740481C1C}">
                <a14:useLocalDpi xmlns:a14="http://schemas.microsoft.com/office/drawing/2010/main" val="0"/>
              </a:ext>
            </a:extLst>
          </a:blip>
          <a:srcRect l="28898" t="12401" r="18449" b="32002"/>
          <a:stretch>
            <a:fillRect/>
          </a:stretch>
        </p:blipFill>
        <p:spPr>
          <a:xfrm>
            <a:off x="7045041" y="4496498"/>
            <a:ext cx="4724803" cy="1990258"/>
          </a:xfrm>
          <a:prstGeom prst="rect">
            <a:avLst/>
          </a:prstGeom>
        </p:spPr>
      </p:pic>
      <p:cxnSp>
        <p:nvCxnSpPr>
          <p:cNvPr id="35" name="Straight Arrow Connector 34">
            <a:extLst>
              <a:ext uri="{FF2B5EF4-FFF2-40B4-BE49-F238E27FC236}">
                <a16:creationId xmlns:a16="http://schemas.microsoft.com/office/drawing/2014/main" id="{EECE902E-707E-3055-CC09-62C7A6458C3A}"/>
              </a:ext>
            </a:extLst>
          </p:cNvPr>
          <p:cNvCxnSpPr>
            <a:cxnSpLocks/>
          </p:cNvCxnSpPr>
          <p:nvPr/>
        </p:nvCxnSpPr>
        <p:spPr>
          <a:xfrm flipH="1">
            <a:off x="3090379" y="4298169"/>
            <a:ext cx="2953463" cy="1026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48138015-F805-CECB-8591-669C394F2471}"/>
              </a:ext>
            </a:extLst>
          </p:cNvPr>
          <p:cNvSpPr/>
          <p:nvPr/>
        </p:nvSpPr>
        <p:spPr>
          <a:xfrm>
            <a:off x="6051930" y="4063457"/>
            <a:ext cx="1289761" cy="32986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DRAG AND DROP LQC</a:t>
            </a:r>
          </a:p>
        </p:txBody>
      </p:sp>
      <p:sp>
        <p:nvSpPr>
          <p:cNvPr id="40" name="Arrow: Right 39">
            <a:extLst>
              <a:ext uri="{FF2B5EF4-FFF2-40B4-BE49-F238E27FC236}">
                <a16:creationId xmlns:a16="http://schemas.microsoft.com/office/drawing/2014/main" id="{2FD785F8-C17F-497B-1A43-47FEE3751A3D}"/>
              </a:ext>
            </a:extLst>
          </p:cNvPr>
          <p:cNvSpPr/>
          <p:nvPr/>
        </p:nvSpPr>
        <p:spPr>
          <a:xfrm>
            <a:off x="5737825" y="4976591"/>
            <a:ext cx="1036067" cy="4517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5425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6668D-79FB-543D-714E-C2B159E99ACD}"/>
            </a:ext>
          </a:extLst>
        </p:cNvPr>
        <p:cNvGrpSpPr/>
        <p:nvPr/>
      </p:nvGrpSpPr>
      <p:grpSpPr>
        <a:xfrm>
          <a:off x="0" y="0"/>
          <a:ext cx="0" cy="0"/>
          <a:chOff x="0" y="0"/>
          <a:chExt cx="0" cy="0"/>
        </a:xfrm>
      </p:grpSpPr>
      <p:pic>
        <p:nvPicPr>
          <p:cNvPr id="7" name="Picture 6" descr="A screenshot of a computer">
            <a:extLst>
              <a:ext uri="{FF2B5EF4-FFF2-40B4-BE49-F238E27FC236}">
                <a16:creationId xmlns:a16="http://schemas.microsoft.com/office/drawing/2014/main" id="{5F8C33E3-300C-052A-559F-8D1A414E288F}"/>
              </a:ext>
            </a:extLst>
          </p:cNvPr>
          <p:cNvPicPr>
            <a:picLocks noChangeAspect="1"/>
          </p:cNvPicPr>
          <p:nvPr/>
        </p:nvPicPr>
        <p:blipFill>
          <a:blip r:embed="rId2">
            <a:extLst>
              <a:ext uri="{28A0092B-C50C-407E-A947-70E740481C1C}">
                <a14:useLocalDpi xmlns:a14="http://schemas.microsoft.com/office/drawing/2010/main" val="0"/>
              </a:ext>
            </a:extLst>
          </a:blip>
          <a:srcRect t="758" r="32506" b="20268"/>
          <a:stretch>
            <a:fillRect/>
          </a:stretch>
        </p:blipFill>
        <p:spPr>
          <a:xfrm>
            <a:off x="6846409" y="1220875"/>
            <a:ext cx="5265126" cy="199962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5AC3F3B-AB25-035C-0DE1-1AC6E2B2E379}"/>
              </a:ext>
            </a:extLst>
          </p:cNvPr>
          <p:cNvPicPr>
            <a:picLocks noChangeAspect="1"/>
          </p:cNvPicPr>
          <p:nvPr/>
        </p:nvPicPr>
        <p:blipFill>
          <a:blip r:embed="rId3">
            <a:extLst>
              <a:ext uri="{28A0092B-C50C-407E-A947-70E740481C1C}">
                <a14:useLocalDpi xmlns:a14="http://schemas.microsoft.com/office/drawing/2010/main" val="0"/>
              </a:ext>
            </a:extLst>
          </a:blip>
          <a:srcRect l="29509" r="30518"/>
          <a:stretch>
            <a:fillRect/>
          </a:stretch>
        </p:blipFill>
        <p:spPr>
          <a:xfrm>
            <a:off x="228528" y="4242061"/>
            <a:ext cx="1927084" cy="2229071"/>
          </a:xfrm>
          <a:prstGeom prst="rect">
            <a:avLst/>
          </a:prstGeom>
        </p:spPr>
      </p:pic>
      <p:pic>
        <p:nvPicPr>
          <p:cNvPr id="11" name="Picture 10" descr="A screenshot of a computer">
            <a:extLst>
              <a:ext uri="{FF2B5EF4-FFF2-40B4-BE49-F238E27FC236}">
                <a16:creationId xmlns:a16="http://schemas.microsoft.com/office/drawing/2014/main" id="{CE1B2E6C-9A49-90A6-4DED-E19D5ED878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2127" y="4242061"/>
            <a:ext cx="4510598" cy="2502812"/>
          </a:xfrm>
          <a:prstGeom prst="rect">
            <a:avLst/>
          </a:prstGeom>
        </p:spPr>
      </p:pic>
      <p:grpSp>
        <p:nvGrpSpPr>
          <p:cNvPr id="30" name="Group 29">
            <a:extLst>
              <a:ext uri="{FF2B5EF4-FFF2-40B4-BE49-F238E27FC236}">
                <a16:creationId xmlns:a16="http://schemas.microsoft.com/office/drawing/2014/main" id="{37C3452B-A152-DCA3-E765-22BCF44640A5}"/>
              </a:ext>
            </a:extLst>
          </p:cNvPr>
          <p:cNvGrpSpPr/>
          <p:nvPr/>
        </p:nvGrpSpPr>
        <p:grpSpPr>
          <a:xfrm>
            <a:off x="111303" y="783770"/>
            <a:ext cx="6556549" cy="3094892"/>
            <a:chOff x="135653" y="1060101"/>
            <a:chExt cx="6556549" cy="3094892"/>
          </a:xfrm>
        </p:grpSpPr>
        <p:pic>
          <p:nvPicPr>
            <p:cNvPr id="3" name="Picture 2" descr="A screenshot of a computer">
              <a:extLst>
                <a:ext uri="{FF2B5EF4-FFF2-40B4-BE49-F238E27FC236}">
                  <a16:creationId xmlns:a16="http://schemas.microsoft.com/office/drawing/2014/main" id="{27F52059-976F-6BDB-B3CE-721FBA98E622}"/>
                </a:ext>
              </a:extLst>
            </p:cNvPr>
            <p:cNvPicPr>
              <a:picLocks noChangeAspect="1"/>
            </p:cNvPicPr>
            <p:nvPr/>
          </p:nvPicPr>
          <p:blipFill>
            <a:blip r:embed="rId5">
              <a:extLst>
                <a:ext uri="{28A0092B-C50C-407E-A947-70E740481C1C}">
                  <a14:useLocalDpi xmlns:a14="http://schemas.microsoft.com/office/drawing/2010/main" val="0"/>
                </a:ext>
              </a:extLst>
            </a:blip>
            <a:srcRect r="31062" b="31966"/>
            <a:stretch>
              <a:fillRect/>
            </a:stretch>
          </p:blipFill>
          <p:spPr>
            <a:xfrm>
              <a:off x="135653" y="2375678"/>
              <a:ext cx="6556549" cy="1779315"/>
            </a:xfrm>
            <a:prstGeom prst="rect">
              <a:avLst/>
            </a:prstGeom>
          </p:spPr>
        </p:pic>
        <p:cxnSp>
          <p:nvCxnSpPr>
            <p:cNvPr id="12" name="Straight Arrow Connector 11">
              <a:extLst>
                <a:ext uri="{FF2B5EF4-FFF2-40B4-BE49-F238E27FC236}">
                  <a16:creationId xmlns:a16="http://schemas.microsoft.com/office/drawing/2014/main" id="{421A0C81-2EEE-AAAD-0356-5B2BD52797E6}"/>
                </a:ext>
              </a:extLst>
            </p:cNvPr>
            <p:cNvCxnSpPr>
              <a:cxnSpLocks/>
            </p:cNvCxnSpPr>
            <p:nvPr/>
          </p:nvCxnSpPr>
          <p:spPr>
            <a:xfrm flipH="1">
              <a:off x="1290588" y="1721157"/>
              <a:ext cx="397535" cy="9014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A8EC186-57DD-DD3C-082D-3A944696BE77}"/>
                </a:ext>
              </a:extLst>
            </p:cNvPr>
            <p:cNvCxnSpPr>
              <a:cxnSpLocks/>
            </p:cNvCxnSpPr>
            <p:nvPr/>
          </p:nvCxnSpPr>
          <p:spPr>
            <a:xfrm flipH="1">
              <a:off x="1632857" y="1733341"/>
              <a:ext cx="336620" cy="16579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AECDDEBB-0FAA-8148-E4E4-35C121210E17}"/>
                </a:ext>
              </a:extLst>
            </p:cNvPr>
            <p:cNvSpPr/>
            <p:nvPr/>
          </p:nvSpPr>
          <p:spPr>
            <a:xfrm>
              <a:off x="1136381" y="1060101"/>
              <a:ext cx="1513162" cy="66105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THE GLOBAL ZONATION WINDOW, SELECT THE NEWLY CREATED ZONATION AND SELECT ALL THE ZONES</a:t>
              </a:r>
            </a:p>
          </p:txBody>
        </p:sp>
        <p:cxnSp>
          <p:nvCxnSpPr>
            <p:cNvPr id="23" name="Straight Arrow Connector 22">
              <a:extLst>
                <a:ext uri="{FF2B5EF4-FFF2-40B4-BE49-F238E27FC236}">
                  <a16:creationId xmlns:a16="http://schemas.microsoft.com/office/drawing/2014/main" id="{96347B27-BF5C-14EB-F821-FA1404FC9B6E}"/>
                </a:ext>
              </a:extLst>
            </p:cNvPr>
            <p:cNvCxnSpPr>
              <a:cxnSpLocks/>
            </p:cNvCxnSpPr>
            <p:nvPr/>
          </p:nvCxnSpPr>
          <p:spPr>
            <a:xfrm>
              <a:off x="4322325" y="1733341"/>
              <a:ext cx="152892" cy="1790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F997465F-E89C-EC72-768F-3DDE2229BE9A}"/>
                </a:ext>
              </a:extLst>
            </p:cNvPr>
            <p:cNvSpPr/>
            <p:nvPr/>
          </p:nvSpPr>
          <p:spPr>
            <a:xfrm>
              <a:off x="3391126" y="1142623"/>
              <a:ext cx="1151036" cy="59071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THIS ICON TO INSERT THE SELECTED ZONES</a:t>
              </a:r>
            </a:p>
          </p:txBody>
        </p:sp>
      </p:grpSp>
      <p:cxnSp>
        <p:nvCxnSpPr>
          <p:cNvPr id="26" name="Straight Arrow Connector 25">
            <a:extLst>
              <a:ext uri="{FF2B5EF4-FFF2-40B4-BE49-F238E27FC236}">
                <a16:creationId xmlns:a16="http://schemas.microsoft.com/office/drawing/2014/main" id="{474C8290-8F28-75AB-3E30-5F01D1E256BF}"/>
              </a:ext>
            </a:extLst>
          </p:cNvPr>
          <p:cNvCxnSpPr>
            <a:cxnSpLocks/>
          </p:cNvCxnSpPr>
          <p:nvPr/>
        </p:nvCxnSpPr>
        <p:spPr>
          <a:xfrm>
            <a:off x="6727371" y="1060101"/>
            <a:ext cx="5255288" cy="502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DB120165-A354-5C4C-DE9A-0062997357CF}"/>
              </a:ext>
            </a:extLst>
          </p:cNvPr>
          <p:cNvSpPr/>
          <p:nvPr/>
        </p:nvSpPr>
        <p:spPr>
          <a:xfrm>
            <a:off x="5702440" y="783770"/>
            <a:ext cx="1033656" cy="46423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PLAY TO RUN THE ESTIMATION</a:t>
            </a:r>
          </a:p>
        </p:txBody>
      </p:sp>
      <p:cxnSp>
        <p:nvCxnSpPr>
          <p:cNvPr id="31" name="Straight Arrow Connector 30">
            <a:extLst>
              <a:ext uri="{FF2B5EF4-FFF2-40B4-BE49-F238E27FC236}">
                <a16:creationId xmlns:a16="http://schemas.microsoft.com/office/drawing/2014/main" id="{20C53B1B-D2EB-6BD7-3F44-00B697D8DA65}"/>
              </a:ext>
            </a:extLst>
          </p:cNvPr>
          <p:cNvCxnSpPr>
            <a:cxnSpLocks/>
            <a:stCxn id="9" idx="3"/>
            <a:endCxn id="35" idx="2"/>
          </p:cNvCxnSpPr>
          <p:nvPr/>
        </p:nvCxnSpPr>
        <p:spPr>
          <a:xfrm flipV="1">
            <a:off x="2155612" y="4650237"/>
            <a:ext cx="522534" cy="706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F973FB73-8896-10AA-B066-0878523D1F08}"/>
              </a:ext>
            </a:extLst>
          </p:cNvPr>
          <p:cNvSpPr/>
          <p:nvPr/>
        </p:nvSpPr>
        <p:spPr>
          <a:xfrm>
            <a:off x="2307354" y="4186000"/>
            <a:ext cx="741583" cy="46423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RESULT SHOWING VSHALE</a:t>
            </a:r>
          </a:p>
        </p:txBody>
      </p:sp>
      <p:cxnSp>
        <p:nvCxnSpPr>
          <p:cNvPr id="43" name="Straight Arrow Connector 42">
            <a:extLst>
              <a:ext uri="{FF2B5EF4-FFF2-40B4-BE49-F238E27FC236}">
                <a16:creationId xmlns:a16="http://schemas.microsoft.com/office/drawing/2014/main" id="{44895550-6263-6306-F085-23EE5CD1289F}"/>
              </a:ext>
            </a:extLst>
          </p:cNvPr>
          <p:cNvCxnSpPr>
            <a:cxnSpLocks/>
          </p:cNvCxnSpPr>
          <p:nvPr/>
        </p:nvCxnSpPr>
        <p:spPr>
          <a:xfrm flipH="1">
            <a:off x="3134387" y="4650237"/>
            <a:ext cx="2293335" cy="12770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03BC3E8B-CAB0-E9B0-4077-76A180CFA159}"/>
              </a:ext>
            </a:extLst>
          </p:cNvPr>
          <p:cNvSpPr/>
          <p:nvPr/>
        </p:nvSpPr>
        <p:spPr>
          <a:xfrm>
            <a:off x="2241062" y="5764773"/>
            <a:ext cx="893325" cy="46423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GO TO PARAMETERS</a:t>
            </a:r>
          </a:p>
        </p:txBody>
      </p:sp>
      <p:cxnSp>
        <p:nvCxnSpPr>
          <p:cNvPr id="47" name="Straight Arrow Connector 46">
            <a:extLst>
              <a:ext uri="{FF2B5EF4-FFF2-40B4-BE49-F238E27FC236}">
                <a16:creationId xmlns:a16="http://schemas.microsoft.com/office/drawing/2014/main" id="{8AF4AEED-0CFB-ED94-7801-25132CE6EC8D}"/>
              </a:ext>
            </a:extLst>
          </p:cNvPr>
          <p:cNvCxnSpPr>
            <a:cxnSpLocks/>
            <a:endCxn id="51" idx="1"/>
          </p:cNvCxnSpPr>
          <p:nvPr/>
        </p:nvCxnSpPr>
        <p:spPr>
          <a:xfrm flipV="1">
            <a:off x="4966590" y="3494495"/>
            <a:ext cx="1702111" cy="1292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C43A720F-2F5B-B663-6C32-04D0EDE3E9A5}"/>
              </a:ext>
            </a:extLst>
          </p:cNvPr>
          <p:cNvSpPr/>
          <p:nvPr/>
        </p:nvSpPr>
        <p:spPr>
          <a:xfrm>
            <a:off x="6668701" y="2973727"/>
            <a:ext cx="1554969" cy="10415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CLICK ON THIS ICON TO DISPLAY ENDPOITS ON THE GAMMA RAY LOG. THIS WAY THE END POINTS CAN BE MANUALLY DRAGGED AND PLACED AT THE PROPER VALUES ON THE GAMMA RAY LOG</a:t>
            </a:r>
          </a:p>
        </p:txBody>
      </p:sp>
      <p:cxnSp>
        <p:nvCxnSpPr>
          <p:cNvPr id="54" name="Connector: Elbow 53">
            <a:extLst>
              <a:ext uri="{FF2B5EF4-FFF2-40B4-BE49-F238E27FC236}">
                <a16:creationId xmlns:a16="http://schemas.microsoft.com/office/drawing/2014/main" id="{7688E316-CCA2-D3DA-FD63-39064DBCDDD0}"/>
              </a:ext>
            </a:extLst>
          </p:cNvPr>
          <p:cNvCxnSpPr>
            <a:cxnSpLocks/>
            <a:stCxn id="51" idx="3"/>
          </p:cNvCxnSpPr>
          <p:nvPr/>
        </p:nvCxnSpPr>
        <p:spPr>
          <a:xfrm flipH="1">
            <a:off x="7750396" y="3494495"/>
            <a:ext cx="473274" cy="2142630"/>
          </a:xfrm>
          <a:prstGeom prst="bentConnector4">
            <a:avLst>
              <a:gd name="adj1" fmla="val -94796"/>
              <a:gd name="adj2" fmla="val 100950"/>
            </a:avLst>
          </a:prstGeom>
          <a:ln>
            <a:tailEnd type="triangle"/>
          </a:ln>
        </p:spPr>
        <p:style>
          <a:lnRef idx="2">
            <a:schemeClr val="accent1"/>
          </a:lnRef>
          <a:fillRef idx="0">
            <a:schemeClr val="accent1"/>
          </a:fillRef>
          <a:effectRef idx="1">
            <a:schemeClr val="accent1"/>
          </a:effectRef>
          <a:fontRef idx="minor">
            <a:schemeClr val="tx1"/>
          </a:fontRef>
        </p:style>
      </p:cxnSp>
      <p:pic>
        <p:nvPicPr>
          <p:cNvPr id="68" name="Picture 67" descr="A screenshot of a computer">
            <a:extLst>
              <a:ext uri="{FF2B5EF4-FFF2-40B4-BE49-F238E27FC236}">
                <a16:creationId xmlns:a16="http://schemas.microsoft.com/office/drawing/2014/main" id="{1F137563-3582-BA86-899B-7BEFE4A95F77}"/>
              </a:ext>
            </a:extLst>
          </p:cNvPr>
          <p:cNvPicPr>
            <a:picLocks noChangeAspect="1"/>
          </p:cNvPicPr>
          <p:nvPr/>
        </p:nvPicPr>
        <p:blipFill>
          <a:blip r:embed="rId6">
            <a:extLst>
              <a:ext uri="{28A0092B-C50C-407E-A947-70E740481C1C}">
                <a14:useLocalDpi xmlns:a14="http://schemas.microsoft.com/office/drawing/2010/main" val="0"/>
              </a:ext>
            </a:extLst>
          </a:blip>
          <a:srcRect l="18013" r="41624"/>
          <a:stretch>
            <a:fillRect/>
          </a:stretch>
        </p:blipFill>
        <p:spPr>
          <a:xfrm>
            <a:off x="9950938" y="3530790"/>
            <a:ext cx="1837828" cy="3135845"/>
          </a:xfrm>
          <a:prstGeom prst="rect">
            <a:avLst/>
          </a:prstGeom>
        </p:spPr>
      </p:pic>
      <p:sp>
        <p:nvSpPr>
          <p:cNvPr id="69" name="Arrow: Right 68">
            <a:extLst>
              <a:ext uri="{FF2B5EF4-FFF2-40B4-BE49-F238E27FC236}">
                <a16:creationId xmlns:a16="http://schemas.microsoft.com/office/drawing/2014/main" id="{0CC07917-0967-8B9C-31E7-0FCFD89A8AFF}"/>
              </a:ext>
            </a:extLst>
          </p:cNvPr>
          <p:cNvSpPr/>
          <p:nvPr/>
        </p:nvSpPr>
        <p:spPr>
          <a:xfrm>
            <a:off x="8848579" y="4418118"/>
            <a:ext cx="1036067" cy="4517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Title 1">
            <a:extLst>
              <a:ext uri="{FF2B5EF4-FFF2-40B4-BE49-F238E27FC236}">
                <a16:creationId xmlns:a16="http://schemas.microsoft.com/office/drawing/2014/main" id="{6C561C00-1356-1290-E43F-BC639D264235}"/>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V</a:t>
            </a:r>
            <a:r>
              <a:rPr lang="en-GB" sz="2800" b="1" dirty="0">
                <a:solidFill>
                  <a:schemeClr val="accent6">
                    <a:lumMod val="75000"/>
                  </a:schemeClr>
                </a:solidFill>
                <a:cs typeface="Poppins" panose="00000500000000000000" pitchFamily="2" charset="0"/>
              </a:rPr>
              <a:t>SHALE ESTIMATION (2)</a:t>
            </a:r>
          </a:p>
        </p:txBody>
      </p:sp>
    </p:spTree>
    <p:extLst>
      <p:ext uri="{BB962C8B-B14F-4D97-AF65-F5344CB8AC3E}">
        <p14:creationId xmlns:p14="http://schemas.microsoft.com/office/powerpoint/2010/main" val="3661569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A5422-D591-AD7B-9922-F40B71A56F26}"/>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B1864E3F-A469-A764-B15F-88CFFF7E6B37}"/>
              </a:ext>
            </a:extLst>
          </p:cNvPr>
          <p:cNvPicPr>
            <a:picLocks noChangeAspect="1"/>
          </p:cNvPicPr>
          <p:nvPr/>
        </p:nvPicPr>
        <p:blipFill>
          <a:blip r:embed="rId2">
            <a:extLst>
              <a:ext uri="{28A0092B-C50C-407E-A947-70E740481C1C}">
                <a14:useLocalDpi xmlns:a14="http://schemas.microsoft.com/office/drawing/2010/main" val="0"/>
              </a:ext>
            </a:extLst>
          </a:blip>
          <a:srcRect l="-1" r="13505" b="19748"/>
          <a:stretch>
            <a:fillRect/>
          </a:stretch>
        </p:blipFill>
        <p:spPr>
          <a:xfrm>
            <a:off x="45218" y="1869702"/>
            <a:ext cx="5566787" cy="287885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940CAD1-F145-1F58-5DB8-EB717F402F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725" y="342975"/>
            <a:ext cx="4637257" cy="2817574"/>
          </a:xfrm>
          <a:prstGeom prst="rect">
            <a:avLst/>
          </a:prstGeom>
        </p:spPr>
      </p:pic>
      <p:pic>
        <p:nvPicPr>
          <p:cNvPr id="9" name="Picture 8" descr="A screenshot of a computer program">
            <a:extLst>
              <a:ext uri="{FF2B5EF4-FFF2-40B4-BE49-F238E27FC236}">
                <a16:creationId xmlns:a16="http://schemas.microsoft.com/office/drawing/2014/main" id="{E517EA20-A4DA-920F-4E39-1E484A648C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2009" y="3862877"/>
            <a:ext cx="3284505" cy="2160457"/>
          </a:xfrm>
          <a:prstGeom prst="rect">
            <a:avLst/>
          </a:prstGeom>
        </p:spPr>
      </p:pic>
      <p:cxnSp>
        <p:nvCxnSpPr>
          <p:cNvPr id="10" name="Straight Arrow Connector 9">
            <a:extLst>
              <a:ext uri="{FF2B5EF4-FFF2-40B4-BE49-F238E27FC236}">
                <a16:creationId xmlns:a16="http://schemas.microsoft.com/office/drawing/2014/main" id="{99E774DA-076D-5A72-8C2A-C97741F5D43A}"/>
              </a:ext>
            </a:extLst>
          </p:cNvPr>
          <p:cNvCxnSpPr>
            <a:cxnSpLocks/>
            <a:endCxn id="12" idx="2"/>
          </p:cNvCxnSpPr>
          <p:nvPr/>
        </p:nvCxnSpPr>
        <p:spPr>
          <a:xfrm flipV="1">
            <a:off x="3195376" y="1454145"/>
            <a:ext cx="452176" cy="1309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1BE3BBF-66AD-8E19-197F-2A2CC025E19D}"/>
              </a:ext>
            </a:extLst>
          </p:cNvPr>
          <p:cNvSpPr/>
          <p:nvPr/>
        </p:nvSpPr>
        <p:spPr>
          <a:xfrm>
            <a:off x="3118513" y="821099"/>
            <a:ext cx="1058078" cy="6330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MAKE SURE THE ENDPOINT VALUES ARE THE SAME FOR ALL THE ZONES</a:t>
            </a:r>
          </a:p>
        </p:txBody>
      </p:sp>
      <p:cxnSp>
        <p:nvCxnSpPr>
          <p:cNvPr id="15" name="Straight Arrow Connector 14">
            <a:extLst>
              <a:ext uri="{FF2B5EF4-FFF2-40B4-BE49-F238E27FC236}">
                <a16:creationId xmlns:a16="http://schemas.microsoft.com/office/drawing/2014/main" id="{8B1D3D4D-6372-6805-42D0-05FC19AD4DE0}"/>
              </a:ext>
            </a:extLst>
          </p:cNvPr>
          <p:cNvCxnSpPr>
            <a:cxnSpLocks/>
          </p:cNvCxnSpPr>
          <p:nvPr/>
        </p:nvCxnSpPr>
        <p:spPr>
          <a:xfrm flipH="1">
            <a:off x="5747331" y="3160549"/>
            <a:ext cx="832666" cy="20475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7ED5AA69-43C6-AD36-1EAE-5CF7B82970AC}"/>
              </a:ext>
            </a:extLst>
          </p:cNvPr>
          <p:cNvSpPr/>
          <p:nvPr/>
        </p:nvSpPr>
        <p:spPr>
          <a:xfrm>
            <a:off x="4933848" y="5208099"/>
            <a:ext cx="1326916" cy="77002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TO SAVE THE VSHALE LOG, RIGHT CLICK ON THE LAYOUT AND SAVE THE MODIFIED VARIABLES</a:t>
            </a:r>
          </a:p>
        </p:txBody>
      </p:sp>
      <p:sp>
        <p:nvSpPr>
          <p:cNvPr id="23" name="Arrow: Right 22">
            <a:extLst>
              <a:ext uri="{FF2B5EF4-FFF2-40B4-BE49-F238E27FC236}">
                <a16:creationId xmlns:a16="http://schemas.microsoft.com/office/drawing/2014/main" id="{AF1CE330-2176-09E0-A6DF-3B674C2A5245}"/>
              </a:ext>
            </a:extLst>
          </p:cNvPr>
          <p:cNvSpPr/>
          <p:nvPr/>
        </p:nvSpPr>
        <p:spPr>
          <a:xfrm>
            <a:off x="6715323" y="5208099"/>
            <a:ext cx="1626743" cy="4517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1">
            <a:extLst>
              <a:ext uri="{FF2B5EF4-FFF2-40B4-BE49-F238E27FC236}">
                <a16:creationId xmlns:a16="http://schemas.microsoft.com/office/drawing/2014/main" id="{9E49485E-AF60-B277-F33C-834E20ED949A}"/>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V</a:t>
            </a:r>
            <a:r>
              <a:rPr lang="en-GB" sz="2800" b="1" dirty="0">
                <a:solidFill>
                  <a:schemeClr val="accent6">
                    <a:lumMod val="75000"/>
                  </a:schemeClr>
                </a:solidFill>
                <a:cs typeface="Poppins" panose="00000500000000000000" pitchFamily="2" charset="0"/>
              </a:rPr>
              <a:t>SHALE ESTIMATION (3)</a:t>
            </a:r>
          </a:p>
        </p:txBody>
      </p:sp>
    </p:spTree>
    <p:extLst>
      <p:ext uri="{BB962C8B-B14F-4D97-AF65-F5344CB8AC3E}">
        <p14:creationId xmlns:p14="http://schemas.microsoft.com/office/powerpoint/2010/main" val="2862069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452BF-0AB0-C9B3-6E09-524ECFB19080}"/>
            </a:ext>
          </a:extLst>
        </p:cNvPr>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71B200C7-F1C4-7484-5ABA-AF2E51961002}"/>
              </a:ext>
            </a:extLst>
          </p:cNvPr>
          <p:cNvPicPr>
            <a:picLocks noChangeAspect="1"/>
          </p:cNvPicPr>
          <p:nvPr/>
        </p:nvPicPr>
        <p:blipFill>
          <a:blip r:embed="rId2">
            <a:extLst>
              <a:ext uri="{28A0092B-C50C-407E-A947-70E740481C1C}">
                <a14:useLocalDpi xmlns:a14="http://schemas.microsoft.com/office/drawing/2010/main" val="0"/>
              </a:ext>
            </a:extLst>
          </a:blip>
          <a:srcRect l="29170" t="27881" r="582" b="15387"/>
          <a:stretch>
            <a:fillRect/>
          </a:stretch>
        </p:blipFill>
        <p:spPr>
          <a:xfrm>
            <a:off x="375352" y="4787502"/>
            <a:ext cx="4141694" cy="1990557"/>
          </a:xfrm>
          <a:prstGeom prst="rect">
            <a:avLst/>
          </a:prstGeom>
        </p:spPr>
      </p:pic>
      <p:grpSp>
        <p:nvGrpSpPr>
          <p:cNvPr id="13" name="Group 12">
            <a:extLst>
              <a:ext uri="{FF2B5EF4-FFF2-40B4-BE49-F238E27FC236}">
                <a16:creationId xmlns:a16="http://schemas.microsoft.com/office/drawing/2014/main" id="{E30E5AFE-56F4-E6F3-DE8D-A52A66E79DAA}"/>
              </a:ext>
            </a:extLst>
          </p:cNvPr>
          <p:cNvGrpSpPr/>
          <p:nvPr/>
        </p:nvGrpSpPr>
        <p:grpSpPr>
          <a:xfrm>
            <a:off x="7342130" y="1713245"/>
            <a:ext cx="4735990" cy="2870504"/>
            <a:chOff x="2524322" y="-110063"/>
            <a:chExt cx="7493513" cy="4111441"/>
          </a:xfrm>
        </p:grpSpPr>
        <p:pic>
          <p:nvPicPr>
            <p:cNvPr id="5" name="Picture 4" descr="A screenshot of a computer">
              <a:extLst>
                <a:ext uri="{FF2B5EF4-FFF2-40B4-BE49-F238E27FC236}">
                  <a16:creationId xmlns:a16="http://schemas.microsoft.com/office/drawing/2014/main" id="{C2FB6FE0-64AA-0C52-FD74-FE1A3A1D3DD3}"/>
                </a:ext>
              </a:extLst>
            </p:cNvPr>
            <p:cNvPicPr>
              <a:picLocks noChangeAspect="1"/>
            </p:cNvPicPr>
            <p:nvPr/>
          </p:nvPicPr>
          <p:blipFill>
            <a:blip r:embed="rId3">
              <a:extLst>
                <a:ext uri="{28A0092B-C50C-407E-A947-70E740481C1C}">
                  <a14:useLocalDpi xmlns:a14="http://schemas.microsoft.com/office/drawing/2010/main" val="0"/>
                </a:ext>
              </a:extLst>
            </a:blip>
            <a:srcRect t="20901" r="27467"/>
            <a:stretch>
              <a:fillRect/>
            </a:stretch>
          </p:blipFill>
          <p:spPr>
            <a:xfrm>
              <a:off x="2524322" y="-110063"/>
              <a:ext cx="7493513" cy="4111441"/>
            </a:xfrm>
            <a:prstGeom prst="rect">
              <a:avLst/>
            </a:prstGeom>
          </p:spPr>
        </p:pic>
        <p:sp>
          <p:nvSpPr>
            <p:cNvPr id="12" name="Arrow: Curved Down 11">
              <a:extLst>
                <a:ext uri="{FF2B5EF4-FFF2-40B4-BE49-F238E27FC236}">
                  <a16:creationId xmlns:a16="http://schemas.microsoft.com/office/drawing/2014/main" id="{AE3AC1E1-8809-ECA2-9B96-5FDD5A336CEA}"/>
                </a:ext>
              </a:extLst>
            </p:cNvPr>
            <p:cNvSpPr/>
            <p:nvPr/>
          </p:nvSpPr>
          <p:spPr>
            <a:xfrm>
              <a:off x="4175089" y="1964116"/>
              <a:ext cx="5492589" cy="679688"/>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3" name="Group 22">
            <a:extLst>
              <a:ext uri="{FF2B5EF4-FFF2-40B4-BE49-F238E27FC236}">
                <a16:creationId xmlns:a16="http://schemas.microsoft.com/office/drawing/2014/main" id="{B6C16C0D-D751-797C-F299-8E39C2465C49}"/>
              </a:ext>
            </a:extLst>
          </p:cNvPr>
          <p:cNvGrpSpPr/>
          <p:nvPr/>
        </p:nvGrpSpPr>
        <p:grpSpPr>
          <a:xfrm>
            <a:off x="375352" y="769407"/>
            <a:ext cx="4019887" cy="3814342"/>
            <a:chOff x="400622" y="769407"/>
            <a:chExt cx="4019887" cy="3814342"/>
          </a:xfrm>
        </p:grpSpPr>
        <p:grpSp>
          <p:nvGrpSpPr>
            <p:cNvPr id="11" name="Group 10">
              <a:extLst>
                <a:ext uri="{FF2B5EF4-FFF2-40B4-BE49-F238E27FC236}">
                  <a16:creationId xmlns:a16="http://schemas.microsoft.com/office/drawing/2014/main" id="{9D713A93-25C9-7857-9959-1C86EFAFC749}"/>
                </a:ext>
              </a:extLst>
            </p:cNvPr>
            <p:cNvGrpSpPr/>
            <p:nvPr/>
          </p:nvGrpSpPr>
          <p:grpSpPr>
            <a:xfrm>
              <a:off x="400622" y="1713245"/>
              <a:ext cx="4019887" cy="2870504"/>
              <a:chOff x="492441" y="1896222"/>
              <a:chExt cx="5478239" cy="3226633"/>
            </a:xfrm>
          </p:grpSpPr>
          <p:pic>
            <p:nvPicPr>
              <p:cNvPr id="3" name="Picture 2" descr="A screenshot of a computer&#10;&#10;AI-generated content may be incorrect.">
                <a:extLst>
                  <a:ext uri="{FF2B5EF4-FFF2-40B4-BE49-F238E27FC236}">
                    <a16:creationId xmlns:a16="http://schemas.microsoft.com/office/drawing/2014/main" id="{18770FEE-2225-A4E6-2B00-CF4B8BDA3F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441" y="1896222"/>
                <a:ext cx="5478239" cy="3226633"/>
              </a:xfrm>
              <a:prstGeom prst="rect">
                <a:avLst/>
              </a:prstGeom>
            </p:spPr>
          </p:pic>
          <p:sp>
            <p:nvSpPr>
              <p:cNvPr id="10" name="Arrow: Curved Down 9">
                <a:extLst>
                  <a:ext uri="{FF2B5EF4-FFF2-40B4-BE49-F238E27FC236}">
                    <a16:creationId xmlns:a16="http://schemas.microsoft.com/office/drawing/2014/main" id="{00433289-E182-6141-D84F-CC1232ADB7A9}"/>
                  </a:ext>
                </a:extLst>
              </p:cNvPr>
              <p:cNvSpPr/>
              <p:nvPr/>
            </p:nvSpPr>
            <p:spPr>
              <a:xfrm>
                <a:off x="1681083" y="3724499"/>
                <a:ext cx="3443575" cy="679688"/>
              </a:xfrm>
              <a:prstGeom prst="curved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cxnSp>
          <p:nvCxnSpPr>
            <p:cNvPr id="14" name="Straight Arrow Connector 13">
              <a:extLst>
                <a:ext uri="{FF2B5EF4-FFF2-40B4-BE49-F238E27FC236}">
                  <a16:creationId xmlns:a16="http://schemas.microsoft.com/office/drawing/2014/main" id="{66DAB8D9-5320-7E48-82F3-3B8188503D01}"/>
                </a:ext>
              </a:extLst>
            </p:cNvPr>
            <p:cNvCxnSpPr>
              <a:cxnSpLocks/>
            </p:cNvCxnSpPr>
            <p:nvPr/>
          </p:nvCxnSpPr>
          <p:spPr>
            <a:xfrm flipH="1" flipV="1">
              <a:off x="3104941" y="1402453"/>
              <a:ext cx="70338" cy="2026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D7A6D4B0-FED1-9E0F-C701-1916615CF8A0}"/>
                </a:ext>
              </a:extLst>
            </p:cNvPr>
            <p:cNvSpPr/>
            <p:nvPr/>
          </p:nvSpPr>
          <p:spPr>
            <a:xfrm>
              <a:off x="2575902" y="769407"/>
              <a:ext cx="1058078" cy="6330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ON OUR WELL LAYOUT, DRAG AND DROP RFT LOG</a:t>
              </a:r>
            </a:p>
          </p:txBody>
        </p:sp>
      </p:grpSp>
      <p:cxnSp>
        <p:nvCxnSpPr>
          <p:cNvPr id="20" name="Straight Arrow Connector 19">
            <a:extLst>
              <a:ext uri="{FF2B5EF4-FFF2-40B4-BE49-F238E27FC236}">
                <a16:creationId xmlns:a16="http://schemas.microsoft.com/office/drawing/2014/main" id="{2F7E068C-7376-D7CD-B6BC-99CA18C2C575}"/>
              </a:ext>
            </a:extLst>
          </p:cNvPr>
          <p:cNvCxnSpPr>
            <a:cxnSpLocks/>
          </p:cNvCxnSpPr>
          <p:nvPr/>
        </p:nvCxnSpPr>
        <p:spPr>
          <a:xfrm flipH="1" flipV="1">
            <a:off x="5312335" y="1306286"/>
            <a:ext cx="3200721" cy="21227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2D19EB39-34A5-D16B-224A-211094688583}"/>
              </a:ext>
            </a:extLst>
          </p:cNvPr>
          <p:cNvSpPr/>
          <p:nvPr/>
        </p:nvSpPr>
        <p:spPr>
          <a:xfrm>
            <a:off x="4612749" y="673240"/>
            <a:ext cx="1058078" cy="6330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DRAG AND DROP RFT LOG AND TVDSS ON DATA EDITOR</a:t>
            </a:r>
          </a:p>
        </p:txBody>
      </p:sp>
      <p:sp>
        <p:nvSpPr>
          <p:cNvPr id="24" name="Title 1">
            <a:extLst>
              <a:ext uri="{FF2B5EF4-FFF2-40B4-BE49-F238E27FC236}">
                <a16:creationId xmlns:a16="http://schemas.microsoft.com/office/drawing/2014/main" id="{8054E6E2-F992-ECF7-41CC-195B57F2146C}"/>
              </a:ext>
            </a:extLst>
          </p:cNvPr>
          <p:cNvSpPr txBox="1">
            <a:spLocks/>
          </p:cNvSpPr>
          <p:nvPr/>
        </p:nvSpPr>
        <p:spPr>
          <a:xfrm>
            <a:off x="255916" y="163289"/>
            <a:ext cx="11322177" cy="591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b="1" dirty="0">
                <a:solidFill>
                  <a:schemeClr val="accent6">
                    <a:lumMod val="75000"/>
                  </a:schemeClr>
                </a:solidFill>
                <a:cs typeface="Poppins" panose="00000500000000000000" pitchFamily="2" charset="0"/>
              </a:rPr>
              <a:t>POROSITY [RFT]</a:t>
            </a:r>
            <a:endParaRPr lang="en-GB" sz="2800" b="1" dirty="0">
              <a:solidFill>
                <a:schemeClr val="accent6">
                  <a:lumMod val="75000"/>
                </a:schemeClr>
              </a:solidFill>
              <a:cs typeface="Poppins" panose="00000500000000000000" pitchFamily="2" charset="0"/>
            </a:endParaRPr>
          </a:p>
        </p:txBody>
      </p:sp>
      <p:cxnSp>
        <p:nvCxnSpPr>
          <p:cNvPr id="25" name="Straight Arrow Connector 24">
            <a:extLst>
              <a:ext uri="{FF2B5EF4-FFF2-40B4-BE49-F238E27FC236}">
                <a16:creationId xmlns:a16="http://schemas.microsoft.com/office/drawing/2014/main" id="{F6AFDEE5-86EF-29E5-0E34-C32CC51EA474}"/>
              </a:ext>
            </a:extLst>
          </p:cNvPr>
          <p:cNvCxnSpPr>
            <a:cxnSpLocks/>
          </p:cNvCxnSpPr>
          <p:nvPr/>
        </p:nvCxnSpPr>
        <p:spPr>
          <a:xfrm flipH="1" flipV="1">
            <a:off x="8130230" y="1187995"/>
            <a:ext cx="982562" cy="685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3F38086-0BB5-68BC-1755-5D8F8BA66DFA}"/>
              </a:ext>
            </a:extLst>
          </p:cNvPr>
          <p:cNvCxnSpPr>
            <a:cxnSpLocks/>
          </p:cNvCxnSpPr>
          <p:nvPr/>
        </p:nvCxnSpPr>
        <p:spPr>
          <a:xfrm flipH="1" flipV="1">
            <a:off x="8130230" y="1187995"/>
            <a:ext cx="1473843" cy="1506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3DB5E406-2B69-5BF8-D1C2-384899A4538A}"/>
              </a:ext>
            </a:extLst>
          </p:cNvPr>
          <p:cNvSpPr/>
          <p:nvPr/>
        </p:nvSpPr>
        <p:spPr>
          <a:xfrm>
            <a:off x="7281029" y="554949"/>
            <a:ext cx="1365578" cy="6330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HIGHLIGHT THE OIL ZONE SO THE PRESSURE POINTS OF INTEREST SHOW UP ON THE DATA EDITOR</a:t>
            </a:r>
          </a:p>
        </p:txBody>
      </p:sp>
      <p:cxnSp>
        <p:nvCxnSpPr>
          <p:cNvPr id="31" name="Connector: Elbow 30">
            <a:extLst>
              <a:ext uri="{FF2B5EF4-FFF2-40B4-BE49-F238E27FC236}">
                <a16:creationId xmlns:a16="http://schemas.microsoft.com/office/drawing/2014/main" id="{E4EEC26C-2457-BAD3-EA96-034C55714578}"/>
              </a:ext>
            </a:extLst>
          </p:cNvPr>
          <p:cNvCxnSpPr>
            <a:stCxn id="29" idx="3"/>
          </p:cNvCxnSpPr>
          <p:nvPr/>
        </p:nvCxnSpPr>
        <p:spPr>
          <a:xfrm>
            <a:off x="8646607" y="871472"/>
            <a:ext cx="2931486" cy="182268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4812CE7-ED13-1548-5F07-BF0C1252AF70}"/>
              </a:ext>
            </a:extLst>
          </p:cNvPr>
          <p:cNvCxnSpPr>
            <a:cxnSpLocks/>
          </p:cNvCxnSpPr>
          <p:nvPr/>
        </p:nvCxnSpPr>
        <p:spPr>
          <a:xfrm flipV="1">
            <a:off x="2068402" y="4180813"/>
            <a:ext cx="3243933" cy="1535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61095FC7-7B0F-9362-F90C-8A6DB86C10E1}"/>
              </a:ext>
            </a:extLst>
          </p:cNvPr>
          <p:cNvSpPr/>
          <p:nvPr/>
        </p:nvSpPr>
        <p:spPr>
          <a:xfrm>
            <a:off x="4810605" y="3486456"/>
            <a:ext cx="1194117" cy="6938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chemeClr val="tx1"/>
                </a:solidFill>
              </a:rPr>
              <a:t>TRANSFER POINTS TO EXCEL AND PLOT. SLOPE OF EQUATION IS THE OIL GRADIENT</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2220DE3-442F-FF2A-A520-D0D47D20A2E0}"/>
                  </a:ext>
                </a:extLst>
              </p:cNvPr>
              <p:cNvSpPr txBox="1"/>
              <p:nvPr/>
            </p:nvSpPr>
            <p:spPr>
              <a:xfrm>
                <a:off x="5053174" y="5054979"/>
                <a:ext cx="2777429" cy="5204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b="0" i="1" smtClean="0">
                              <a:latin typeface="Cambria Math" panose="02040503050406030204" pitchFamily="18" charset="0"/>
                              <a:ea typeface="Cambria Math" panose="02040503050406030204" pitchFamily="18" charset="0"/>
                            </a:rPr>
                            <m:t>𝑂𝐼𝐿</m:t>
                          </m:r>
                        </m:sub>
                      </m:sSub>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𝑂𝐼𝐿</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𝐺𝑅𝐴𝐷𝐼𝐸𝑁𝑇</m:t>
                          </m:r>
                        </m:num>
                        <m:den>
                          <m:r>
                            <a:rPr lang="en-GB" b="0" i="1" smtClean="0">
                              <a:latin typeface="Cambria Math" panose="02040503050406030204" pitchFamily="18" charset="0"/>
                              <a:ea typeface="Cambria Math" panose="02040503050406030204" pitchFamily="18" charset="0"/>
                            </a:rPr>
                            <m:t>𝑊𝐴𝑇𝐸𝑅</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𝐺𝑅𝐴𝐷𝐼𝐸𝑁𝑇</m:t>
                          </m:r>
                        </m:den>
                      </m:f>
                    </m:oMath>
                  </m:oMathPara>
                </a14:m>
                <a:endParaRPr lang="en-GB" dirty="0"/>
              </a:p>
            </p:txBody>
          </p:sp>
        </mc:Choice>
        <mc:Fallback xmlns="">
          <p:sp>
            <p:nvSpPr>
              <p:cNvPr id="40" name="TextBox 39">
                <a:extLst>
                  <a:ext uri="{FF2B5EF4-FFF2-40B4-BE49-F238E27FC236}">
                    <a16:creationId xmlns:a16="http://schemas.microsoft.com/office/drawing/2014/main" id="{32220DE3-442F-FF2A-A520-D0D47D20A2E0}"/>
                  </a:ext>
                </a:extLst>
              </p:cNvPr>
              <p:cNvSpPr txBox="1">
                <a:spLocks noRot="1" noChangeAspect="1" noMove="1" noResize="1" noEditPoints="1" noAdjustHandles="1" noChangeArrowheads="1" noChangeShapeType="1" noTextEdit="1"/>
              </p:cNvSpPr>
              <p:nvPr/>
            </p:nvSpPr>
            <p:spPr>
              <a:xfrm>
                <a:off x="5053174" y="5054979"/>
                <a:ext cx="2777429" cy="5204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1CB9CF4-2E87-94AC-1127-49C0333D68F5}"/>
                  </a:ext>
                </a:extLst>
              </p:cNvPr>
              <p:cNvSpPr txBox="1"/>
              <p:nvPr/>
            </p:nvSpPr>
            <p:spPr>
              <a:xfrm>
                <a:off x="8385436" y="5176710"/>
                <a:ext cx="356488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b="0" i="1" smtClean="0">
                                  <a:latin typeface="Cambria Math" panose="02040503050406030204" pitchFamily="18" charset="0"/>
                                  <a:ea typeface="Cambria Math" panose="02040503050406030204" pitchFamily="18" charset="0"/>
                                </a:rPr>
                                <m:t>𝐹𝐿𝑈𝐼𝐷</m:t>
                              </m:r>
                            </m:sub>
                          </m:sSub>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𝜌</m:t>
                          </m:r>
                        </m:e>
                        <m:sub>
                          <m:r>
                            <a:rPr lang="en-GB" b="0" i="1" smtClean="0">
                              <a:latin typeface="Cambria Math" panose="02040503050406030204" pitchFamily="18" charset="0"/>
                              <a:ea typeface="Cambria Math" panose="02040503050406030204" pitchFamily="18" charset="0"/>
                            </a:rPr>
                            <m:t>𝑂𝐼𝐿</m:t>
                          </m:r>
                        </m:sub>
                      </m:sSub>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0.5+</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b="0" i="1" smtClean="0">
                              <a:latin typeface="Cambria Math" panose="02040503050406030204" pitchFamily="18" charset="0"/>
                              <a:ea typeface="Cambria Math" panose="02040503050406030204" pitchFamily="18" charset="0"/>
                            </a:rPr>
                            <m:t>𝑊𝐴𝑇𝐸𝑅</m:t>
                          </m:r>
                        </m:sub>
                      </m:sSub>
                      <m:r>
                        <a:rPr lang="en-GB" i="1">
                          <a:latin typeface="Cambria Math" panose="02040503050406030204" pitchFamily="18" charset="0"/>
                          <a:ea typeface="Cambria Math" panose="02040503050406030204" pitchFamily="18" charset="0"/>
                        </a:rPr>
                        <m:t>×0.5</m:t>
                      </m:r>
                    </m:oMath>
                  </m:oMathPara>
                </a14:m>
                <a:endParaRPr lang="en-GB" dirty="0"/>
              </a:p>
            </p:txBody>
          </p:sp>
        </mc:Choice>
        <mc:Fallback xmlns="">
          <p:sp>
            <p:nvSpPr>
              <p:cNvPr id="42" name="TextBox 41">
                <a:extLst>
                  <a:ext uri="{FF2B5EF4-FFF2-40B4-BE49-F238E27FC236}">
                    <a16:creationId xmlns:a16="http://schemas.microsoft.com/office/drawing/2014/main" id="{C1CB9CF4-2E87-94AC-1127-49C0333D68F5}"/>
                  </a:ext>
                </a:extLst>
              </p:cNvPr>
              <p:cNvSpPr txBox="1">
                <a:spLocks noRot="1" noChangeAspect="1" noMove="1" noResize="1" noEditPoints="1" noAdjustHandles="1" noChangeArrowheads="1" noChangeShapeType="1" noTextEdit="1"/>
              </p:cNvSpPr>
              <p:nvPr/>
            </p:nvSpPr>
            <p:spPr>
              <a:xfrm>
                <a:off x="8385436" y="5176710"/>
                <a:ext cx="3564880" cy="276999"/>
              </a:xfrm>
              <a:prstGeom prst="rect">
                <a:avLst/>
              </a:prstGeom>
              <a:blipFill>
                <a:blip r:embed="rId6"/>
                <a:stretch>
                  <a:fillRect l="-1199" r="-1370" b="-239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D038962-060D-343A-CFD4-2D66B5651233}"/>
                  </a:ext>
                </a:extLst>
              </p:cNvPr>
              <p:cNvSpPr txBox="1"/>
              <p:nvPr/>
            </p:nvSpPr>
            <p:spPr>
              <a:xfrm>
                <a:off x="4985598" y="5896568"/>
                <a:ext cx="6799673" cy="900246"/>
              </a:xfrm>
              <a:prstGeom prst="rect">
                <a:avLst/>
              </a:prstGeom>
              <a:noFill/>
            </p:spPr>
            <p:txBody>
              <a:bodyPr wrap="square" rtlCol="0">
                <a:spAutoFit/>
              </a:bodyPr>
              <a:lstStyle/>
              <a:p>
                <a:r>
                  <a:rPr lang="en-GB" sz="1050" dirty="0"/>
                  <a:t>USING THE ABOVE EQUATIONS, THE DENSITY NEEDED TO ESTIMATE OUR POROSITY CAN BE CALCULATED. IN THIS CASE, IT WAS 0.8114g/cc</a:t>
                </a:r>
              </a:p>
              <a:p>
                <a:endParaRPr lang="en-GB" sz="1050" dirty="0"/>
              </a:p>
              <a:p>
                <a:r>
                  <a:rPr lang="en-GB" sz="1050" dirty="0"/>
                  <a:t>NOTE: WATER GRADIENT=0.433psi/ft, </a:t>
                </a:r>
                <a14:m>
                  <m:oMath xmlns:m="http://schemas.openxmlformats.org/officeDocument/2006/math">
                    <m:sSub>
                      <m:sSubPr>
                        <m:ctrlPr>
                          <a:rPr lang="en-GB" sz="1050" i="1">
                            <a:latin typeface="Cambria Math" panose="02040503050406030204" pitchFamily="18" charset="0"/>
                            <a:ea typeface="Cambria Math" panose="02040503050406030204" pitchFamily="18" charset="0"/>
                          </a:rPr>
                        </m:ctrlPr>
                      </m:sSubPr>
                      <m:e>
                        <m:r>
                          <a:rPr lang="en-GB" sz="1050" i="1">
                            <a:latin typeface="Cambria Math" panose="02040503050406030204" pitchFamily="18" charset="0"/>
                            <a:ea typeface="Cambria Math" panose="02040503050406030204" pitchFamily="18" charset="0"/>
                          </a:rPr>
                          <m:t>𝜌</m:t>
                        </m:r>
                      </m:e>
                      <m:sub>
                        <m:r>
                          <a:rPr lang="en-GB" sz="1050" i="1">
                            <a:latin typeface="Cambria Math" panose="02040503050406030204" pitchFamily="18" charset="0"/>
                            <a:ea typeface="Cambria Math" panose="02040503050406030204" pitchFamily="18" charset="0"/>
                          </a:rPr>
                          <m:t>𝑊𝐴𝑇𝐸𝑅</m:t>
                        </m:r>
                      </m:sub>
                    </m:sSub>
                  </m:oMath>
                </a14:m>
                <a:r>
                  <a:rPr lang="en-GB" sz="1050" dirty="0"/>
                  <a:t>= 1g/cc</a:t>
                </a:r>
              </a:p>
              <a:p>
                <a:r>
                  <a:rPr lang="en-GB" sz="1050" dirty="0"/>
                  <a:t>INVASION FACTOR OF 50% WAS ASSUMED IN THE SECOND EQUATION HENCE THE 0.5 VALUE</a:t>
                </a:r>
              </a:p>
            </p:txBody>
          </p:sp>
        </mc:Choice>
        <mc:Fallback xmlns="">
          <p:sp>
            <p:nvSpPr>
              <p:cNvPr id="43" name="TextBox 42">
                <a:extLst>
                  <a:ext uri="{FF2B5EF4-FFF2-40B4-BE49-F238E27FC236}">
                    <a16:creationId xmlns:a16="http://schemas.microsoft.com/office/drawing/2014/main" id="{7D038962-060D-343A-CFD4-2D66B5651233}"/>
                  </a:ext>
                </a:extLst>
              </p:cNvPr>
              <p:cNvSpPr txBox="1">
                <a:spLocks noRot="1" noChangeAspect="1" noMove="1" noResize="1" noEditPoints="1" noAdjustHandles="1" noChangeArrowheads="1" noChangeShapeType="1" noTextEdit="1"/>
              </p:cNvSpPr>
              <p:nvPr/>
            </p:nvSpPr>
            <p:spPr>
              <a:xfrm>
                <a:off x="4985598" y="5896568"/>
                <a:ext cx="6799673" cy="900246"/>
              </a:xfrm>
              <a:prstGeom prst="rect">
                <a:avLst/>
              </a:prstGeom>
              <a:blipFill>
                <a:blip r:embed="rId7"/>
                <a:stretch>
                  <a:fillRect b="-2703"/>
                </a:stretch>
              </a:blipFill>
            </p:spPr>
            <p:txBody>
              <a:bodyPr/>
              <a:lstStyle/>
              <a:p>
                <a:r>
                  <a:rPr lang="en-GB">
                    <a:noFill/>
                  </a:rPr>
                  <a:t> </a:t>
                </a:r>
              </a:p>
            </p:txBody>
          </p:sp>
        </mc:Fallback>
      </mc:AlternateContent>
    </p:spTree>
    <p:extLst>
      <p:ext uri="{BB962C8B-B14F-4D97-AF65-F5344CB8AC3E}">
        <p14:creationId xmlns:p14="http://schemas.microsoft.com/office/powerpoint/2010/main" val="2034194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otalTime>37328</TotalTime>
  <Words>1043</Words>
  <Application>Microsoft Office PowerPoint</Application>
  <PresentationFormat>Widescreen</PresentationFormat>
  <Paragraphs>92</Paragraphs>
  <Slides>16</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Aptos</vt:lpstr>
      <vt:lpstr>Aptos Display</vt:lpstr>
      <vt:lpstr>Arial</vt:lpstr>
      <vt:lpstr>Cambria Math</vt:lpstr>
      <vt:lpstr>Futura</vt:lpstr>
      <vt:lpstr>Montserrat</vt:lpstr>
      <vt:lpstr>Poppins</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Benedicta Grandeur</dc:creator>
  <cp:lastModifiedBy>Onwuagba, Kenechi IUC/G/UUDGS</cp:lastModifiedBy>
  <cp:revision>110</cp:revision>
  <cp:lastPrinted>2024-09-20T16:37:52Z</cp:lastPrinted>
  <dcterms:created xsi:type="dcterms:W3CDTF">2024-04-30T08:58:45Z</dcterms:created>
  <dcterms:modified xsi:type="dcterms:W3CDTF">2026-06-11T15:33:50Z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2025-04-16T14:04:00Z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f5326574-b01d-46d0-a7b4-d2976544a6cc</vt:lpwstr>
  </property>
  <property fmtid="{D5CDD505-2E9C-101B-9397-08002B2CF9AE}" pid="7" name="MSIP_Label_defa4170-0d19-0005-0004-bc88714345d2_ActionId">
    <vt:lpwstr>1b68c910-5f35-4d56-be3e-8fa984e6f46b</vt:lpwstr>
  </property>
  <property fmtid="{D5CDD505-2E9C-101B-9397-08002B2CF9AE}" pid="8" name="MSIP_Label_defa4170-0d19-0005-0004-bc88714345d2_ContentBits">
    <vt:lpwstr>0</vt:lpwstr>
  </property>
</Properties>
</file>