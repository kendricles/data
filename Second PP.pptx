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6" r:id="rId2"/>
    <p:sldId id="407" r:id="rId3"/>
    <p:sldId id="408" r:id="rId4"/>
    <p:sldId id="409" r:id="rId5"/>
    <p:sldId id="410" r:id="rId6"/>
    <p:sldId id="411" r:id="rId7"/>
    <p:sldId id="412" r:id="rId8"/>
    <p:sldId id="413" r:id="rId9"/>
    <p:sldId id="414" r:id="rId10"/>
    <p:sldId id="415" r:id="rId11"/>
    <p:sldId id="416" r:id="rId12"/>
    <p:sldId id="417" r:id="rId13"/>
    <p:sldId id="418" r:id="rId14"/>
    <p:sldId id="419" r:id="rId15"/>
    <p:sldId id="42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34366B-342B-4B06-995A-32ED5A9527FF}" v="2" dt="2026-06-11T15:32:24.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wuagba, Kenechi IUC/G/UUDGS" userId="4f698ab4-0a9b-4090-aac8-15336bf9f736" providerId="ADAL" clId="{77E80BD3-9F7F-4E2A-962D-B0528BC83168}"/>
    <pc:docChg chg="addSld delSld modSld sldOrd">
      <pc:chgData name="Onwuagba, Kenechi IUC/G/UUDGS" userId="4f698ab4-0a9b-4090-aac8-15336bf9f736" providerId="ADAL" clId="{77E80BD3-9F7F-4E2A-962D-B0528BC83168}" dt="2026-06-11T15:33:15.007" v="21" actId="2696"/>
      <pc:docMkLst>
        <pc:docMk/>
      </pc:docMkLst>
      <pc:sldChg chg="del">
        <pc:chgData name="Onwuagba, Kenechi IUC/G/UUDGS" userId="4f698ab4-0a9b-4090-aac8-15336bf9f736" providerId="ADAL" clId="{77E80BD3-9F7F-4E2A-962D-B0528BC83168}" dt="2026-06-11T15:27:22.697" v="1" actId="47"/>
        <pc:sldMkLst>
          <pc:docMk/>
          <pc:sldMk cId="919631485" sldId="256"/>
        </pc:sldMkLst>
      </pc:sldChg>
      <pc:sldChg chg="del">
        <pc:chgData name="Onwuagba, Kenechi IUC/G/UUDGS" userId="4f698ab4-0a9b-4090-aac8-15336bf9f736" providerId="ADAL" clId="{77E80BD3-9F7F-4E2A-962D-B0528BC83168}" dt="2026-06-11T15:27:20.137" v="0" actId="47"/>
        <pc:sldMkLst>
          <pc:docMk/>
          <pc:sldMk cId="232256664" sldId="357"/>
        </pc:sldMkLst>
      </pc:sldChg>
      <pc:sldChg chg="add del">
        <pc:chgData name="Onwuagba, Kenechi IUC/G/UUDGS" userId="4f698ab4-0a9b-4090-aac8-15336bf9f736" providerId="ADAL" clId="{77E80BD3-9F7F-4E2A-962D-B0528BC83168}" dt="2026-06-11T15:33:15.007" v="21" actId="2696"/>
        <pc:sldMkLst>
          <pc:docMk/>
          <pc:sldMk cId="2862069364" sldId="404"/>
        </pc:sldMkLst>
      </pc:sldChg>
      <pc:sldChg chg="add del">
        <pc:chgData name="Onwuagba, Kenechi IUC/G/UUDGS" userId="4f698ab4-0a9b-4090-aac8-15336bf9f736" providerId="ADAL" clId="{77E80BD3-9F7F-4E2A-962D-B0528BC83168}" dt="2026-06-11T15:33:15.007" v="21" actId="2696"/>
        <pc:sldMkLst>
          <pc:docMk/>
          <pc:sldMk cId="2034194565" sldId="405"/>
        </pc:sldMkLst>
      </pc:sldChg>
      <pc:sldChg chg="add del">
        <pc:chgData name="Onwuagba, Kenechi IUC/G/UUDGS" userId="4f698ab4-0a9b-4090-aac8-15336bf9f736" providerId="ADAL" clId="{77E80BD3-9F7F-4E2A-962D-B0528BC83168}" dt="2026-06-11T15:32:24.423" v="19"/>
        <pc:sldMkLst>
          <pc:docMk/>
          <pc:sldMk cId="1041624920" sldId="406"/>
        </pc:sldMkLst>
      </pc:sldChg>
      <pc:sldChg chg="add del ord">
        <pc:chgData name="Onwuagba, Kenechi IUC/G/UUDGS" userId="4f698ab4-0a9b-4090-aac8-15336bf9f736" providerId="ADAL" clId="{77E80BD3-9F7F-4E2A-962D-B0528BC83168}" dt="2026-06-11T15:32:22.493" v="18"/>
        <pc:sldMkLst>
          <pc:docMk/>
          <pc:sldMk cId="3683519893" sldId="407"/>
        </pc:sldMkLst>
      </pc:sldChg>
      <pc:sldChg chg="add del">
        <pc:chgData name="Onwuagba, Kenechi IUC/G/UUDGS" userId="4f698ab4-0a9b-4090-aac8-15336bf9f736" providerId="ADAL" clId="{77E80BD3-9F7F-4E2A-962D-B0528BC83168}" dt="2026-06-11T15:30:39.333" v="8"/>
        <pc:sldMkLst>
          <pc:docMk/>
          <pc:sldMk cId="3114286704" sldId="408"/>
        </pc:sldMkLst>
      </pc:sldChg>
      <pc:sldChg chg="new del ord">
        <pc:chgData name="Onwuagba, Kenechi IUC/G/UUDGS" userId="4f698ab4-0a9b-4090-aac8-15336bf9f736" providerId="ADAL" clId="{77E80BD3-9F7F-4E2A-962D-B0528BC83168}" dt="2026-06-11T15:32:26.412" v="20" actId="47"/>
        <pc:sldMkLst>
          <pc:docMk/>
          <pc:sldMk cId="370450635" sldId="421"/>
        </pc:sldMkLst>
      </pc:sldChg>
      <pc:sldChg chg="new del ord">
        <pc:chgData name="Onwuagba, Kenechi IUC/G/UUDGS" userId="4f698ab4-0a9b-4090-aac8-15336bf9f736" providerId="ADAL" clId="{77E80BD3-9F7F-4E2A-962D-B0528BC83168}" dt="2026-06-11T15:30:41.940" v="9" actId="47"/>
        <pc:sldMkLst>
          <pc:docMk/>
          <pc:sldMk cId="2855884665" sldId="421"/>
        </pc:sldMkLst>
      </pc:sldChg>
      <pc:sldMasterChg chg="delSldLayout">
        <pc:chgData name="Onwuagba, Kenechi IUC/G/UUDGS" userId="4f698ab4-0a9b-4090-aac8-15336bf9f736" providerId="ADAL" clId="{77E80BD3-9F7F-4E2A-962D-B0528BC83168}" dt="2026-06-11T15:27:20.137" v="0" actId="47"/>
        <pc:sldMasterMkLst>
          <pc:docMk/>
          <pc:sldMasterMk cId="4222197246" sldId="2147483648"/>
        </pc:sldMasterMkLst>
        <pc:sldLayoutChg chg="del">
          <pc:chgData name="Onwuagba, Kenechi IUC/G/UUDGS" userId="4f698ab4-0a9b-4090-aac8-15336bf9f736" providerId="ADAL" clId="{77E80BD3-9F7F-4E2A-962D-B0528BC83168}" dt="2026-06-11T15:27:20.137" v="0" actId="47"/>
          <pc:sldLayoutMkLst>
            <pc:docMk/>
            <pc:sldMasterMk cId="4222197246" sldId="2147483648"/>
            <pc:sldLayoutMk cId="3393747010" sldId="214748366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B426-2B41-1FC0-2257-18DFDC73F36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F31C724-66D5-B40B-D3AC-B90B743E53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FF5ADC6-08B8-A51F-82BF-FDAC1A0A53EF}"/>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5" name="Footer Placeholder 4">
            <a:extLst>
              <a:ext uri="{FF2B5EF4-FFF2-40B4-BE49-F238E27FC236}">
                <a16:creationId xmlns:a16="http://schemas.microsoft.com/office/drawing/2014/main" id="{8A99BF52-70F1-1D89-DAD1-291ADC8509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A48B56-5ADA-4E95-10B8-911F60211231}"/>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1099587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380EA-BAAA-9DF4-EF20-DC86527B22A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76E1523-189E-9ADE-8E32-7815E12693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5748A1-2D4B-6834-D1DC-7AC8F1183FD8}"/>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5" name="Footer Placeholder 4">
            <a:extLst>
              <a:ext uri="{FF2B5EF4-FFF2-40B4-BE49-F238E27FC236}">
                <a16:creationId xmlns:a16="http://schemas.microsoft.com/office/drawing/2014/main" id="{07777148-747A-A98A-6E30-6D7ADCC549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11BC8-3FFA-409B-E619-2397189F35C9}"/>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119373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BF87-F92C-E689-FBAA-BDAB55906E4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CE5A6E8-35CF-30B5-5879-FF7AB93F0F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F7C22-0858-5E60-897B-9F96863222F5}"/>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5" name="Footer Placeholder 4">
            <a:extLst>
              <a:ext uri="{FF2B5EF4-FFF2-40B4-BE49-F238E27FC236}">
                <a16:creationId xmlns:a16="http://schemas.microsoft.com/office/drawing/2014/main" id="{34D4047C-1641-2EA6-C65C-37D508A5C8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5D510A-65B8-06FE-8013-8A733BC7C564}"/>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2500430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512B-A2EF-FB65-9BDC-908BCA69FAC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609C5E8-8DAC-9E13-580B-8C944A06072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908E4D96-8987-ADA6-BC04-C1362BC419E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B8E078A-FE39-E093-9D6A-560D2F91E24A}"/>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6" name="Footer Placeholder 5">
            <a:extLst>
              <a:ext uri="{FF2B5EF4-FFF2-40B4-BE49-F238E27FC236}">
                <a16:creationId xmlns:a16="http://schemas.microsoft.com/office/drawing/2014/main" id="{08CC8621-A2E3-3C34-9A66-1BAFF3BDB5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C27E10A-A73F-98B6-754E-FB2FA0D3B9EB}"/>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3151274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A185-7837-AC21-9A9B-70F42EF9628E}"/>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9658479-8AE8-B528-F5EB-A71215870B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E53D10-4878-999C-1808-A910526B710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B8AC789-D6C4-0CC6-4D44-883155559D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816F94-595E-F153-3876-E86A05FD6AC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5F9E034-6DEE-4814-80BA-1E6CE1293579}"/>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8" name="Footer Placeholder 7">
            <a:extLst>
              <a:ext uri="{FF2B5EF4-FFF2-40B4-BE49-F238E27FC236}">
                <a16:creationId xmlns:a16="http://schemas.microsoft.com/office/drawing/2014/main" id="{7A8348BA-1795-B37C-6FEB-5CC8148BB8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9969B0B-8CDB-48E4-62B3-9490535F9A00}"/>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3425571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3AB8-5203-18AB-8799-9DFC2B1BAF1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D9650EF9-D842-26AB-24DD-898A285E433B}"/>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4" name="Footer Placeholder 3">
            <a:extLst>
              <a:ext uri="{FF2B5EF4-FFF2-40B4-BE49-F238E27FC236}">
                <a16:creationId xmlns:a16="http://schemas.microsoft.com/office/drawing/2014/main" id="{46D188DD-D268-F7C9-A3FF-D35D020F3E7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5EF9A6B-8730-9789-D5FC-1E8EBE8AE597}"/>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2271109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8C482-FBE6-C316-60B6-68E8BC0C9317}"/>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3" name="Footer Placeholder 2">
            <a:extLst>
              <a:ext uri="{FF2B5EF4-FFF2-40B4-BE49-F238E27FC236}">
                <a16:creationId xmlns:a16="http://schemas.microsoft.com/office/drawing/2014/main" id="{5DFF99FF-47E5-0119-FA3C-F568A40A7A4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2545A76-B041-5869-75A9-2EB40A7658D5}"/>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3191071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5FA44-4218-C03F-CDA5-F12FC7224F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D656F021-77C0-15B3-230C-741726FFB6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EA89568-C5B5-B8C8-EAE0-10AA3052B0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9D6BD2-73E7-7141-A09B-EC31F9F10FD7}"/>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6" name="Footer Placeholder 5">
            <a:extLst>
              <a:ext uri="{FF2B5EF4-FFF2-40B4-BE49-F238E27FC236}">
                <a16:creationId xmlns:a16="http://schemas.microsoft.com/office/drawing/2014/main" id="{AEB8E165-237D-BE41-3732-EFE90D8FBC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CF69C1-BE4C-168F-519C-7A565F651224}"/>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3471015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4171-88C9-7F31-1580-A345B1C8C60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8DA482B-D3DD-6EEC-F8C9-D85447E39F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576D9F1-7CC2-5D81-9646-D7700C614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BE092C-411B-E110-ECD3-59A4017A3DAF}"/>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6" name="Footer Placeholder 5">
            <a:extLst>
              <a:ext uri="{FF2B5EF4-FFF2-40B4-BE49-F238E27FC236}">
                <a16:creationId xmlns:a16="http://schemas.microsoft.com/office/drawing/2014/main" id="{9FE8E035-A70C-59E6-4E74-B9F7F6CA9F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332D53-B6FC-B35D-A3E5-B86F9C8A3CF4}"/>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1854365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DF647-0335-6724-59D3-4A77BB06EAB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1C5C905-031C-FD0F-597B-8A52EBC8946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DF98B55-EDA8-58C9-5548-49F15864DAB8}"/>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5" name="Footer Placeholder 4">
            <a:extLst>
              <a:ext uri="{FF2B5EF4-FFF2-40B4-BE49-F238E27FC236}">
                <a16:creationId xmlns:a16="http://schemas.microsoft.com/office/drawing/2014/main" id="{0AAD8387-081D-E98C-F6D4-1636670CB5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93DD8F-5416-E577-DC98-A22D8CFF506C}"/>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2416122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BD8D52-144F-9D8D-1E80-C391CA3DD5FE}"/>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08827F6-01AA-A0F6-1C1E-D439E50BB4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2555A91-36CC-1442-E879-09F53A8C0EB9}"/>
              </a:ext>
            </a:extLst>
          </p:cNvPr>
          <p:cNvSpPr>
            <a:spLocks noGrp="1"/>
          </p:cNvSpPr>
          <p:nvPr>
            <p:ph type="dt" sz="half" idx="10"/>
          </p:nvPr>
        </p:nvSpPr>
        <p:spPr/>
        <p:txBody>
          <a:bodyPr/>
          <a:lstStyle/>
          <a:p>
            <a:fld id="{3351FA70-8469-45EA-8B33-2EAA6051F68D}" type="datetimeFigureOut">
              <a:rPr lang="en-GB" smtClean="0"/>
              <a:t>11/06/2026</a:t>
            </a:fld>
            <a:endParaRPr lang="en-GB"/>
          </a:p>
        </p:txBody>
      </p:sp>
      <p:sp>
        <p:nvSpPr>
          <p:cNvPr id="5" name="Footer Placeholder 4">
            <a:extLst>
              <a:ext uri="{FF2B5EF4-FFF2-40B4-BE49-F238E27FC236}">
                <a16:creationId xmlns:a16="http://schemas.microsoft.com/office/drawing/2014/main" id="{2774B0F9-6134-AF5A-E829-3BF5F11254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2543B2-AB75-174B-1B9A-87C4B343FFD5}"/>
              </a:ext>
            </a:extLst>
          </p:cNvPr>
          <p:cNvSpPr>
            <a:spLocks noGrp="1"/>
          </p:cNvSpPr>
          <p:nvPr>
            <p:ph type="sldNum" sz="quarter" idx="12"/>
          </p:nvPr>
        </p:nvSpPr>
        <p:spPr/>
        <p:txBody>
          <a:bodyPr/>
          <a:lstStyle/>
          <a:p>
            <a:fld id="{4E40502F-A658-414E-B809-DF1684C64630}" type="slidenum">
              <a:rPr lang="en-GB" smtClean="0"/>
              <a:t>‹#›</a:t>
            </a:fld>
            <a:endParaRPr lang="en-GB"/>
          </a:p>
        </p:txBody>
      </p:sp>
    </p:spTree>
    <p:extLst>
      <p:ext uri="{BB962C8B-B14F-4D97-AF65-F5344CB8AC3E}">
        <p14:creationId xmlns:p14="http://schemas.microsoft.com/office/powerpoint/2010/main" val="214903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B77341-4DDB-2A00-69CE-F15E9A21FA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51CAE7D-F274-9318-B789-0A4E32925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E109247-E1DC-2A68-0D30-596DA3B42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51FA70-8469-45EA-8B33-2EAA6051F68D}" type="datetimeFigureOut">
              <a:rPr lang="en-GB" smtClean="0"/>
              <a:t>11/06/2026</a:t>
            </a:fld>
            <a:endParaRPr lang="en-GB"/>
          </a:p>
        </p:txBody>
      </p:sp>
      <p:sp>
        <p:nvSpPr>
          <p:cNvPr id="5" name="Footer Placeholder 4">
            <a:extLst>
              <a:ext uri="{FF2B5EF4-FFF2-40B4-BE49-F238E27FC236}">
                <a16:creationId xmlns:a16="http://schemas.microsoft.com/office/drawing/2014/main" id="{AA8CDD6C-32C2-E498-5F9D-0C1D71061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F199BCA-2228-6DBE-85F9-F5F5DFC11F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40502F-A658-414E-B809-DF1684C64630}" type="slidenum">
              <a:rPr lang="en-GB" smtClean="0"/>
              <a:t>‹#›</a:t>
            </a:fld>
            <a:endParaRPr lang="en-GB"/>
          </a:p>
        </p:txBody>
      </p:sp>
    </p:spTree>
    <p:extLst>
      <p:ext uri="{BB962C8B-B14F-4D97-AF65-F5344CB8AC3E}">
        <p14:creationId xmlns:p14="http://schemas.microsoft.com/office/powerpoint/2010/main" val="4222197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A442-DA39-9112-4C59-ED3399C6FD15}"/>
            </a:ext>
          </a:extLst>
        </p:cNvPr>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A9AA1AB2-B7AD-E409-AB13-080E6993B3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868" y="2424410"/>
            <a:ext cx="5047810" cy="4175619"/>
          </a:xfrm>
          <a:prstGeom prst="rect">
            <a:avLst/>
          </a:prstGeom>
        </p:spPr>
      </p:pic>
      <p:cxnSp>
        <p:nvCxnSpPr>
          <p:cNvPr id="2" name="Straight Arrow Connector 1">
            <a:extLst>
              <a:ext uri="{FF2B5EF4-FFF2-40B4-BE49-F238E27FC236}">
                <a16:creationId xmlns:a16="http://schemas.microsoft.com/office/drawing/2014/main" id="{E2437030-26F1-6638-B48B-A49D86E49BA5}"/>
              </a:ext>
            </a:extLst>
          </p:cNvPr>
          <p:cNvCxnSpPr>
            <a:cxnSpLocks/>
          </p:cNvCxnSpPr>
          <p:nvPr/>
        </p:nvCxnSpPr>
        <p:spPr>
          <a:xfrm flipV="1">
            <a:off x="508543" y="1726113"/>
            <a:ext cx="723697" cy="7530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62CE8CE0-1A8D-15AC-7245-8B7CCD2BCE49}"/>
              </a:ext>
            </a:extLst>
          </p:cNvPr>
          <p:cNvCxnSpPr>
            <a:cxnSpLocks/>
            <a:endCxn id="16" idx="2"/>
          </p:cNvCxnSpPr>
          <p:nvPr/>
        </p:nvCxnSpPr>
        <p:spPr>
          <a:xfrm flipH="1" flipV="1">
            <a:off x="1446894" y="1723429"/>
            <a:ext cx="430804" cy="965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EE11D1D-DF79-1014-17A6-C2C47037E071}"/>
              </a:ext>
            </a:extLst>
          </p:cNvPr>
          <p:cNvCxnSpPr>
            <a:cxnSpLocks/>
          </p:cNvCxnSpPr>
          <p:nvPr/>
        </p:nvCxnSpPr>
        <p:spPr>
          <a:xfrm flipH="1" flipV="1">
            <a:off x="1682104" y="1726113"/>
            <a:ext cx="2531307" cy="34677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EE86280-0799-5DB2-62C9-6B2936CF18BB}"/>
              </a:ext>
            </a:extLst>
          </p:cNvPr>
          <p:cNvSpPr/>
          <p:nvPr/>
        </p:nvSpPr>
        <p:spPr>
          <a:xfrm>
            <a:off x="849835" y="1029548"/>
            <a:ext cx="1194117" cy="6938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PETROPHYSICS TAB, NAVIGATE AND SELECT DENSITY POROSITY</a:t>
            </a:r>
          </a:p>
        </p:txBody>
      </p:sp>
      <p:pic>
        <p:nvPicPr>
          <p:cNvPr id="20" name="Picture 19" descr="A screenshot of a computer">
            <a:extLst>
              <a:ext uri="{FF2B5EF4-FFF2-40B4-BE49-F238E27FC236}">
                <a16:creationId xmlns:a16="http://schemas.microsoft.com/office/drawing/2014/main" id="{2F92016C-FC01-AAB6-6761-37B19D42FF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5217" y="935189"/>
            <a:ext cx="3832664" cy="1489220"/>
          </a:xfrm>
          <a:prstGeom prst="rect">
            <a:avLst/>
          </a:prstGeom>
        </p:spPr>
      </p:pic>
      <p:pic>
        <p:nvPicPr>
          <p:cNvPr id="28" name="Picture 27" descr="A screenshot of a computer">
            <a:extLst>
              <a:ext uri="{FF2B5EF4-FFF2-40B4-BE49-F238E27FC236}">
                <a16:creationId xmlns:a16="http://schemas.microsoft.com/office/drawing/2014/main" id="{4358E214-49DF-ACE5-4C47-84C63447E6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6772" y="4591960"/>
            <a:ext cx="3775502" cy="2008069"/>
          </a:xfrm>
          <a:prstGeom prst="rect">
            <a:avLst/>
          </a:prstGeom>
        </p:spPr>
      </p:pic>
      <p:cxnSp>
        <p:nvCxnSpPr>
          <p:cNvPr id="29" name="Straight Arrow Connector 28">
            <a:extLst>
              <a:ext uri="{FF2B5EF4-FFF2-40B4-BE49-F238E27FC236}">
                <a16:creationId xmlns:a16="http://schemas.microsoft.com/office/drawing/2014/main" id="{6CC335EF-A816-4A71-A132-22D85515C715}"/>
              </a:ext>
            </a:extLst>
          </p:cNvPr>
          <p:cNvCxnSpPr>
            <a:cxnSpLocks/>
          </p:cNvCxnSpPr>
          <p:nvPr/>
        </p:nvCxnSpPr>
        <p:spPr>
          <a:xfrm flipH="1" flipV="1">
            <a:off x="4030042" y="1198010"/>
            <a:ext cx="2699191" cy="215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8C740255-BC20-8CE8-1DC8-1FF3ACB6261B}"/>
              </a:ext>
            </a:extLst>
          </p:cNvPr>
          <p:cNvSpPr/>
          <p:nvPr/>
        </p:nvSpPr>
        <p:spPr>
          <a:xfrm>
            <a:off x="2977912" y="973078"/>
            <a:ext cx="1052130" cy="57187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INSERT THE BULK DENSITY AND CLICK ON CREATE</a:t>
            </a:r>
          </a:p>
        </p:txBody>
      </p:sp>
      <p:grpSp>
        <p:nvGrpSpPr>
          <p:cNvPr id="42" name="Group 41">
            <a:extLst>
              <a:ext uri="{FF2B5EF4-FFF2-40B4-BE49-F238E27FC236}">
                <a16:creationId xmlns:a16="http://schemas.microsoft.com/office/drawing/2014/main" id="{EFFA6851-EF46-FE2C-DC72-2EE8521DF553}"/>
              </a:ext>
            </a:extLst>
          </p:cNvPr>
          <p:cNvGrpSpPr/>
          <p:nvPr/>
        </p:nvGrpSpPr>
        <p:grpSpPr>
          <a:xfrm>
            <a:off x="6324606" y="609400"/>
            <a:ext cx="5778964" cy="3570326"/>
            <a:chOff x="5971390" y="861994"/>
            <a:chExt cx="5778964" cy="3570326"/>
          </a:xfrm>
        </p:grpSpPr>
        <p:pic>
          <p:nvPicPr>
            <p:cNvPr id="26" name="Picture 25">
              <a:extLst>
                <a:ext uri="{FF2B5EF4-FFF2-40B4-BE49-F238E27FC236}">
                  <a16:creationId xmlns:a16="http://schemas.microsoft.com/office/drawing/2014/main" id="{49342A1E-C202-5DEA-85E4-8A0FD85031B7}"/>
                </a:ext>
              </a:extLst>
            </p:cNvPr>
            <p:cNvPicPr>
              <a:picLocks noChangeAspect="1"/>
            </p:cNvPicPr>
            <p:nvPr/>
          </p:nvPicPr>
          <p:blipFill>
            <a:blip r:embed="rId5">
              <a:extLst>
                <a:ext uri="{28A0092B-C50C-407E-A947-70E740481C1C}">
                  <a14:useLocalDpi xmlns:a14="http://schemas.microsoft.com/office/drawing/2010/main" val="0"/>
                </a:ext>
              </a:extLst>
            </a:blip>
            <a:srcRect b="42834"/>
            <a:stretch>
              <a:fillRect/>
            </a:stretch>
          </p:blipFill>
          <p:spPr>
            <a:xfrm>
              <a:off x="5971390" y="2739240"/>
              <a:ext cx="5778964" cy="1693080"/>
            </a:xfrm>
            <a:prstGeom prst="rect">
              <a:avLst/>
            </a:prstGeom>
          </p:spPr>
        </p:pic>
        <p:cxnSp>
          <p:nvCxnSpPr>
            <p:cNvPr id="34" name="Straight Arrow Connector 33">
              <a:extLst>
                <a:ext uri="{FF2B5EF4-FFF2-40B4-BE49-F238E27FC236}">
                  <a16:creationId xmlns:a16="http://schemas.microsoft.com/office/drawing/2014/main" id="{83AA3EE7-57B3-39E8-D0B7-5AA65CCD58B9}"/>
                </a:ext>
              </a:extLst>
            </p:cNvPr>
            <p:cNvCxnSpPr>
              <a:cxnSpLocks/>
            </p:cNvCxnSpPr>
            <p:nvPr/>
          </p:nvCxnSpPr>
          <p:spPr>
            <a:xfrm flipV="1">
              <a:off x="7359208" y="1723429"/>
              <a:ext cx="1735893" cy="21053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5B81593A-021B-C731-CE7F-ACCE0CAE585E}"/>
                </a:ext>
              </a:extLst>
            </p:cNvPr>
            <p:cNvSpPr/>
            <p:nvPr/>
          </p:nvSpPr>
          <p:spPr>
            <a:xfrm>
              <a:off x="8787856" y="861994"/>
              <a:ext cx="1637282" cy="8614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INSERT ONLY THE WATER AND OIL ZONES. INPUT THE CALCULATED DENSITY AND LEAVE WATER DENSITY AS 1G/CC. RUN THE EVALUATION</a:t>
              </a:r>
            </a:p>
          </p:txBody>
        </p:sp>
        <p:cxnSp>
          <p:nvCxnSpPr>
            <p:cNvPr id="39" name="Straight Arrow Connector 38">
              <a:extLst>
                <a:ext uri="{FF2B5EF4-FFF2-40B4-BE49-F238E27FC236}">
                  <a16:creationId xmlns:a16="http://schemas.microsoft.com/office/drawing/2014/main" id="{C91A4166-6DC7-196E-20CE-5B8C1687D7E2}"/>
                </a:ext>
              </a:extLst>
            </p:cNvPr>
            <p:cNvCxnSpPr>
              <a:cxnSpLocks/>
            </p:cNvCxnSpPr>
            <p:nvPr/>
          </p:nvCxnSpPr>
          <p:spPr>
            <a:xfrm flipH="1" flipV="1">
              <a:off x="9858813" y="1723429"/>
              <a:ext cx="959146" cy="18265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3" name="Rectangle 42">
            <a:extLst>
              <a:ext uri="{FF2B5EF4-FFF2-40B4-BE49-F238E27FC236}">
                <a16:creationId xmlns:a16="http://schemas.microsoft.com/office/drawing/2014/main" id="{690E7BE0-7459-B5D5-CB0D-3C6D0EFF8B86}"/>
              </a:ext>
            </a:extLst>
          </p:cNvPr>
          <p:cNvSpPr/>
          <p:nvPr/>
        </p:nvSpPr>
        <p:spPr>
          <a:xfrm>
            <a:off x="9872585" y="4412274"/>
            <a:ext cx="1070875" cy="63528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RESULT LOG DISPLAYED. SAVE THE MODIFIED VARIABLE (LOG)</a:t>
            </a:r>
          </a:p>
        </p:txBody>
      </p:sp>
      <p:cxnSp>
        <p:nvCxnSpPr>
          <p:cNvPr id="44" name="Straight Arrow Connector 43">
            <a:extLst>
              <a:ext uri="{FF2B5EF4-FFF2-40B4-BE49-F238E27FC236}">
                <a16:creationId xmlns:a16="http://schemas.microsoft.com/office/drawing/2014/main" id="{3AE8394D-1A6C-1315-1914-F4AB6EDA25DC}"/>
              </a:ext>
            </a:extLst>
          </p:cNvPr>
          <p:cNvCxnSpPr>
            <a:cxnSpLocks/>
          </p:cNvCxnSpPr>
          <p:nvPr/>
        </p:nvCxnSpPr>
        <p:spPr>
          <a:xfrm flipV="1">
            <a:off x="7350575" y="4645348"/>
            <a:ext cx="2522011" cy="640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6B386643-5A1E-0DAA-BC80-5FC0FFBFA0C0}"/>
              </a:ext>
            </a:extLst>
          </p:cNvPr>
          <p:cNvCxnSpPr>
            <a:cxnSpLocks/>
          </p:cNvCxnSpPr>
          <p:nvPr/>
        </p:nvCxnSpPr>
        <p:spPr>
          <a:xfrm flipV="1">
            <a:off x="8999080" y="4877896"/>
            <a:ext cx="873506" cy="7845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itle 1">
            <a:extLst>
              <a:ext uri="{FF2B5EF4-FFF2-40B4-BE49-F238E27FC236}">
                <a16:creationId xmlns:a16="http://schemas.microsoft.com/office/drawing/2014/main" id="{63E698BA-67A0-6993-8422-7DD3B450030B}"/>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POROSITY [RFT] (2)</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1041624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F63A-F513-5348-19BF-09EC13FFE236}"/>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D526AD77-1376-98DB-B0F9-CA2AE3035E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319" y="2428999"/>
            <a:ext cx="5977210" cy="4239156"/>
          </a:xfrm>
          <a:prstGeom prst="rect">
            <a:avLst/>
          </a:prstGeom>
        </p:spPr>
      </p:pic>
      <p:sp>
        <p:nvSpPr>
          <p:cNvPr id="6" name="Rectangle 5">
            <a:extLst>
              <a:ext uri="{FF2B5EF4-FFF2-40B4-BE49-F238E27FC236}">
                <a16:creationId xmlns:a16="http://schemas.microsoft.com/office/drawing/2014/main" id="{4C97125C-6DEF-66BA-AC5A-5BCA175014E9}"/>
              </a:ext>
            </a:extLst>
          </p:cNvPr>
          <p:cNvSpPr/>
          <p:nvPr/>
        </p:nvSpPr>
        <p:spPr>
          <a:xfrm>
            <a:off x="2535437" y="768698"/>
            <a:ext cx="2222457" cy="148715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ALTERNATIVELY, A QUICK LOOK EVALUATION METHOD CAN BE USED TO ESTIMATE POROSITY IN A CASE RFT LOG MAY NOT BE AVAILABLE. EVALUATE POROSITY FROM DENSITY JUST LIKE IN THE PREVOUIS SLIDE INSTEAD USING 1G/CC FOR THE FLUID DENSITY. INPUT THE FOLLOWING EQUATION IN DATA EDITOR AND PRESS ENTER. A POROSITY LOG FROM THE DENSITY POROSITY AND NEUTRON LOG WILL BE CREATED</a:t>
            </a:r>
          </a:p>
        </p:txBody>
      </p:sp>
      <p:pic>
        <p:nvPicPr>
          <p:cNvPr id="8" name="Picture 7" descr="A screenshot of a computer&#10;&#10;AI-generated content may be incorrect.">
            <a:extLst>
              <a:ext uri="{FF2B5EF4-FFF2-40B4-BE49-F238E27FC236}">
                <a16:creationId xmlns:a16="http://schemas.microsoft.com/office/drawing/2014/main" id="{BAC2E6F5-75E7-21D2-E12D-AAD5301A7B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0031" y="2221596"/>
            <a:ext cx="4417013" cy="4446559"/>
          </a:xfrm>
          <a:prstGeom prst="rect">
            <a:avLst/>
          </a:prstGeom>
        </p:spPr>
      </p:pic>
      <p:cxnSp>
        <p:nvCxnSpPr>
          <p:cNvPr id="13" name="Straight Arrow Connector 12">
            <a:extLst>
              <a:ext uri="{FF2B5EF4-FFF2-40B4-BE49-F238E27FC236}">
                <a16:creationId xmlns:a16="http://schemas.microsoft.com/office/drawing/2014/main" id="{FFEC80CB-3212-3B84-D840-86B00BE3E3EF}"/>
              </a:ext>
            </a:extLst>
          </p:cNvPr>
          <p:cNvCxnSpPr>
            <a:cxnSpLocks/>
            <a:endCxn id="6" idx="1"/>
          </p:cNvCxnSpPr>
          <p:nvPr/>
        </p:nvCxnSpPr>
        <p:spPr>
          <a:xfrm flipV="1">
            <a:off x="1793631" y="1512277"/>
            <a:ext cx="741806" cy="1034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ight Brace 15">
            <a:extLst>
              <a:ext uri="{FF2B5EF4-FFF2-40B4-BE49-F238E27FC236}">
                <a16:creationId xmlns:a16="http://schemas.microsoft.com/office/drawing/2014/main" id="{07DDF955-1100-ADF0-0815-14AB7FF0DCF7}"/>
              </a:ext>
            </a:extLst>
          </p:cNvPr>
          <p:cNvSpPr/>
          <p:nvPr/>
        </p:nvSpPr>
        <p:spPr>
          <a:xfrm rot="16200000">
            <a:off x="1671048" y="1629323"/>
            <a:ext cx="259726" cy="201520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888E2F61-DD5D-E36E-158C-C6B3DB4A080A}"/>
              </a:ext>
            </a:extLst>
          </p:cNvPr>
          <p:cNvCxnSpPr>
            <a:cxnSpLocks/>
          </p:cNvCxnSpPr>
          <p:nvPr/>
        </p:nvCxnSpPr>
        <p:spPr>
          <a:xfrm flipH="1" flipV="1">
            <a:off x="4774027" y="1505578"/>
            <a:ext cx="1100295" cy="1823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EFD040E5-4B00-AECA-B899-53F882C9E0F5}"/>
              </a:ext>
            </a:extLst>
          </p:cNvPr>
          <p:cNvSpPr/>
          <p:nvPr/>
        </p:nvSpPr>
        <p:spPr>
          <a:xfrm>
            <a:off x="7857811" y="795494"/>
            <a:ext cx="1901151" cy="71008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RESULTS SHOW THAT THE QUICK LOOK POROSITY AND THE RFT POROSITY TRACK EACH OTHER EXCEPT FOR THE SHALE INTERVALS.</a:t>
            </a:r>
          </a:p>
        </p:txBody>
      </p:sp>
      <p:cxnSp>
        <p:nvCxnSpPr>
          <p:cNvPr id="21" name="Straight Arrow Connector 20">
            <a:extLst>
              <a:ext uri="{FF2B5EF4-FFF2-40B4-BE49-F238E27FC236}">
                <a16:creationId xmlns:a16="http://schemas.microsoft.com/office/drawing/2014/main" id="{735FA6DE-52B9-9418-864E-2EB1C5EB7400}"/>
              </a:ext>
            </a:extLst>
          </p:cNvPr>
          <p:cNvCxnSpPr>
            <a:cxnSpLocks/>
          </p:cNvCxnSpPr>
          <p:nvPr/>
        </p:nvCxnSpPr>
        <p:spPr>
          <a:xfrm flipH="1" flipV="1">
            <a:off x="9365064" y="1512277"/>
            <a:ext cx="1090246" cy="22659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itle 1">
            <a:extLst>
              <a:ext uri="{FF2B5EF4-FFF2-40B4-BE49-F238E27FC236}">
                <a16:creationId xmlns:a16="http://schemas.microsoft.com/office/drawing/2014/main" id="{2ECDF796-8E24-2D58-BCF9-7ABADC007109}"/>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POROSITY [QUICK LOOK]</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683519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D8005-BF32-5E53-5F40-166A0D85C15C}"/>
            </a:ext>
          </a:extLst>
        </p:cNvPr>
        <p:cNvGrpSpPr/>
        <p:nvPr/>
      </p:nvGrpSpPr>
      <p:grpSpPr>
        <a:xfrm>
          <a:off x="0" y="0"/>
          <a:ext cx="0" cy="0"/>
          <a:chOff x="0" y="0"/>
          <a:chExt cx="0" cy="0"/>
        </a:xfrm>
      </p:grpSpPr>
      <p:pic>
        <p:nvPicPr>
          <p:cNvPr id="10" name="Picture 9" descr="A screenshot of a computer">
            <a:extLst>
              <a:ext uri="{FF2B5EF4-FFF2-40B4-BE49-F238E27FC236}">
                <a16:creationId xmlns:a16="http://schemas.microsoft.com/office/drawing/2014/main" id="{C943F062-A9C3-DA31-39A7-955ECB1475A0}"/>
              </a:ext>
            </a:extLst>
          </p:cNvPr>
          <p:cNvPicPr>
            <a:picLocks noChangeAspect="1"/>
          </p:cNvPicPr>
          <p:nvPr/>
        </p:nvPicPr>
        <p:blipFill>
          <a:blip r:embed="rId2">
            <a:extLst>
              <a:ext uri="{28A0092B-C50C-407E-A947-70E740481C1C}">
                <a14:useLocalDpi xmlns:a14="http://schemas.microsoft.com/office/drawing/2010/main" val="0"/>
              </a:ext>
            </a:extLst>
          </a:blip>
          <a:srcRect r="17590"/>
          <a:stretch>
            <a:fillRect/>
          </a:stretch>
        </p:blipFill>
        <p:spPr>
          <a:xfrm>
            <a:off x="335474" y="3022724"/>
            <a:ext cx="5234053" cy="3468597"/>
          </a:xfrm>
          <a:prstGeom prst="rect">
            <a:avLst/>
          </a:prstGeom>
        </p:spPr>
      </p:pic>
      <p:sp>
        <p:nvSpPr>
          <p:cNvPr id="2" name="Rectangle 1">
            <a:extLst>
              <a:ext uri="{FF2B5EF4-FFF2-40B4-BE49-F238E27FC236}">
                <a16:creationId xmlns:a16="http://schemas.microsoft.com/office/drawing/2014/main" id="{FAF6A8E5-070A-5064-3602-FB27F8410B40}"/>
              </a:ext>
            </a:extLst>
          </p:cNvPr>
          <p:cNvSpPr/>
          <p:nvPr/>
        </p:nvSpPr>
        <p:spPr>
          <a:xfrm>
            <a:off x="1601920" y="1115377"/>
            <a:ext cx="1901151" cy="113883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THE SHALE INTERVALS ARE NOT SUPPOSED TO BE CORRECTED FOR SO WE GO BACK TO OUR DATA EDITOR AND INPUT THE SAME VALUES FOR THE DENSITY POROSITY IN OUR NEWLY CREATED POR_Q LOG IN THE SHALE INTERVALS.</a:t>
            </a:r>
          </a:p>
        </p:txBody>
      </p:sp>
      <p:cxnSp>
        <p:nvCxnSpPr>
          <p:cNvPr id="3" name="Straight Arrow Connector 2">
            <a:extLst>
              <a:ext uri="{FF2B5EF4-FFF2-40B4-BE49-F238E27FC236}">
                <a16:creationId xmlns:a16="http://schemas.microsoft.com/office/drawing/2014/main" id="{A902FA10-8D5D-254C-2094-19DCB0FA5FC8}"/>
              </a:ext>
            </a:extLst>
          </p:cNvPr>
          <p:cNvCxnSpPr>
            <a:cxnSpLocks/>
          </p:cNvCxnSpPr>
          <p:nvPr/>
        </p:nvCxnSpPr>
        <p:spPr>
          <a:xfrm flipV="1">
            <a:off x="938849" y="2254216"/>
            <a:ext cx="663071" cy="17261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5EE2E50-A909-C6C5-E4F9-B73E9A229D6B}"/>
              </a:ext>
            </a:extLst>
          </p:cNvPr>
          <p:cNvCxnSpPr>
            <a:cxnSpLocks/>
          </p:cNvCxnSpPr>
          <p:nvPr/>
        </p:nvCxnSpPr>
        <p:spPr>
          <a:xfrm flipH="1" flipV="1">
            <a:off x="3503071" y="2254216"/>
            <a:ext cx="1100295" cy="1823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 name="Picture 11" descr="A screenshot of a chart">
            <a:extLst>
              <a:ext uri="{FF2B5EF4-FFF2-40B4-BE49-F238E27FC236}">
                <a16:creationId xmlns:a16="http://schemas.microsoft.com/office/drawing/2014/main" id="{F3C89460-4539-5671-EB98-D6D7E6DE3B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2154" y="2427523"/>
            <a:ext cx="4790998" cy="4205603"/>
          </a:xfrm>
          <a:prstGeom prst="rect">
            <a:avLst/>
          </a:prstGeom>
        </p:spPr>
      </p:pic>
      <p:sp>
        <p:nvSpPr>
          <p:cNvPr id="8" name="Rectangle 7">
            <a:extLst>
              <a:ext uri="{FF2B5EF4-FFF2-40B4-BE49-F238E27FC236}">
                <a16:creationId xmlns:a16="http://schemas.microsoft.com/office/drawing/2014/main" id="{20F58D54-87E6-8DB2-E261-05FB2E67C8B5}"/>
              </a:ext>
            </a:extLst>
          </p:cNvPr>
          <p:cNvSpPr/>
          <p:nvPr/>
        </p:nvSpPr>
        <p:spPr>
          <a:xfrm>
            <a:off x="7628150" y="1515850"/>
            <a:ext cx="2009724" cy="61392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OUR QUICK LOOK EVALUATED POROSITY MATCHES WITH OUR POROSITY EVALUATED FROM RFT DATA SO EITHER LOG CAN BE USED</a:t>
            </a:r>
          </a:p>
        </p:txBody>
      </p:sp>
      <p:cxnSp>
        <p:nvCxnSpPr>
          <p:cNvPr id="9" name="Straight Arrow Connector 8">
            <a:extLst>
              <a:ext uri="{FF2B5EF4-FFF2-40B4-BE49-F238E27FC236}">
                <a16:creationId xmlns:a16="http://schemas.microsoft.com/office/drawing/2014/main" id="{1871C7DC-0EF9-D466-461F-B3E16122CAB1}"/>
              </a:ext>
            </a:extLst>
          </p:cNvPr>
          <p:cNvCxnSpPr>
            <a:cxnSpLocks/>
          </p:cNvCxnSpPr>
          <p:nvPr/>
        </p:nvCxnSpPr>
        <p:spPr>
          <a:xfrm flipH="1" flipV="1">
            <a:off x="9442280" y="2129771"/>
            <a:ext cx="1279089" cy="1917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itle 1">
            <a:extLst>
              <a:ext uri="{FF2B5EF4-FFF2-40B4-BE49-F238E27FC236}">
                <a16:creationId xmlns:a16="http://schemas.microsoft.com/office/drawing/2014/main" id="{B0862D2B-6C28-6FDE-D139-9B733E10E361}"/>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POROSITY [QUICK LOOK] (2)</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114286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AB09E-A854-BD85-23D4-8B9EF2AB75B7}"/>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AB7E4C8-CBA7-06F0-BAE8-DC45ED13445E}"/>
              </a:ext>
            </a:extLst>
          </p:cNvPr>
          <p:cNvPicPr>
            <a:picLocks noChangeAspect="1"/>
          </p:cNvPicPr>
          <p:nvPr/>
        </p:nvPicPr>
        <p:blipFill>
          <a:blip r:embed="rId2">
            <a:extLst>
              <a:ext uri="{28A0092B-C50C-407E-A947-70E740481C1C}">
                <a14:useLocalDpi xmlns:a14="http://schemas.microsoft.com/office/drawing/2010/main" val="0"/>
              </a:ext>
            </a:extLst>
          </a:blip>
          <a:srcRect r="11731"/>
          <a:stretch>
            <a:fillRect/>
          </a:stretch>
        </p:blipFill>
        <p:spPr>
          <a:xfrm>
            <a:off x="120581" y="3175512"/>
            <a:ext cx="6114421" cy="352127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CA55B68-E58D-5212-21D7-9AB64F095054}"/>
              </a:ext>
            </a:extLst>
          </p:cNvPr>
          <p:cNvPicPr>
            <a:picLocks noChangeAspect="1"/>
          </p:cNvPicPr>
          <p:nvPr/>
        </p:nvPicPr>
        <p:blipFill>
          <a:blip r:embed="rId3">
            <a:extLst>
              <a:ext uri="{28A0092B-C50C-407E-A947-70E740481C1C}">
                <a14:useLocalDpi xmlns:a14="http://schemas.microsoft.com/office/drawing/2010/main" val="0"/>
              </a:ext>
            </a:extLst>
          </a:blip>
          <a:srcRect l="19390" t="8506" r="1966" b="20298"/>
          <a:stretch>
            <a:fillRect/>
          </a:stretch>
        </p:blipFill>
        <p:spPr>
          <a:xfrm>
            <a:off x="3955701" y="446969"/>
            <a:ext cx="4280598" cy="2592655"/>
          </a:xfrm>
          <a:prstGeom prst="rect">
            <a:avLst/>
          </a:prstGeom>
        </p:spPr>
      </p:pic>
      <p:pic>
        <p:nvPicPr>
          <p:cNvPr id="7" name="Picture 6" descr="A graph with a line and a blue line">
            <a:extLst>
              <a:ext uri="{FF2B5EF4-FFF2-40B4-BE49-F238E27FC236}">
                <a16:creationId xmlns:a16="http://schemas.microsoft.com/office/drawing/2014/main" id="{20A9905F-AE6F-F0F6-722F-FB49065B18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2006" y="2887011"/>
            <a:ext cx="3701401" cy="2868323"/>
          </a:xfrm>
          <a:prstGeom prst="rect">
            <a:avLst/>
          </a:prstGeom>
        </p:spPr>
      </p:pic>
      <p:sp>
        <p:nvSpPr>
          <p:cNvPr id="8" name="Rectangle 7">
            <a:extLst>
              <a:ext uri="{FF2B5EF4-FFF2-40B4-BE49-F238E27FC236}">
                <a16:creationId xmlns:a16="http://schemas.microsoft.com/office/drawing/2014/main" id="{26A0132F-D511-D753-4E16-9D12F3DBEB73}"/>
              </a:ext>
            </a:extLst>
          </p:cNvPr>
          <p:cNvSpPr/>
          <p:nvPr/>
        </p:nvSpPr>
        <p:spPr>
          <a:xfrm>
            <a:off x="1601920" y="1552470"/>
            <a:ext cx="1613553" cy="7017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PLOT TAB, CLICK ON CROSS PLOT. DRAG AND DROP PERMEABILITY AND POROSITY CORE LOGS</a:t>
            </a:r>
          </a:p>
        </p:txBody>
      </p:sp>
      <p:sp>
        <p:nvSpPr>
          <p:cNvPr id="9" name="Arrow: Curved Down 8">
            <a:extLst>
              <a:ext uri="{FF2B5EF4-FFF2-40B4-BE49-F238E27FC236}">
                <a16:creationId xmlns:a16="http://schemas.microsoft.com/office/drawing/2014/main" id="{1E2C32BF-0E60-60AD-D04E-D4677CE74C14}"/>
              </a:ext>
            </a:extLst>
          </p:cNvPr>
          <p:cNvSpPr/>
          <p:nvPr/>
        </p:nvSpPr>
        <p:spPr>
          <a:xfrm>
            <a:off x="1057949" y="4434558"/>
            <a:ext cx="1750565" cy="302335"/>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0" name="Straight Arrow Connector 9">
            <a:extLst>
              <a:ext uri="{FF2B5EF4-FFF2-40B4-BE49-F238E27FC236}">
                <a16:creationId xmlns:a16="http://schemas.microsoft.com/office/drawing/2014/main" id="{DF49B4EA-9B47-1CDF-9885-2D72653647FB}"/>
              </a:ext>
            </a:extLst>
          </p:cNvPr>
          <p:cNvCxnSpPr>
            <a:cxnSpLocks/>
          </p:cNvCxnSpPr>
          <p:nvPr/>
        </p:nvCxnSpPr>
        <p:spPr>
          <a:xfrm flipV="1">
            <a:off x="673786" y="2254216"/>
            <a:ext cx="1216686" cy="1174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E1D90DC-2ECC-1B88-F42C-D09027172978}"/>
              </a:ext>
            </a:extLst>
          </p:cNvPr>
          <p:cNvCxnSpPr>
            <a:cxnSpLocks/>
            <a:endCxn id="8" idx="2"/>
          </p:cNvCxnSpPr>
          <p:nvPr/>
        </p:nvCxnSpPr>
        <p:spPr>
          <a:xfrm flipV="1">
            <a:off x="1601920" y="2254216"/>
            <a:ext cx="806777" cy="2180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5065990-5E1A-9AB0-62F8-61E161404895}"/>
              </a:ext>
            </a:extLst>
          </p:cNvPr>
          <p:cNvCxnSpPr>
            <a:cxnSpLocks/>
          </p:cNvCxnSpPr>
          <p:nvPr/>
        </p:nvCxnSpPr>
        <p:spPr>
          <a:xfrm flipV="1">
            <a:off x="7134330" y="1180681"/>
            <a:ext cx="1622808" cy="452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803C1131-AA70-3385-B847-7EF5DA2D781C}"/>
              </a:ext>
            </a:extLst>
          </p:cNvPr>
          <p:cNvSpPr/>
          <p:nvPr/>
        </p:nvSpPr>
        <p:spPr>
          <a:xfrm>
            <a:off x="8757139" y="875026"/>
            <a:ext cx="1592664" cy="6121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RIGHT CLICK ON THE CROSS PLOT AND SELECT THIS ICON TO ADD A REGRESSION LINE</a:t>
            </a:r>
          </a:p>
        </p:txBody>
      </p:sp>
      <p:sp>
        <p:nvSpPr>
          <p:cNvPr id="22" name="Right Brace 21">
            <a:extLst>
              <a:ext uri="{FF2B5EF4-FFF2-40B4-BE49-F238E27FC236}">
                <a16:creationId xmlns:a16="http://schemas.microsoft.com/office/drawing/2014/main" id="{800F1FF7-C8EF-CF25-8C76-DDF321535ACC}"/>
              </a:ext>
            </a:extLst>
          </p:cNvPr>
          <p:cNvSpPr/>
          <p:nvPr/>
        </p:nvSpPr>
        <p:spPr>
          <a:xfrm rot="5400000">
            <a:off x="9343246" y="4760571"/>
            <a:ext cx="181710" cy="2015207"/>
          </a:xfrm>
          <a:prstGeom prst="rightBrace">
            <a:avLst>
              <a:gd name="adj1" fmla="val 8333"/>
              <a:gd name="adj2" fmla="val 4902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23" name="Straight Arrow Connector 22">
            <a:extLst>
              <a:ext uri="{FF2B5EF4-FFF2-40B4-BE49-F238E27FC236}">
                <a16:creationId xmlns:a16="http://schemas.microsoft.com/office/drawing/2014/main" id="{24F964EA-A2C1-8E51-1ABE-D04FBFF118EE}"/>
              </a:ext>
            </a:extLst>
          </p:cNvPr>
          <p:cNvCxnSpPr>
            <a:cxnSpLocks/>
          </p:cNvCxnSpPr>
          <p:nvPr/>
        </p:nvCxnSpPr>
        <p:spPr>
          <a:xfrm>
            <a:off x="9456961" y="5814019"/>
            <a:ext cx="0" cy="323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4C05B8D0-0692-DDF3-5356-CAA8D9F1B272}"/>
              </a:ext>
            </a:extLst>
          </p:cNvPr>
          <p:cNvSpPr/>
          <p:nvPr/>
        </p:nvSpPr>
        <p:spPr>
          <a:xfrm>
            <a:off x="8695821" y="6096112"/>
            <a:ext cx="1653982" cy="66663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EQUATION DEFINING THE RELATIONSHIP BETWEEN POROSITY AND PERMEABILITY FROM CORE ANALYSIS</a:t>
            </a:r>
          </a:p>
        </p:txBody>
      </p:sp>
      <p:sp>
        <p:nvSpPr>
          <p:cNvPr id="29" name="Title 1">
            <a:extLst>
              <a:ext uri="{FF2B5EF4-FFF2-40B4-BE49-F238E27FC236}">
                <a16:creationId xmlns:a16="http://schemas.microsoft.com/office/drawing/2014/main" id="{82EF633D-2D6D-9623-C360-411784D10A51}"/>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PERMEABILITY</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541744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086F4-D6B3-AC8F-E1CE-A4FC2AAB8771}"/>
            </a:ext>
          </a:extLst>
        </p:cNvPr>
        <p:cNvGrpSpPr/>
        <p:nvPr/>
      </p:nvGrpSpPr>
      <p:grpSpPr>
        <a:xfrm>
          <a:off x="0" y="0"/>
          <a:ext cx="0" cy="0"/>
          <a:chOff x="0" y="0"/>
          <a:chExt cx="0" cy="0"/>
        </a:xfrm>
      </p:grpSpPr>
      <p:pic>
        <p:nvPicPr>
          <p:cNvPr id="3" name="Picture 2" descr="A screenshot of a computer">
            <a:extLst>
              <a:ext uri="{FF2B5EF4-FFF2-40B4-BE49-F238E27FC236}">
                <a16:creationId xmlns:a16="http://schemas.microsoft.com/office/drawing/2014/main" id="{D9B31C54-3F0F-2C9D-5741-DC983F7472AB}"/>
              </a:ext>
            </a:extLst>
          </p:cNvPr>
          <p:cNvPicPr>
            <a:picLocks noChangeAspect="1"/>
          </p:cNvPicPr>
          <p:nvPr/>
        </p:nvPicPr>
        <p:blipFill>
          <a:blip r:embed="rId2">
            <a:extLst>
              <a:ext uri="{28A0092B-C50C-407E-A947-70E740481C1C}">
                <a14:useLocalDpi xmlns:a14="http://schemas.microsoft.com/office/drawing/2010/main" val="0"/>
              </a:ext>
            </a:extLst>
          </a:blip>
          <a:srcRect r="32753" b="19885"/>
          <a:stretch>
            <a:fillRect/>
          </a:stretch>
        </p:blipFill>
        <p:spPr>
          <a:xfrm>
            <a:off x="339091" y="3512819"/>
            <a:ext cx="2815589" cy="3055621"/>
          </a:xfrm>
          <a:prstGeom prst="rect">
            <a:avLst/>
          </a:prstGeom>
        </p:spPr>
      </p:pic>
      <p:pic>
        <p:nvPicPr>
          <p:cNvPr id="5" name="Picture 4" descr="A screen shot of a graph">
            <a:extLst>
              <a:ext uri="{FF2B5EF4-FFF2-40B4-BE49-F238E27FC236}">
                <a16:creationId xmlns:a16="http://schemas.microsoft.com/office/drawing/2014/main" id="{99C77732-9BA0-BC64-A01F-871EB0EAC1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198" y="2150655"/>
            <a:ext cx="5967259" cy="4417785"/>
          </a:xfrm>
          <a:prstGeom prst="rect">
            <a:avLst/>
          </a:prstGeom>
        </p:spPr>
      </p:pic>
      <p:cxnSp>
        <p:nvCxnSpPr>
          <p:cNvPr id="6" name="Straight Arrow Connector 5">
            <a:extLst>
              <a:ext uri="{FF2B5EF4-FFF2-40B4-BE49-F238E27FC236}">
                <a16:creationId xmlns:a16="http://schemas.microsoft.com/office/drawing/2014/main" id="{786EA6E9-255A-5F87-8EFC-B086398D4DBE}"/>
              </a:ext>
            </a:extLst>
          </p:cNvPr>
          <p:cNvCxnSpPr>
            <a:cxnSpLocks/>
            <a:stCxn id="9" idx="1"/>
          </p:cNvCxnSpPr>
          <p:nvPr/>
        </p:nvCxnSpPr>
        <p:spPr>
          <a:xfrm flipV="1">
            <a:off x="1552119" y="2415581"/>
            <a:ext cx="129986" cy="11416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ight Brace 8">
            <a:extLst>
              <a:ext uri="{FF2B5EF4-FFF2-40B4-BE49-F238E27FC236}">
                <a16:creationId xmlns:a16="http://schemas.microsoft.com/office/drawing/2014/main" id="{D8380AAE-0D19-818A-D410-39AD70BF34AD}"/>
              </a:ext>
            </a:extLst>
          </p:cNvPr>
          <p:cNvSpPr/>
          <p:nvPr/>
        </p:nvSpPr>
        <p:spPr>
          <a:xfrm rot="16200000">
            <a:off x="1471208" y="2473622"/>
            <a:ext cx="207947" cy="2375161"/>
          </a:xfrm>
          <a:prstGeom prst="rightBrace">
            <a:avLst>
              <a:gd name="adj1" fmla="val 8333"/>
              <a:gd name="adj2" fmla="val 4902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Rectangle 14">
            <a:extLst>
              <a:ext uri="{FF2B5EF4-FFF2-40B4-BE49-F238E27FC236}">
                <a16:creationId xmlns:a16="http://schemas.microsoft.com/office/drawing/2014/main" id="{7B7372B0-FDD9-8722-D069-E2B556A41DAD}"/>
              </a:ext>
            </a:extLst>
          </p:cNvPr>
          <p:cNvSpPr/>
          <p:nvPr/>
        </p:nvSpPr>
        <p:spPr>
          <a:xfrm>
            <a:off x="738367" y="1748064"/>
            <a:ext cx="1685522" cy="7017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INPUT THE PERMEABILITY EQUATION FROM THE CROSS PLOT ON DATA EDITOR AND PRESS ENTER TO CREATRE A PERMEABILITY LOG</a:t>
            </a:r>
          </a:p>
        </p:txBody>
      </p:sp>
      <p:cxnSp>
        <p:nvCxnSpPr>
          <p:cNvPr id="16" name="Straight Arrow Connector 15">
            <a:extLst>
              <a:ext uri="{FF2B5EF4-FFF2-40B4-BE49-F238E27FC236}">
                <a16:creationId xmlns:a16="http://schemas.microsoft.com/office/drawing/2014/main" id="{8F4905DB-73D3-E2AB-5664-EEB0397CD0FB}"/>
              </a:ext>
            </a:extLst>
          </p:cNvPr>
          <p:cNvCxnSpPr>
            <a:cxnSpLocks/>
          </p:cNvCxnSpPr>
          <p:nvPr/>
        </p:nvCxnSpPr>
        <p:spPr>
          <a:xfrm flipH="1" flipV="1">
            <a:off x="6439919" y="1691884"/>
            <a:ext cx="3153946" cy="14082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C1AAD2C4-179E-BD4E-963F-7667303D6C10}"/>
              </a:ext>
            </a:extLst>
          </p:cNvPr>
          <p:cNvSpPr/>
          <p:nvPr/>
        </p:nvSpPr>
        <p:spPr>
          <a:xfrm>
            <a:off x="4777375" y="1212680"/>
            <a:ext cx="1685522" cy="53538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SAVE MODIFIED VARIABLE AND DISPLAY PERMEABILITY LOG ON WELL LAYOUT</a:t>
            </a:r>
          </a:p>
        </p:txBody>
      </p:sp>
      <p:sp>
        <p:nvSpPr>
          <p:cNvPr id="20" name="Title 1">
            <a:extLst>
              <a:ext uri="{FF2B5EF4-FFF2-40B4-BE49-F238E27FC236}">
                <a16:creationId xmlns:a16="http://schemas.microsoft.com/office/drawing/2014/main" id="{548D8C59-FC95-B989-43AB-F1FA1DEBAFE4}"/>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PERMEABILITY (2)</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853099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0DD99-EDCE-AE99-635E-3A52416198EB}"/>
            </a:ext>
          </a:extLst>
        </p:cNvPr>
        <p:cNvGrpSpPr/>
        <p:nvPr/>
      </p:nvGrpSpPr>
      <p:grpSpPr>
        <a:xfrm>
          <a:off x="0" y="0"/>
          <a:ext cx="0" cy="0"/>
          <a:chOff x="0" y="0"/>
          <a:chExt cx="0" cy="0"/>
        </a:xfrm>
      </p:grpSpPr>
      <p:pic>
        <p:nvPicPr>
          <p:cNvPr id="3" name="Picture 2" descr="A screenshot of a computer">
            <a:extLst>
              <a:ext uri="{FF2B5EF4-FFF2-40B4-BE49-F238E27FC236}">
                <a16:creationId xmlns:a16="http://schemas.microsoft.com/office/drawing/2014/main" id="{40103BD3-E18B-93EC-912E-6CFF724F8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58" y="2089405"/>
            <a:ext cx="4621443" cy="173768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4EC062A-8218-3707-73B4-81A8DE9A9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7669" y="1325367"/>
            <a:ext cx="3567165" cy="1387400"/>
          </a:xfrm>
          <a:prstGeom prst="rect">
            <a:avLst/>
          </a:prstGeom>
        </p:spPr>
      </p:pic>
      <p:cxnSp>
        <p:nvCxnSpPr>
          <p:cNvPr id="10" name="Straight Arrow Connector 9">
            <a:extLst>
              <a:ext uri="{FF2B5EF4-FFF2-40B4-BE49-F238E27FC236}">
                <a16:creationId xmlns:a16="http://schemas.microsoft.com/office/drawing/2014/main" id="{F3F107F0-A495-3C63-AAA6-F45706614532}"/>
              </a:ext>
            </a:extLst>
          </p:cNvPr>
          <p:cNvCxnSpPr>
            <a:cxnSpLocks/>
          </p:cNvCxnSpPr>
          <p:nvPr/>
        </p:nvCxnSpPr>
        <p:spPr>
          <a:xfrm flipH="1" flipV="1">
            <a:off x="1648327" y="1969477"/>
            <a:ext cx="582805" cy="9887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2E24590-054B-5CDB-F3DF-E8402DEC5E58}"/>
              </a:ext>
            </a:extLst>
          </p:cNvPr>
          <p:cNvSpPr/>
          <p:nvPr/>
        </p:nvSpPr>
        <p:spPr>
          <a:xfrm>
            <a:off x="769999" y="1267731"/>
            <a:ext cx="1685522" cy="7017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PETROPHYSICS TAB, CLICK ON QUANTI PLOTS AND SELECT PICKETT PLOT (RESISTIVITY)</a:t>
            </a:r>
          </a:p>
        </p:txBody>
      </p:sp>
      <p:cxnSp>
        <p:nvCxnSpPr>
          <p:cNvPr id="15" name="Straight Arrow Connector 14">
            <a:extLst>
              <a:ext uri="{FF2B5EF4-FFF2-40B4-BE49-F238E27FC236}">
                <a16:creationId xmlns:a16="http://schemas.microsoft.com/office/drawing/2014/main" id="{AA3AF549-7CCE-5DFE-107A-D8F4A386F8DE}"/>
              </a:ext>
            </a:extLst>
          </p:cNvPr>
          <p:cNvCxnSpPr>
            <a:cxnSpLocks/>
          </p:cNvCxnSpPr>
          <p:nvPr/>
        </p:nvCxnSpPr>
        <p:spPr>
          <a:xfrm flipH="1" flipV="1">
            <a:off x="4974495" y="1597204"/>
            <a:ext cx="2580613" cy="2110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D6219D3C-38E6-3C64-3304-806968B8EC0B}"/>
              </a:ext>
            </a:extLst>
          </p:cNvPr>
          <p:cNvSpPr/>
          <p:nvPr/>
        </p:nvSpPr>
        <p:spPr>
          <a:xfrm>
            <a:off x="3597310" y="1421842"/>
            <a:ext cx="1377184" cy="395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INPUTS AND CLICK ON CREATE</a:t>
            </a:r>
          </a:p>
        </p:txBody>
      </p:sp>
      <p:grpSp>
        <p:nvGrpSpPr>
          <p:cNvPr id="28" name="Group 27">
            <a:extLst>
              <a:ext uri="{FF2B5EF4-FFF2-40B4-BE49-F238E27FC236}">
                <a16:creationId xmlns:a16="http://schemas.microsoft.com/office/drawing/2014/main" id="{4856E7D1-338C-2F6C-42DA-E499B337B86C}"/>
              </a:ext>
            </a:extLst>
          </p:cNvPr>
          <p:cNvGrpSpPr/>
          <p:nvPr/>
        </p:nvGrpSpPr>
        <p:grpSpPr>
          <a:xfrm>
            <a:off x="4831377" y="1653647"/>
            <a:ext cx="7054951" cy="4732647"/>
            <a:chOff x="190919" y="2444619"/>
            <a:chExt cx="7054951" cy="4732647"/>
          </a:xfrm>
        </p:grpSpPr>
        <p:pic>
          <p:nvPicPr>
            <p:cNvPr id="7" name="Picture 6" descr="A screenshot of a computer&#10;&#10;AI-generated content may be incorrect.">
              <a:extLst>
                <a:ext uri="{FF2B5EF4-FFF2-40B4-BE49-F238E27FC236}">
                  <a16:creationId xmlns:a16="http://schemas.microsoft.com/office/drawing/2014/main" id="{B1ED48F7-B7A4-F6FB-7B03-3261057716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5276" y="3749218"/>
              <a:ext cx="4152361" cy="3428048"/>
            </a:xfrm>
            <a:prstGeom prst="rect">
              <a:avLst/>
            </a:prstGeom>
          </p:spPr>
        </p:pic>
        <p:cxnSp>
          <p:nvCxnSpPr>
            <p:cNvPr id="19" name="Straight Arrow Connector 18">
              <a:extLst>
                <a:ext uri="{FF2B5EF4-FFF2-40B4-BE49-F238E27FC236}">
                  <a16:creationId xmlns:a16="http://schemas.microsoft.com/office/drawing/2014/main" id="{823DA743-7F7B-7030-98B5-D24EE5B68604}"/>
                </a:ext>
              </a:extLst>
            </p:cNvPr>
            <p:cNvCxnSpPr>
              <a:cxnSpLocks/>
              <a:endCxn id="27" idx="1"/>
            </p:cNvCxnSpPr>
            <p:nvPr/>
          </p:nvCxnSpPr>
          <p:spPr>
            <a:xfrm flipV="1">
              <a:off x="4395966" y="3078188"/>
              <a:ext cx="1355347" cy="16539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912D0DF-6E3A-743C-AA9E-7DA97B9E535D}"/>
                </a:ext>
              </a:extLst>
            </p:cNvPr>
            <p:cNvCxnSpPr>
              <a:cxnSpLocks/>
            </p:cNvCxnSpPr>
            <p:nvPr/>
          </p:nvCxnSpPr>
          <p:spPr>
            <a:xfrm flipH="1" flipV="1">
              <a:off x="1371600" y="4667459"/>
              <a:ext cx="705457" cy="4295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E27AE953-3FEE-A9F6-4207-D32F7D473210}"/>
                </a:ext>
              </a:extLst>
            </p:cNvPr>
            <p:cNvSpPr/>
            <p:nvPr/>
          </p:nvSpPr>
          <p:spPr>
            <a:xfrm>
              <a:off x="190919" y="4145234"/>
              <a:ext cx="1180681" cy="52222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PARTICULAR LOG TO BE USED FOR THE EVALUATION</a:t>
              </a:r>
            </a:p>
          </p:txBody>
        </p:sp>
        <p:sp>
          <p:nvSpPr>
            <p:cNvPr id="27" name="Rectangle 26">
              <a:extLst>
                <a:ext uri="{FF2B5EF4-FFF2-40B4-BE49-F238E27FC236}">
                  <a16:creationId xmlns:a16="http://schemas.microsoft.com/office/drawing/2014/main" id="{5F7BEE37-1A23-D0F5-1BCB-5FCE5BD1B730}"/>
                </a:ext>
              </a:extLst>
            </p:cNvPr>
            <p:cNvSpPr/>
            <p:nvPr/>
          </p:nvSpPr>
          <p:spPr>
            <a:xfrm>
              <a:off x="5751313" y="2444619"/>
              <a:ext cx="1494557" cy="126713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RIGHT CLICK ON THE PICKETT PLOT AND CLICK ON SELECTION ONLY. THIS WILL SHOW ONLY HIGHLIGHTED POINTS ON THE PLOT. MAKE SURE TO RIGHLIGHT THE CLEAN SAND INTERVALS IN THE WATER LEG</a:t>
              </a:r>
            </a:p>
          </p:txBody>
        </p:sp>
      </p:grpSp>
      <p:sp>
        <p:nvSpPr>
          <p:cNvPr id="33" name="Title 1">
            <a:extLst>
              <a:ext uri="{FF2B5EF4-FFF2-40B4-BE49-F238E27FC236}">
                <a16:creationId xmlns:a16="http://schemas.microsoft.com/office/drawing/2014/main" id="{CCD3C0B4-EA63-9E51-9745-75414756AE85}"/>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SATURATION</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594692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DD98A-330B-E936-D8E4-4CD39BD95769}"/>
            </a:ext>
          </a:extLst>
        </p:cNvPr>
        <p:cNvGrpSpPr/>
        <p:nvPr/>
      </p:nvGrpSpPr>
      <p:grpSpPr>
        <a:xfrm>
          <a:off x="0" y="0"/>
          <a:ext cx="0" cy="0"/>
          <a:chOff x="0" y="0"/>
          <a:chExt cx="0" cy="0"/>
        </a:xfrm>
      </p:grpSpPr>
      <p:pic>
        <p:nvPicPr>
          <p:cNvPr id="9" name="Picture 8" descr="A screenshot of a computer">
            <a:extLst>
              <a:ext uri="{FF2B5EF4-FFF2-40B4-BE49-F238E27FC236}">
                <a16:creationId xmlns:a16="http://schemas.microsoft.com/office/drawing/2014/main" id="{412A05B7-2C88-BD99-C3DC-1A60FCA9F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030" y="2685502"/>
            <a:ext cx="9346624" cy="3930452"/>
          </a:xfrm>
          <a:prstGeom prst="rect">
            <a:avLst/>
          </a:prstGeom>
        </p:spPr>
      </p:pic>
      <p:cxnSp>
        <p:nvCxnSpPr>
          <p:cNvPr id="2" name="Straight Arrow Connector 1">
            <a:extLst>
              <a:ext uri="{FF2B5EF4-FFF2-40B4-BE49-F238E27FC236}">
                <a16:creationId xmlns:a16="http://schemas.microsoft.com/office/drawing/2014/main" id="{09CE4F08-DDE2-6FDE-9E3E-52EB462FE7D3}"/>
              </a:ext>
            </a:extLst>
          </p:cNvPr>
          <p:cNvCxnSpPr>
            <a:cxnSpLocks/>
          </p:cNvCxnSpPr>
          <p:nvPr/>
        </p:nvCxnSpPr>
        <p:spPr>
          <a:xfrm flipH="1" flipV="1">
            <a:off x="1246909" y="2210207"/>
            <a:ext cx="342288" cy="14019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4271427-669B-7A07-1B52-883C56FD08E3}"/>
              </a:ext>
            </a:extLst>
          </p:cNvPr>
          <p:cNvSpPr/>
          <p:nvPr/>
        </p:nvSpPr>
        <p:spPr>
          <a:xfrm>
            <a:off x="440086" y="1779901"/>
            <a:ext cx="1649584" cy="43030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SET m AND n VALUES AT 1.8 AND 1.9 RESPECTIVELY (NIGER DELTA VALUES)</a:t>
            </a:r>
          </a:p>
        </p:txBody>
      </p:sp>
      <p:cxnSp>
        <p:nvCxnSpPr>
          <p:cNvPr id="10" name="Straight Arrow Connector 9">
            <a:extLst>
              <a:ext uri="{FF2B5EF4-FFF2-40B4-BE49-F238E27FC236}">
                <a16:creationId xmlns:a16="http://schemas.microsoft.com/office/drawing/2014/main" id="{73E08725-9830-3784-05FC-899A91D32533}"/>
              </a:ext>
            </a:extLst>
          </p:cNvPr>
          <p:cNvCxnSpPr>
            <a:cxnSpLocks/>
          </p:cNvCxnSpPr>
          <p:nvPr/>
        </p:nvCxnSpPr>
        <p:spPr>
          <a:xfrm flipV="1">
            <a:off x="2679632" y="1951047"/>
            <a:ext cx="586781" cy="1897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BC6E1CDD-5CDC-EC53-6AA7-64D6B7615122}"/>
              </a:ext>
            </a:extLst>
          </p:cNvPr>
          <p:cNvSpPr/>
          <p:nvPr/>
        </p:nvSpPr>
        <p:spPr>
          <a:xfrm>
            <a:off x="2801878" y="1286029"/>
            <a:ext cx="1817430" cy="66501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ADJUST </a:t>
            </a:r>
            <a:r>
              <a:rPr lang="en-GB" sz="900" dirty="0" err="1">
                <a:solidFill>
                  <a:schemeClr val="tx1"/>
                </a:solidFill>
              </a:rPr>
              <a:t>Rw</a:t>
            </a:r>
            <a:r>
              <a:rPr lang="en-GB" sz="900" dirty="0">
                <a:solidFill>
                  <a:schemeClr val="tx1"/>
                </a:solidFill>
              </a:rPr>
              <a:t> VALUE UNTIL THE 100% SATURATION LINE (THE BLUE LINE) IS IN LINE WITH THE SELECTED POINTS ON THE PICKETT PLOT</a:t>
            </a:r>
          </a:p>
        </p:txBody>
      </p:sp>
      <p:cxnSp>
        <p:nvCxnSpPr>
          <p:cNvPr id="16" name="Straight Arrow Connector 15">
            <a:extLst>
              <a:ext uri="{FF2B5EF4-FFF2-40B4-BE49-F238E27FC236}">
                <a16:creationId xmlns:a16="http://schemas.microsoft.com/office/drawing/2014/main" id="{00B3ED45-6430-D91C-D424-54A5783D30C4}"/>
              </a:ext>
            </a:extLst>
          </p:cNvPr>
          <p:cNvCxnSpPr>
            <a:cxnSpLocks/>
          </p:cNvCxnSpPr>
          <p:nvPr/>
        </p:nvCxnSpPr>
        <p:spPr>
          <a:xfrm>
            <a:off x="4112355" y="1951047"/>
            <a:ext cx="2366682" cy="22688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itle 1">
            <a:extLst>
              <a:ext uri="{FF2B5EF4-FFF2-40B4-BE49-F238E27FC236}">
                <a16:creationId xmlns:a16="http://schemas.microsoft.com/office/drawing/2014/main" id="{F82F69C2-3F31-3CEB-F5B9-08EAED1F5FB1}"/>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SATURATION (2)</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2890915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C008-5FBB-02C1-E772-F8C72A49D853}"/>
            </a:ext>
          </a:extLst>
        </p:cNvPr>
        <p:cNvGrpSpPr/>
        <p:nvPr/>
      </p:nvGrpSpPr>
      <p:grpSpPr>
        <a:xfrm>
          <a:off x="0" y="0"/>
          <a:ext cx="0" cy="0"/>
          <a:chOff x="0" y="0"/>
          <a:chExt cx="0" cy="0"/>
        </a:xfrm>
      </p:grpSpPr>
      <p:pic>
        <p:nvPicPr>
          <p:cNvPr id="20" name="Picture 19" descr="A screenshot of a computer">
            <a:extLst>
              <a:ext uri="{FF2B5EF4-FFF2-40B4-BE49-F238E27FC236}">
                <a16:creationId xmlns:a16="http://schemas.microsoft.com/office/drawing/2014/main" id="{DDAD30E9-F45E-5673-37FF-00113403FE38}"/>
              </a:ext>
            </a:extLst>
          </p:cNvPr>
          <p:cNvPicPr>
            <a:picLocks noChangeAspect="1"/>
          </p:cNvPicPr>
          <p:nvPr/>
        </p:nvPicPr>
        <p:blipFill>
          <a:blip r:embed="rId2">
            <a:extLst>
              <a:ext uri="{28A0092B-C50C-407E-A947-70E740481C1C}">
                <a14:useLocalDpi xmlns:a14="http://schemas.microsoft.com/office/drawing/2010/main" val="0"/>
              </a:ext>
            </a:extLst>
          </a:blip>
          <a:srcRect l="26515" b="33545"/>
          <a:stretch>
            <a:fillRect/>
          </a:stretch>
        </p:blipFill>
        <p:spPr>
          <a:xfrm>
            <a:off x="324869" y="2474259"/>
            <a:ext cx="5919456" cy="3066558"/>
          </a:xfrm>
          <a:prstGeom prst="rect">
            <a:avLst/>
          </a:prstGeom>
        </p:spPr>
      </p:pic>
      <p:sp>
        <p:nvSpPr>
          <p:cNvPr id="2" name="Rectangle 1">
            <a:extLst>
              <a:ext uri="{FF2B5EF4-FFF2-40B4-BE49-F238E27FC236}">
                <a16:creationId xmlns:a16="http://schemas.microsoft.com/office/drawing/2014/main" id="{883EBFA2-6BCB-511A-9997-C396AE647F6C}"/>
              </a:ext>
            </a:extLst>
          </p:cNvPr>
          <p:cNvSpPr/>
          <p:nvPr/>
        </p:nvSpPr>
        <p:spPr>
          <a:xfrm>
            <a:off x="1309480" y="975371"/>
            <a:ext cx="1194117" cy="6938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PETROPHYSICS TAB, NAVIGATE AND SELECT ARCHIE SATURATION</a:t>
            </a:r>
          </a:p>
        </p:txBody>
      </p:sp>
      <p:cxnSp>
        <p:nvCxnSpPr>
          <p:cNvPr id="3" name="Straight Arrow Connector 2">
            <a:extLst>
              <a:ext uri="{FF2B5EF4-FFF2-40B4-BE49-F238E27FC236}">
                <a16:creationId xmlns:a16="http://schemas.microsoft.com/office/drawing/2014/main" id="{5D7D5E85-CFEB-604C-17E8-CA761CCDFF19}"/>
              </a:ext>
            </a:extLst>
          </p:cNvPr>
          <p:cNvCxnSpPr>
            <a:cxnSpLocks/>
            <a:endCxn id="2" idx="1"/>
          </p:cNvCxnSpPr>
          <p:nvPr/>
        </p:nvCxnSpPr>
        <p:spPr>
          <a:xfrm flipV="1">
            <a:off x="787264" y="1322312"/>
            <a:ext cx="522216" cy="11519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3D5FC0C3-190B-96C6-A80A-5A49CF0CD963}"/>
              </a:ext>
            </a:extLst>
          </p:cNvPr>
          <p:cNvCxnSpPr>
            <a:cxnSpLocks/>
            <a:endCxn id="2" idx="2"/>
          </p:cNvCxnSpPr>
          <p:nvPr/>
        </p:nvCxnSpPr>
        <p:spPr>
          <a:xfrm flipH="1" flipV="1">
            <a:off x="1906539" y="1669252"/>
            <a:ext cx="381906" cy="1064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56CF0D1-EAAF-6C9A-4B76-88E308B9E16F}"/>
              </a:ext>
            </a:extLst>
          </p:cNvPr>
          <p:cNvCxnSpPr>
            <a:cxnSpLocks/>
          </p:cNvCxnSpPr>
          <p:nvPr/>
        </p:nvCxnSpPr>
        <p:spPr>
          <a:xfrm flipH="1" flipV="1">
            <a:off x="2322674" y="1669252"/>
            <a:ext cx="1864307" cy="31146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12" descr="A screenshot of a computer">
            <a:extLst>
              <a:ext uri="{FF2B5EF4-FFF2-40B4-BE49-F238E27FC236}">
                <a16:creationId xmlns:a16="http://schemas.microsoft.com/office/drawing/2014/main" id="{D44D9260-6E0D-CE8D-51EB-90646BD43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9021" y="686821"/>
            <a:ext cx="4909221" cy="1739929"/>
          </a:xfrm>
          <a:prstGeom prst="rect">
            <a:avLst/>
          </a:prstGeom>
        </p:spPr>
      </p:pic>
      <p:cxnSp>
        <p:nvCxnSpPr>
          <p:cNvPr id="14" name="Straight Arrow Connector 13">
            <a:extLst>
              <a:ext uri="{FF2B5EF4-FFF2-40B4-BE49-F238E27FC236}">
                <a16:creationId xmlns:a16="http://schemas.microsoft.com/office/drawing/2014/main" id="{D96DFC4F-94BC-D4F9-5299-1353047CFDCD}"/>
              </a:ext>
            </a:extLst>
          </p:cNvPr>
          <p:cNvCxnSpPr>
            <a:cxnSpLocks/>
          </p:cNvCxnSpPr>
          <p:nvPr/>
        </p:nvCxnSpPr>
        <p:spPr>
          <a:xfrm flipH="1" flipV="1">
            <a:off x="4265469" y="1150733"/>
            <a:ext cx="3607173" cy="1664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F76B7133-26A9-BB75-2712-8249F42950F4}"/>
              </a:ext>
            </a:extLst>
          </p:cNvPr>
          <p:cNvSpPr/>
          <p:nvPr/>
        </p:nvSpPr>
        <p:spPr>
          <a:xfrm>
            <a:off x="2888284" y="975371"/>
            <a:ext cx="1377184" cy="395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INPUTS AND CLICK ON CREATE</a:t>
            </a:r>
          </a:p>
        </p:txBody>
      </p:sp>
      <p:pic>
        <p:nvPicPr>
          <p:cNvPr id="18" name="Picture 17" descr="A screenshot of a computer">
            <a:extLst>
              <a:ext uri="{FF2B5EF4-FFF2-40B4-BE49-F238E27FC236}">
                <a16:creationId xmlns:a16="http://schemas.microsoft.com/office/drawing/2014/main" id="{5FAB2E16-0C38-4C54-A217-34565EB06621}"/>
              </a:ext>
            </a:extLst>
          </p:cNvPr>
          <p:cNvPicPr>
            <a:picLocks noChangeAspect="1"/>
          </p:cNvPicPr>
          <p:nvPr/>
        </p:nvPicPr>
        <p:blipFill>
          <a:blip r:embed="rId4">
            <a:extLst>
              <a:ext uri="{28A0092B-C50C-407E-A947-70E740481C1C}">
                <a14:useLocalDpi xmlns:a14="http://schemas.microsoft.com/office/drawing/2010/main" val="0"/>
              </a:ext>
            </a:extLst>
          </a:blip>
          <a:srcRect b="53760"/>
          <a:stretch>
            <a:fillRect/>
          </a:stretch>
        </p:blipFill>
        <p:spPr>
          <a:xfrm>
            <a:off x="6506173" y="2851833"/>
            <a:ext cx="4955611" cy="1422946"/>
          </a:xfrm>
          <a:prstGeom prst="rect">
            <a:avLst/>
          </a:prstGeom>
        </p:spPr>
      </p:pic>
      <p:cxnSp>
        <p:nvCxnSpPr>
          <p:cNvPr id="19" name="Straight Arrow Connector 18">
            <a:extLst>
              <a:ext uri="{FF2B5EF4-FFF2-40B4-BE49-F238E27FC236}">
                <a16:creationId xmlns:a16="http://schemas.microsoft.com/office/drawing/2014/main" id="{820F1739-CCD5-B104-C8B7-09FCFBBA9FEE}"/>
              </a:ext>
            </a:extLst>
          </p:cNvPr>
          <p:cNvCxnSpPr>
            <a:cxnSpLocks/>
          </p:cNvCxnSpPr>
          <p:nvPr/>
        </p:nvCxnSpPr>
        <p:spPr>
          <a:xfrm flipV="1">
            <a:off x="11022513" y="2063318"/>
            <a:ext cx="0" cy="15153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4592EBAC-ED72-FEAB-833A-D47C6A95732F}"/>
              </a:ext>
            </a:extLst>
          </p:cNvPr>
          <p:cNvSpPr/>
          <p:nvPr/>
        </p:nvSpPr>
        <p:spPr>
          <a:xfrm>
            <a:off x="10285462" y="1246909"/>
            <a:ext cx="1230926" cy="81794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FILL IN m AND n PARAMETERS AND INPUT </a:t>
            </a:r>
            <a:r>
              <a:rPr lang="en-GB" sz="900" dirty="0" err="1">
                <a:solidFill>
                  <a:schemeClr val="tx1"/>
                </a:solidFill>
              </a:rPr>
              <a:t>Rw</a:t>
            </a:r>
            <a:r>
              <a:rPr lang="en-GB" sz="900" dirty="0">
                <a:solidFill>
                  <a:schemeClr val="tx1"/>
                </a:solidFill>
              </a:rPr>
              <a:t> VALUE GOTTEN FROM PICKET PLOT AND RUN EVALUATION</a:t>
            </a:r>
          </a:p>
        </p:txBody>
      </p:sp>
      <p:pic>
        <p:nvPicPr>
          <p:cNvPr id="24" name="Picture 23" descr="A screenshot of a computer">
            <a:extLst>
              <a:ext uri="{FF2B5EF4-FFF2-40B4-BE49-F238E27FC236}">
                <a16:creationId xmlns:a16="http://schemas.microsoft.com/office/drawing/2014/main" id="{318575E1-1117-88BA-B778-16CAF9ECE1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6173" y="4506706"/>
            <a:ext cx="3785775" cy="2068221"/>
          </a:xfrm>
          <a:prstGeom prst="rect">
            <a:avLst/>
          </a:prstGeom>
        </p:spPr>
      </p:pic>
      <p:cxnSp>
        <p:nvCxnSpPr>
          <p:cNvPr id="25" name="Straight Arrow Connector 24">
            <a:extLst>
              <a:ext uri="{FF2B5EF4-FFF2-40B4-BE49-F238E27FC236}">
                <a16:creationId xmlns:a16="http://schemas.microsoft.com/office/drawing/2014/main" id="{5948DF49-28C6-2D23-014D-6F115AF15F08}"/>
              </a:ext>
            </a:extLst>
          </p:cNvPr>
          <p:cNvCxnSpPr>
            <a:cxnSpLocks/>
          </p:cNvCxnSpPr>
          <p:nvPr/>
        </p:nvCxnSpPr>
        <p:spPr>
          <a:xfrm flipV="1">
            <a:off x="9282545" y="4386186"/>
            <a:ext cx="1176822" cy="8590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9684F8A1-5E05-8CE7-2853-9708D14819B0}"/>
              </a:ext>
            </a:extLst>
          </p:cNvPr>
          <p:cNvSpPr/>
          <p:nvPr/>
        </p:nvSpPr>
        <p:spPr>
          <a:xfrm>
            <a:off x="10459309" y="4037471"/>
            <a:ext cx="1349651" cy="46923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RESULTANT </a:t>
            </a:r>
            <a:r>
              <a:rPr lang="en-GB" sz="900" dirty="0" err="1">
                <a:solidFill>
                  <a:schemeClr val="tx1"/>
                </a:solidFill>
              </a:rPr>
              <a:t>Sw</a:t>
            </a:r>
            <a:r>
              <a:rPr lang="en-GB" sz="900" dirty="0">
                <a:solidFill>
                  <a:schemeClr val="tx1"/>
                </a:solidFill>
              </a:rPr>
              <a:t> LOG. SAVE ALL MODIFIED VARIABLES</a:t>
            </a:r>
          </a:p>
        </p:txBody>
      </p:sp>
      <p:cxnSp>
        <p:nvCxnSpPr>
          <p:cNvPr id="28" name="Straight Arrow Connector 27">
            <a:extLst>
              <a:ext uri="{FF2B5EF4-FFF2-40B4-BE49-F238E27FC236}">
                <a16:creationId xmlns:a16="http://schemas.microsoft.com/office/drawing/2014/main" id="{F5849C4A-E7DF-4F97-A09E-C5BED6BEF762}"/>
              </a:ext>
            </a:extLst>
          </p:cNvPr>
          <p:cNvCxnSpPr>
            <a:cxnSpLocks/>
          </p:cNvCxnSpPr>
          <p:nvPr/>
        </p:nvCxnSpPr>
        <p:spPr>
          <a:xfrm flipV="1">
            <a:off x="9508292" y="5398764"/>
            <a:ext cx="1151558" cy="4246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72D1437C-94F4-4D91-09F1-6EB625F7F662}"/>
              </a:ext>
            </a:extLst>
          </p:cNvPr>
          <p:cNvSpPr/>
          <p:nvPr/>
        </p:nvSpPr>
        <p:spPr>
          <a:xfrm>
            <a:off x="10645995" y="5051442"/>
            <a:ext cx="1397679" cy="14667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THE UNLIPPED SATURATION LOG SHOULD TRACK OR BE AS CLOSE AS POSSIBLE TO THE 100% BASELINE IN THE CLEAN SAND INTERVAL. USE THIS TO QC YOUR EVALUATED SATURATION</a:t>
            </a:r>
          </a:p>
        </p:txBody>
      </p:sp>
      <p:sp>
        <p:nvSpPr>
          <p:cNvPr id="31" name="Title 1">
            <a:extLst>
              <a:ext uri="{FF2B5EF4-FFF2-40B4-BE49-F238E27FC236}">
                <a16:creationId xmlns:a16="http://schemas.microsoft.com/office/drawing/2014/main" id="{32E82619-209A-18E1-F4A6-147A92DA2C2D}"/>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SATURATION (3)</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007592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8605-44A6-5A21-FA6F-5FA5E598F3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6318DA-FA9C-57D2-15F0-954E5A629633}"/>
              </a:ext>
            </a:extLst>
          </p:cNvPr>
          <p:cNvPicPr>
            <a:picLocks noChangeAspect="1"/>
          </p:cNvPicPr>
          <p:nvPr/>
        </p:nvPicPr>
        <p:blipFill>
          <a:blip r:embed="rId2">
            <a:extLst>
              <a:ext uri="{28A0092B-C50C-407E-A947-70E740481C1C}">
                <a14:useLocalDpi xmlns:a14="http://schemas.microsoft.com/office/drawing/2010/main" val="0"/>
              </a:ext>
            </a:extLst>
          </a:blip>
          <a:srcRect r="38970" b="48025"/>
          <a:stretch>
            <a:fillRect/>
          </a:stretch>
        </p:blipFill>
        <p:spPr>
          <a:xfrm>
            <a:off x="412629" y="2120185"/>
            <a:ext cx="4807490" cy="872398"/>
          </a:xfrm>
          <a:prstGeom prst="rect">
            <a:avLst/>
          </a:prstGeom>
        </p:spPr>
      </p:pic>
      <p:pic>
        <p:nvPicPr>
          <p:cNvPr id="5" name="Picture 4">
            <a:extLst>
              <a:ext uri="{FF2B5EF4-FFF2-40B4-BE49-F238E27FC236}">
                <a16:creationId xmlns:a16="http://schemas.microsoft.com/office/drawing/2014/main" id="{3A518347-5820-DB51-0C89-791432E081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3845" y="791564"/>
            <a:ext cx="4363740" cy="1678505"/>
          </a:xfrm>
          <a:prstGeom prst="rect">
            <a:avLst/>
          </a:prstGeom>
        </p:spPr>
      </p:pic>
      <p:pic>
        <p:nvPicPr>
          <p:cNvPr id="7" name="Picture 6">
            <a:extLst>
              <a:ext uri="{FF2B5EF4-FFF2-40B4-BE49-F238E27FC236}">
                <a16:creationId xmlns:a16="http://schemas.microsoft.com/office/drawing/2014/main" id="{479BAF26-36CD-117D-A5D5-9B1C681D5054}"/>
              </a:ext>
            </a:extLst>
          </p:cNvPr>
          <p:cNvPicPr>
            <a:picLocks noChangeAspect="1"/>
          </p:cNvPicPr>
          <p:nvPr/>
        </p:nvPicPr>
        <p:blipFill>
          <a:blip r:embed="rId4">
            <a:extLst>
              <a:ext uri="{28A0092B-C50C-407E-A947-70E740481C1C}">
                <a14:useLocalDpi xmlns:a14="http://schemas.microsoft.com/office/drawing/2010/main" val="0"/>
              </a:ext>
            </a:extLst>
          </a:blip>
          <a:srcRect l="-426" t="1921" r="23437" b="45371"/>
          <a:stretch>
            <a:fillRect/>
          </a:stretch>
        </p:blipFill>
        <p:spPr>
          <a:xfrm>
            <a:off x="343713" y="3530742"/>
            <a:ext cx="4417220" cy="1867393"/>
          </a:xfrm>
          <a:prstGeom prst="rect">
            <a:avLst/>
          </a:prstGeom>
        </p:spPr>
      </p:pic>
      <p:cxnSp>
        <p:nvCxnSpPr>
          <p:cNvPr id="8" name="Straight Arrow Connector 7">
            <a:extLst>
              <a:ext uri="{FF2B5EF4-FFF2-40B4-BE49-F238E27FC236}">
                <a16:creationId xmlns:a16="http://schemas.microsoft.com/office/drawing/2014/main" id="{BE0F51DE-D352-651B-C25C-D9D7506005AE}"/>
              </a:ext>
            </a:extLst>
          </p:cNvPr>
          <p:cNvCxnSpPr>
            <a:cxnSpLocks/>
            <a:endCxn id="12" idx="3"/>
          </p:cNvCxnSpPr>
          <p:nvPr/>
        </p:nvCxnSpPr>
        <p:spPr>
          <a:xfrm flipH="1" flipV="1">
            <a:off x="2371412" y="1459865"/>
            <a:ext cx="2234225" cy="10102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34B38EE5-525E-7F6B-7D8E-AD0BDFAAC255}"/>
              </a:ext>
            </a:extLst>
          </p:cNvPr>
          <p:cNvSpPr/>
          <p:nvPr/>
        </p:nvSpPr>
        <p:spPr>
          <a:xfrm>
            <a:off x="1279336" y="1191412"/>
            <a:ext cx="1092076" cy="5369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RESERVOIR TAB, CLICK ON LOG APPLY MODEL</a:t>
            </a:r>
          </a:p>
        </p:txBody>
      </p:sp>
      <p:cxnSp>
        <p:nvCxnSpPr>
          <p:cNvPr id="14" name="Straight Arrow Connector 13">
            <a:extLst>
              <a:ext uri="{FF2B5EF4-FFF2-40B4-BE49-F238E27FC236}">
                <a16:creationId xmlns:a16="http://schemas.microsoft.com/office/drawing/2014/main" id="{AE3A0FA8-1ED0-1EF5-97BB-570EFB0616F1}"/>
              </a:ext>
            </a:extLst>
          </p:cNvPr>
          <p:cNvCxnSpPr>
            <a:cxnSpLocks/>
          </p:cNvCxnSpPr>
          <p:nvPr/>
        </p:nvCxnSpPr>
        <p:spPr>
          <a:xfrm flipH="1" flipV="1">
            <a:off x="4265469" y="1150733"/>
            <a:ext cx="3763648" cy="3091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EB0ED09-FC4F-8C7B-0155-F3A02DF43B10}"/>
              </a:ext>
            </a:extLst>
          </p:cNvPr>
          <p:cNvSpPr/>
          <p:nvPr/>
        </p:nvSpPr>
        <p:spPr>
          <a:xfrm>
            <a:off x="2888284" y="975371"/>
            <a:ext cx="1377184" cy="395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INPUTS AND CLICK ON CREATE</a:t>
            </a:r>
          </a:p>
        </p:txBody>
      </p:sp>
      <p:sp>
        <p:nvSpPr>
          <p:cNvPr id="17" name="Rectangle 16">
            <a:extLst>
              <a:ext uri="{FF2B5EF4-FFF2-40B4-BE49-F238E27FC236}">
                <a16:creationId xmlns:a16="http://schemas.microsoft.com/office/drawing/2014/main" id="{1CB74568-D685-ECDE-4B02-D3BDE54EB3E1}"/>
              </a:ext>
            </a:extLst>
          </p:cNvPr>
          <p:cNvSpPr/>
          <p:nvPr/>
        </p:nvSpPr>
        <p:spPr>
          <a:xfrm>
            <a:off x="5460964" y="2645431"/>
            <a:ext cx="1092076" cy="5369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INSERT THE RESERVOIR ZONE IN THIS CASE</a:t>
            </a:r>
          </a:p>
        </p:txBody>
      </p:sp>
      <p:cxnSp>
        <p:nvCxnSpPr>
          <p:cNvPr id="18" name="Straight Arrow Connector 17">
            <a:extLst>
              <a:ext uri="{FF2B5EF4-FFF2-40B4-BE49-F238E27FC236}">
                <a16:creationId xmlns:a16="http://schemas.microsoft.com/office/drawing/2014/main" id="{25D0089F-E62C-BB3A-1701-88F3B444935E}"/>
              </a:ext>
            </a:extLst>
          </p:cNvPr>
          <p:cNvCxnSpPr>
            <a:cxnSpLocks/>
            <a:endCxn id="17" idx="1"/>
          </p:cNvCxnSpPr>
          <p:nvPr/>
        </p:nvCxnSpPr>
        <p:spPr>
          <a:xfrm flipV="1">
            <a:off x="3354430" y="2913884"/>
            <a:ext cx="2106534" cy="14740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4" name="Picture 23" descr="A screenshot of a computer">
            <a:extLst>
              <a:ext uri="{FF2B5EF4-FFF2-40B4-BE49-F238E27FC236}">
                <a16:creationId xmlns:a16="http://schemas.microsoft.com/office/drawing/2014/main" id="{8AD0B32D-6D1E-9E0A-970B-44544C906F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5979" y="4197678"/>
            <a:ext cx="5337148" cy="2400913"/>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EAD60C1C-695F-DAFB-C25F-2A8EA6A91746}"/>
              </a:ext>
            </a:extLst>
          </p:cNvPr>
          <p:cNvPicPr>
            <a:picLocks noChangeAspect="1"/>
          </p:cNvPicPr>
          <p:nvPr/>
        </p:nvPicPr>
        <p:blipFill>
          <a:blip r:embed="rId6">
            <a:extLst>
              <a:ext uri="{28A0092B-C50C-407E-A947-70E740481C1C}">
                <a14:useLocalDpi xmlns:a14="http://schemas.microsoft.com/office/drawing/2010/main" val="0"/>
              </a:ext>
            </a:extLst>
          </a:blip>
          <a:srcRect b="43406"/>
          <a:stretch>
            <a:fillRect/>
          </a:stretch>
        </p:blipFill>
        <p:spPr>
          <a:xfrm>
            <a:off x="2338606" y="4926091"/>
            <a:ext cx="4214434" cy="1762065"/>
          </a:xfrm>
          <a:prstGeom prst="rect">
            <a:avLst/>
          </a:prstGeom>
        </p:spPr>
      </p:pic>
      <p:cxnSp>
        <p:nvCxnSpPr>
          <p:cNvPr id="27" name="Straight Arrow Connector 26">
            <a:extLst>
              <a:ext uri="{FF2B5EF4-FFF2-40B4-BE49-F238E27FC236}">
                <a16:creationId xmlns:a16="http://schemas.microsoft.com/office/drawing/2014/main" id="{31EA1847-D2B0-8A33-BF06-9FB7A8174EEB}"/>
              </a:ext>
            </a:extLst>
          </p:cNvPr>
          <p:cNvCxnSpPr>
            <a:cxnSpLocks/>
          </p:cNvCxnSpPr>
          <p:nvPr/>
        </p:nvCxnSpPr>
        <p:spPr>
          <a:xfrm flipV="1">
            <a:off x="5220119" y="4336775"/>
            <a:ext cx="93726" cy="1113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ight Brace 27">
            <a:extLst>
              <a:ext uri="{FF2B5EF4-FFF2-40B4-BE49-F238E27FC236}">
                <a16:creationId xmlns:a16="http://schemas.microsoft.com/office/drawing/2014/main" id="{C4418511-2997-3BDC-190C-7CEA5E04D26C}"/>
              </a:ext>
            </a:extLst>
          </p:cNvPr>
          <p:cNvSpPr/>
          <p:nvPr/>
        </p:nvSpPr>
        <p:spPr>
          <a:xfrm rot="16200000">
            <a:off x="5131972" y="4219366"/>
            <a:ext cx="162478" cy="258619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0" name="Rectangle 29">
            <a:extLst>
              <a:ext uri="{FF2B5EF4-FFF2-40B4-BE49-F238E27FC236}">
                <a16:creationId xmlns:a16="http://schemas.microsoft.com/office/drawing/2014/main" id="{B2C0679A-DC91-D7CA-602C-CC431488CE03}"/>
              </a:ext>
            </a:extLst>
          </p:cNvPr>
          <p:cNvSpPr/>
          <p:nvPr/>
        </p:nvSpPr>
        <p:spPr>
          <a:xfrm>
            <a:off x="4834617" y="3675664"/>
            <a:ext cx="1092076" cy="6755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INPUT PARAMETERS, OIL WATER CONTACT CAN BE READ FROM THE LOGS</a:t>
            </a:r>
          </a:p>
        </p:txBody>
      </p:sp>
      <p:cxnSp>
        <p:nvCxnSpPr>
          <p:cNvPr id="31" name="Straight Arrow Connector 30">
            <a:extLst>
              <a:ext uri="{FF2B5EF4-FFF2-40B4-BE49-F238E27FC236}">
                <a16:creationId xmlns:a16="http://schemas.microsoft.com/office/drawing/2014/main" id="{A057FFDA-1645-A474-CE46-617027159AA9}"/>
              </a:ext>
            </a:extLst>
          </p:cNvPr>
          <p:cNvCxnSpPr>
            <a:cxnSpLocks/>
          </p:cNvCxnSpPr>
          <p:nvPr/>
        </p:nvCxnSpPr>
        <p:spPr>
          <a:xfrm flipV="1">
            <a:off x="9039899" y="3823855"/>
            <a:ext cx="231237" cy="873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16C430D7-0659-A882-35B4-2E81822D32A7}"/>
              </a:ext>
            </a:extLst>
          </p:cNvPr>
          <p:cNvSpPr/>
          <p:nvPr/>
        </p:nvSpPr>
        <p:spPr>
          <a:xfrm>
            <a:off x="8471681" y="3075709"/>
            <a:ext cx="1229874" cy="78213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DEFAULT TAB, FUNCTIONS AND CONSTANTS CAN BE ADJUSTED UNTIL IT MATCHES WITH OUR WELL</a:t>
            </a:r>
          </a:p>
        </p:txBody>
      </p:sp>
      <p:cxnSp>
        <p:nvCxnSpPr>
          <p:cNvPr id="34" name="Straight Arrow Connector 33">
            <a:extLst>
              <a:ext uri="{FF2B5EF4-FFF2-40B4-BE49-F238E27FC236}">
                <a16:creationId xmlns:a16="http://schemas.microsoft.com/office/drawing/2014/main" id="{553C2B79-1412-C171-1C61-E25C2A94E36B}"/>
              </a:ext>
            </a:extLst>
          </p:cNvPr>
          <p:cNvCxnSpPr>
            <a:cxnSpLocks/>
          </p:cNvCxnSpPr>
          <p:nvPr/>
        </p:nvCxnSpPr>
        <p:spPr>
          <a:xfrm flipH="1" flipV="1">
            <a:off x="11153689" y="3953196"/>
            <a:ext cx="33929" cy="2400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8D74ECBE-0258-1D1F-DBCF-40A047E8467B}"/>
              </a:ext>
            </a:extLst>
          </p:cNvPr>
          <p:cNvSpPr/>
          <p:nvPr/>
        </p:nvSpPr>
        <p:spPr>
          <a:xfrm>
            <a:off x="10429500" y="2774772"/>
            <a:ext cx="1383799" cy="11784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ALTERNATIVELY, IF SHM IS AVAILABLE FOR AN ANALOG WELL, RIGHT CLICK AND LOAD THE MODEL AND ADJUST THE CONSTANTS UNTIL IT MATCHES OUR WELL</a:t>
            </a:r>
          </a:p>
        </p:txBody>
      </p:sp>
      <p:sp>
        <p:nvSpPr>
          <p:cNvPr id="39" name="Title 1">
            <a:extLst>
              <a:ext uri="{FF2B5EF4-FFF2-40B4-BE49-F238E27FC236}">
                <a16:creationId xmlns:a16="http://schemas.microsoft.com/office/drawing/2014/main" id="{A699C3D1-A822-A860-A45E-541DFACB022D}"/>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SATURATION HEIGHT MODEL</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644791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8DC34-51D2-8722-00CD-2A79FDED657C}"/>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8085C589-64D0-3C1D-0FF4-3796DC7EB8EB}"/>
              </a:ext>
            </a:extLst>
          </p:cNvPr>
          <p:cNvGrpSpPr/>
          <p:nvPr/>
        </p:nvGrpSpPr>
        <p:grpSpPr>
          <a:xfrm>
            <a:off x="131157" y="1990165"/>
            <a:ext cx="5907795" cy="4234602"/>
            <a:chOff x="61290" y="1004994"/>
            <a:chExt cx="7355503" cy="5701393"/>
          </a:xfrm>
        </p:grpSpPr>
        <p:sp>
          <p:nvSpPr>
            <p:cNvPr id="11" name="Rectangle 10">
              <a:extLst>
                <a:ext uri="{FF2B5EF4-FFF2-40B4-BE49-F238E27FC236}">
                  <a16:creationId xmlns:a16="http://schemas.microsoft.com/office/drawing/2014/main" id="{DBF646F9-EDFB-C4A2-6D46-DE85F48A82CB}"/>
                </a:ext>
              </a:extLst>
            </p:cNvPr>
            <p:cNvSpPr/>
            <p:nvPr/>
          </p:nvSpPr>
          <p:spPr>
            <a:xfrm>
              <a:off x="409394" y="1004994"/>
              <a:ext cx="1660439" cy="109480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ADJUST CONSTANTS AND KEEP RUNNING THE EVALUATION UNTIL THE </a:t>
              </a:r>
              <a:r>
                <a:rPr lang="en-GB" sz="900" dirty="0" err="1">
                  <a:solidFill>
                    <a:schemeClr val="tx1"/>
                  </a:solidFill>
                </a:rPr>
                <a:t>Sw</a:t>
              </a:r>
              <a:r>
                <a:rPr lang="en-GB" sz="900" dirty="0">
                  <a:solidFill>
                    <a:schemeClr val="tx1"/>
                  </a:solidFill>
                </a:rPr>
                <a:t> AND THE SHM MACTH AS CLOSE AS POSSIBLE</a:t>
              </a:r>
            </a:p>
          </p:txBody>
        </p:sp>
        <p:grpSp>
          <p:nvGrpSpPr>
            <p:cNvPr id="27" name="Group 26">
              <a:extLst>
                <a:ext uri="{FF2B5EF4-FFF2-40B4-BE49-F238E27FC236}">
                  <a16:creationId xmlns:a16="http://schemas.microsoft.com/office/drawing/2014/main" id="{0B43D6CA-A342-E7FC-DCEB-7C934AC3337D}"/>
                </a:ext>
              </a:extLst>
            </p:cNvPr>
            <p:cNvGrpSpPr/>
            <p:nvPr/>
          </p:nvGrpSpPr>
          <p:grpSpPr>
            <a:xfrm>
              <a:off x="61290" y="1680434"/>
              <a:ext cx="7355503" cy="5025953"/>
              <a:chOff x="76237" y="1680433"/>
              <a:chExt cx="7355503" cy="5025953"/>
            </a:xfrm>
          </p:grpSpPr>
          <p:pic>
            <p:nvPicPr>
              <p:cNvPr id="18" name="Picture 17" descr="A screenshot of a computer">
                <a:extLst>
                  <a:ext uri="{FF2B5EF4-FFF2-40B4-BE49-F238E27FC236}">
                    <a16:creationId xmlns:a16="http://schemas.microsoft.com/office/drawing/2014/main" id="{4CCFAEA7-C115-3F83-9426-9EFCEFC7A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37" y="2787357"/>
                <a:ext cx="7355503" cy="3919029"/>
              </a:xfrm>
              <a:prstGeom prst="rect">
                <a:avLst/>
              </a:prstGeom>
            </p:spPr>
          </p:pic>
          <p:sp>
            <p:nvSpPr>
              <p:cNvPr id="13" name="Oval 12">
                <a:extLst>
                  <a:ext uri="{FF2B5EF4-FFF2-40B4-BE49-F238E27FC236}">
                    <a16:creationId xmlns:a16="http://schemas.microsoft.com/office/drawing/2014/main" id="{D5816763-0E9C-A393-131D-C8A11F8A3CD9}"/>
                  </a:ext>
                </a:extLst>
              </p:cNvPr>
              <p:cNvSpPr/>
              <p:nvPr/>
            </p:nvSpPr>
            <p:spPr>
              <a:xfrm>
                <a:off x="2195566" y="3969757"/>
                <a:ext cx="1261068" cy="90369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id="{57E50AED-9BFA-53E6-E8A7-64BA9DBB9049}"/>
                  </a:ext>
                </a:extLst>
              </p:cNvPr>
              <p:cNvCxnSpPr>
                <a:cxnSpLocks/>
              </p:cNvCxnSpPr>
              <p:nvPr/>
            </p:nvCxnSpPr>
            <p:spPr>
              <a:xfrm flipH="1" flipV="1">
                <a:off x="1636235" y="2099801"/>
                <a:ext cx="1115367" cy="18699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EBE6F69F-EBEE-4E33-31E7-2F4378E50FC5}"/>
                  </a:ext>
                </a:extLst>
              </p:cNvPr>
              <p:cNvCxnSpPr/>
              <p:nvPr/>
            </p:nvCxnSpPr>
            <p:spPr>
              <a:xfrm>
                <a:off x="2068192" y="1680433"/>
                <a:ext cx="4235508" cy="24042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grpSp>
      <p:grpSp>
        <p:nvGrpSpPr>
          <p:cNvPr id="38" name="Group 37">
            <a:extLst>
              <a:ext uri="{FF2B5EF4-FFF2-40B4-BE49-F238E27FC236}">
                <a16:creationId xmlns:a16="http://schemas.microsoft.com/office/drawing/2014/main" id="{F7D9F453-7C3B-D975-EE1E-DD0F13FF679B}"/>
              </a:ext>
            </a:extLst>
          </p:cNvPr>
          <p:cNvGrpSpPr/>
          <p:nvPr/>
        </p:nvGrpSpPr>
        <p:grpSpPr>
          <a:xfrm>
            <a:off x="6153050" y="754658"/>
            <a:ext cx="5866176" cy="4674393"/>
            <a:chOff x="4591100" y="330567"/>
            <a:chExt cx="6270315" cy="4548408"/>
          </a:xfrm>
        </p:grpSpPr>
        <p:pic>
          <p:nvPicPr>
            <p:cNvPr id="7" name="Picture 6" descr="A screenshot of a computer&#10;&#10;AI-generated content may be incorrect.">
              <a:extLst>
                <a:ext uri="{FF2B5EF4-FFF2-40B4-BE49-F238E27FC236}">
                  <a16:creationId xmlns:a16="http://schemas.microsoft.com/office/drawing/2014/main" id="{9784D1A3-BA89-A6B6-51AA-08F217E811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1100" y="330567"/>
              <a:ext cx="4848150" cy="2870948"/>
            </a:xfrm>
            <a:prstGeom prst="rect">
              <a:avLst/>
            </a:prstGeom>
          </p:spPr>
        </p:pic>
        <p:cxnSp>
          <p:nvCxnSpPr>
            <p:cNvPr id="29" name="Straight Arrow Connector 28">
              <a:extLst>
                <a:ext uri="{FF2B5EF4-FFF2-40B4-BE49-F238E27FC236}">
                  <a16:creationId xmlns:a16="http://schemas.microsoft.com/office/drawing/2014/main" id="{09243393-3607-3B67-C594-8B5AFCAA26AF}"/>
                </a:ext>
              </a:extLst>
            </p:cNvPr>
            <p:cNvCxnSpPr>
              <a:cxnSpLocks/>
            </p:cNvCxnSpPr>
            <p:nvPr/>
          </p:nvCxnSpPr>
          <p:spPr>
            <a:xfrm flipV="1">
              <a:off x="8073125" y="1925107"/>
              <a:ext cx="94015" cy="2089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37BB5B51-3584-1FD4-9397-FF58344D57D4}"/>
                </a:ext>
              </a:extLst>
            </p:cNvPr>
            <p:cNvSpPr/>
            <p:nvPr/>
          </p:nvSpPr>
          <p:spPr>
            <a:xfrm>
              <a:off x="7145221" y="4014558"/>
              <a:ext cx="1534244" cy="6014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CLOSE ENOUGH MATCH. RIGHT CLICK AND SAVE THE MODIFIED VARIABLES</a:t>
              </a:r>
            </a:p>
          </p:txBody>
        </p:sp>
        <p:cxnSp>
          <p:nvCxnSpPr>
            <p:cNvPr id="32" name="Straight Arrow Connector 31">
              <a:extLst>
                <a:ext uri="{FF2B5EF4-FFF2-40B4-BE49-F238E27FC236}">
                  <a16:creationId xmlns:a16="http://schemas.microsoft.com/office/drawing/2014/main" id="{DEA2CCF7-8CFF-68EC-9BD7-75C32517D332}"/>
                </a:ext>
              </a:extLst>
            </p:cNvPr>
            <p:cNvCxnSpPr>
              <a:cxnSpLocks/>
            </p:cNvCxnSpPr>
            <p:nvPr/>
          </p:nvCxnSpPr>
          <p:spPr>
            <a:xfrm flipH="1" flipV="1">
              <a:off x="8300547" y="2144634"/>
              <a:ext cx="1900766" cy="2132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C5807DF7-C02C-DE9B-F764-8006682547DC}"/>
                </a:ext>
              </a:extLst>
            </p:cNvPr>
            <p:cNvSpPr/>
            <p:nvPr/>
          </p:nvSpPr>
          <p:spPr>
            <a:xfrm>
              <a:off x="9541211" y="4277524"/>
              <a:ext cx="1320204" cy="6014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ERROR LOG SHOULD BE AS LOW AS POSSIBLE. USE THIS TO QC RESULT</a:t>
              </a:r>
            </a:p>
          </p:txBody>
        </p:sp>
      </p:grpSp>
      <p:sp>
        <p:nvSpPr>
          <p:cNvPr id="36" name="Rectangle 35">
            <a:extLst>
              <a:ext uri="{FF2B5EF4-FFF2-40B4-BE49-F238E27FC236}">
                <a16:creationId xmlns:a16="http://schemas.microsoft.com/office/drawing/2014/main" id="{634D1770-58F6-45F9-1504-7A4E63101555}"/>
              </a:ext>
            </a:extLst>
          </p:cNvPr>
          <p:cNvSpPr/>
          <p:nvPr/>
        </p:nvSpPr>
        <p:spPr>
          <a:xfrm>
            <a:off x="7077547" y="5429052"/>
            <a:ext cx="3005302" cy="6014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NOTE: SHM SHOULD BE EVALUATED USING PRE-PRODUCTION WELLS AND CAN THEN BE APPLIED TO OTHER WELL TO SEE ORIGINAL FLUID DISTRIBUTION.</a:t>
            </a:r>
          </a:p>
        </p:txBody>
      </p:sp>
      <p:sp>
        <p:nvSpPr>
          <p:cNvPr id="37" name="Title 1">
            <a:extLst>
              <a:ext uri="{FF2B5EF4-FFF2-40B4-BE49-F238E27FC236}">
                <a16:creationId xmlns:a16="http://schemas.microsoft.com/office/drawing/2014/main" id="{3945555C-3EF6-8FC9-1A85-EAD29C6FF33D}"/>
              </a:ext>
            </a:extLst>
          </p:cNvPr>
          <p:cNvSpPr txBox="1">
            <a:spLocks/>
          </p:cNvSpPr>
          <p:nvPr/>
        </p:nvSpPr>
        <p:spPr>
          <a:xfrm>
            <a:off x="270586" y="163288"/>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SATURATION HEIGHT MODEL (2)</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2065125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73550-FA8B-B442-9740-9B29BDC0520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D8FEDB-41D1-1F7A-984A-A34E91CFB3B2}"/>
              </a:ext>
            </a:extLst>
          </p:cNvPr>
          <p:cNvPicPr>
            <a:picLocks noChangeAspect="1"/>
          </p:cNvPicPr>
          <p:nvPr/>
        </p:nvPicPr>
        <p:blipFill>
          <a:blip r:embed="rId2">
            <a:extLst>
              <a:ext uri="{28A0092B-C50C-407E-A947-70E740481C1C}">
                <a14:useLocalDpi xmlns:a14="http://schemas.microsoft.com/office/drawing/2010/main" val="0"/>
              </a:ext>
            </a:extLst>
          </a:blip>
          <a:srcRect l="-1" r="18452"/>
          <a:stretch>
            <a:fillRect/>
          </a:stretch>
        </p:blipFill>
        <p:spPr>
          <a:xfrm>
            <a:off x="107212" y="1720293"/>
            <a:ext cx="5943269" cy="92919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CB29BD6-B513-270A-9299-8FC43CA2A6E1}"/>
              </a:ext>
            </a:extLst>
          </p:cNvPr>
          <p:cNvPicPr>
            <a:picLocks noChangeAspect="1"/>
          </p:cNvPicPr>
          <p:nvPr/>
        </p:nvPicPr>
        <p:blipFill>
          <a:blip r:embed="rId3">
            <a:extLst>
              <a:ext uri="{28A0092B-C50C-407E-A947-70E740481C1C}">
                <a14:useLocalDpi xmlns:a14="http://schemas.microsoft.com/office/drawing/2010/main" val="0"/>
              </a:ext>
            </a:extLst>
          </a:blip>
          <a:srcRect b="44505"/>
          <a:stretch>
            <a:fillRect/>
          </a:stretch>
        </p:blipFill>
        <p:spPr>
          <a:xfrm>
            <a:off x="6907724" y="4427804"/>
            <a:ext cx="4489297" cy="185175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115B98AA-4137-0433-536B-D96B70BA38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20" y="3429000"/>
            <a:ext cx="6398733" cy="2925925"/>
          </a:xfrm>
          <a:prstGeom prst="rect">
            <a:avLst/>
          </a:prstGeom>
        </p:spPr>
      </p:pic>
      <p:pic>
        <p:nvPicPr>
          <p:cNvPr id="9" name="Picture 8" descr="A screenshot of a computer">
            <a:extLst>
              <a:ext uri="{FF2B5EF4-FFF2-40B4-BE49-F238E27FC236}">
                <a16:creationId xmlns:a16="http://schemas.microsoft.com/office/drawing/2014/main" id="{8A3D3B11-D2E2-A7D8-AC09-24306FAB95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5644" y="829186"/>
            <a:ext cx="4727358" cy="2532184"/>
          </a:xfrm>
          <a:prstGeom prst="rect">
            <a:avLst/>
          </a:prstGeom>
        </p:spPr>
      </p:pic>
      <p:cxnSp>
        <p:nvCxnSpPr>
          <p:cNvPr id="10" name="Straight Arrow Connector 9">
            <a:extLst>
              <a:ext uri="{FF2B5EF4-FFF2-40B4-BE49-F238E27FC236}">
                <a16:creationId xmlns:a16="http://schemas.microsoft.com/office/drawing/2014/main" id="{3F6FA54E-75BC-047F-5390-E3425794D88D}"/>
              </a:ext>
            </a:extLst>
          </p:cNvPr>
          <p:cNvCxnSpPr>
            <a:cxnSpLocks/>
            <a:endCxn id="11" idx="3"/>
          </p:cNvCxnSpPr>
          <p:nvPr/>
        </p:nvCxnSpPr>
        <p:spPr>
          <a:xfrm flipH="1" flipV="1">
            <a:off x="2064937" y="1213680"/>
            <a:ext cx="2354804" cy="12111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1B5084B-1643-2552-D7D1-CB04EC923FC9}"/>
              </a:ext>
            </a:extLst>
          </p:cNvPr>
          <p:cNvSpPr/>
          <p:nvPr/>
        </p:nvSpPr>
        <p:spPr>
          <a:xfrm>
            <a:off x="972861" y="945227"/>
            <a:ext cx="1092076" cy="5369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PETROPHYSICS TAB, SELECT SUMMARIES</a:t>
            </a:r>
          </a:p>
        </p:txBody>
      </p:sp>
      <p:cxnSp>
        <p:nvCxnSpPr>
          <p:cNvPr id="13" name="Straight Arrow Connector 12">
            <a:extLst>
              <a:ext uri="{FF2B5EF4-FFF2-40B4-BE49-F238E27FC236}">
                <a16:creationId xmlns:a16="http://schemas.microsoft.com/office/drawing/2014/main" id="{EC5683A4-62BB-C6DD-C5AF-808F49AD3277}"/>
              </a:ext>
            </a:extLst>
          </p:cNvPr>
          <p:cNvCxnSpPr>
            <a:cxnSpLocks/>
          </p:cNvCxnSpPr>
          <p:nvPr/>
        </p:nvCxnSpPr>
        <p:spPr>
          <a:xfrm flipH="1" flipV="1">
            <a:off x="5290066" y="1213680"/>
            <a:ext cx="3904176" cy="12111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EADA84BE-BF0A-ED6C-CBBC-71AB66DF3791}"/>
              </a:ext>
            </a:extLst>
          </p:cNvPr>
          <p:cNvSpPr/>
          <p:nvPr/>
        </p:nvSpPr>
        <p:spPr>
          <a:xfrm>
            <a:off x="3912881" y="1038318"/>
            <a:ext cx="1377184" cy="395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INPUTS AND CLICK ON CREATE</a:t>
            </a:r>
          </a:p>
        </p:txBody>
      </p:sp>
      <p:cxnSp>
        <p:nvCxnSpPr>
          <p:cNvPr id="17" name="Straight Arrow Connector 16">
            <a:extLst>
              <a:ext uri="{FF2B5EF4-FFF2-40B4-BE49-F238E27FC236}">
                <a16:creationId xmlns:a16="http://schemas.microsoft.com/office/drawing/2014/main" id="{A4301B6E-74AE-9F72-C8CC-01D09D218C01}"/>
              </a:ext>
            </a:extLst>
          </p:cNvPr>
          <p:cNvCxnSpPr>
            <a:cxnSpLocks/>
            <a:endCxn id="11" idx="2"/>
          </p:cNvCxnSpPr>
          <p:nvPr/>
        </p:nvCxnSpPr>
        <p:spPr>
          <a:xfrm flipH="1" flipV="1">
            <a:off x="1518899" y="1482133"/>
            <a:ext cx="380239" cy="247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EC59581-F319-A6F8-C70E-2F38C25ECDDD}"/>
              </a:ext>
            </a:extLst>
          </p:cNvPr>
          <p:cNvCxnSpPr>
            <a:cxnSpLocks/>
            <a:endCxn id="25" idx="3"/>
          </p:cNvCxnSpPr>
          <p:nvPr/>
        </p:nvCxnSpPr>
        <p:spPr>
          <a:xfrm flipH="1" flipV="1">
            <a:off x="1296237" y="2885647"/>
            <a:ext cx="3710595" cy="13126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0AB4F1FB-280A-F6BE-1F1B-FC002EE61F9E}"/>
              </a:ext>
            </a:extLst>
          </p:cNvPr>
          <p:cNvSpPr/>
          <p:nvPr/>
        </p:nvSpPr>
        <p:spPr>
          <a:xfrm>
            <a:off x="232916" y="2692673"/>
            <a:ext cx="1063321" cy="38594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VARIABLE LOG INPUTS</a:t>
            </a:r>
          </a:p>
        </p:txBody>
      </p:sp>
      <p:cxnSp>
        <p:nvCxnSpPr>
          <p:cNvPr id="28" name="Straight Arrow Connector 27">
            <a:extLst>
              <a:ext uri="{FF2B5EF4-FFF2-40B4-BE49-F238E27FC236}">
                <a16:creationId xmlns:a16="http://schemas.microsoft.com/office/drawing/2014/main" id="{C14FC115-9558-090D-6E08-11D3034E6C29}"/>
              </a:ext>
            </a:extLst>
          </p:cNvPr>
          <p:cNvCxnSpPr>
            <a:cxnSpLocks/>
          </p:cNvCxnSpPr>
          <p:nvPr/>
        </p:nvCxnSpPr>
        <p:spPr>
          <a:xfrm flipH="1" flipV="1">
            <a:off x="4170922" y="3156099"/>
            <a:ext cx="4592099" cy="2488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91F1AEB6-D201-7838-EF6C-939FB3BE679F}"/>
              </a:ext>
            </a:extLst>
          </p:cNvPr>
          <p:cNvSpPr/>
          <p:nvPr/>
        </p:nvSpPr>
        <p:spPr>
          <a:xfrm>
            <a:off x="3078846" y="2736335"/>
            <a:ext cx="1092076" cy="5369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AND REMOVE OTHER FLAGS, ONLY KEEP ONE FLAG </a:t>
            </a:r>
          </a:p>
        </p:txBody>
      </p:sp>
      <p:sp>
        <p:nvSpPr>
          <p:cNvPr id="33" name="Rectangle 32">
            <a:extLst>
              <a:ext uri="{FF2B5EF4-FFF2-40B4-BE49-F238E27FC236}">
                <a16:creationId xmlns:a16="http://schemas.microsoft.com/office/drawing/2014/main" id="{0464E7C4-5FBB-4F1D-C77C-C87EB7B6ECB2}"/>
              </a:ext>
            </a:extLst>
          </p:cNvPr>
          <p:cNvSpPr/>
          <p:nvPr/>
        </p:nvSpPr>
        <p:spPr>
          <a:xfrm>
            <a:off x="170823" y="4548687"/>
            <a:ext cx="1954404" cy="61616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900" dirty="0">
              <a:solidFill>
                <a:schemeClr val="tx1"/>
              </a:solidFill>
            </a:endParaRPr>
          </a:p>
        </p:txBody>
      </p:sp>
      <p:cxnSp>
        <p:nvCxnSpPr>
          <p:cNvPr id="34" name="Straight Arrow Connector 33">
            <a:extLst>
              <a:ext uri="{FF2B5EF4-FFF2-40B4-BE49-F238E27FC236}">
                <a16:creationId xmlns:a16="http://schemas.microsoft.com/office/drawing/2014/main" id="{769EC417-6FF3-C9F8-9177-22E20045DD0A}"/>
              </a:ext>
            </a:extLst>
          </p:cNvPr>
          <p:cNvCxnSpPr>
            <a:cxnSpLocks/>
            <a:stCxn id="33" idx="3"/>
          </p:cNvCxnSpPr>
          <p:nvPr/>
        </p:nvCxnSpPr>
        <p:spPr>
          <a:xfrm flipV="1">
            <a:off x="2125227" y="3816594"/>
            <a:ext cx="5250263" cy="1040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4C49CFDF-674F-DD88-1871-7E15886C4761}"/>
              </a:ext>
            </a:extLst>
          </p:cNvPr>
          <p:cNvCxnSpPr>
            <a:cxnSpLocks/>
          </p:cNvCxnSpPr>
          <p:nvPr/>
        </p:nvCxnSpPr>
        <p:spPr>
          <a:xfrm flipV="1">
            <a:off x="3624884" y="3816594"/>
            <a:ext cx="3750606" cy="4533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C4393167-C04C-F5A9-618E-2E9A0B8BF8BD}"/>
              </a:ext>
            </a:extLst>
          </p:cNvPr>
          <p:cNvSpPr/>
          <p:nvPr/>
        </p:nvSpPr>
        <p:spPr>
          <a:xfrm>
            <a:off x="7375489" y="3429000"/>
            <a:ext cx="1499658" cy="8409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INPUT AND ON THE PROPERTIES WINDOW, SELECT SENSITIVITY AND CHECK ONLY SHALE VOLUME SENSITIVITY</a:t>
            </a:r>
          </a:p>
        </p:txBody>
      </p:sp>
      <p:cxnSp>
        <p:nvCxnSpPr>
          <p:cNvPr id="43" name="Straight Arrow Connector 42">
            <a:extLst>
              <a:ext uri="{FF2B5EF4-FFF2-40B4-BE49-F238E27FC236}">
                <a16:creationId xmlns:a16="http://schemas.microsoft.com/office/drawing/2014/main" id="{A7D4456E-5A5F-FA38-3321-37FE06AEF64F}"/>
              </a:ext>
            </a:extLst>
          </p:cNvPr>
          <p:cNvCxnSpPr>
            <a:cxnSpLocks/>
            <a:endCxn id="42" idx="1"/>
          </p:cNvCxnSpPr>
          <p:nvPr/>
        </p:nvCxnSpPr>
        <p:spPr>
          <a:xfrm flipV="1">
            <a:off x="1949992" y="3849495"/>
            <a:ext cx="5425497" cy="926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2424B546-3834-C6C8-7030-6E80AACC3E5C}"/>
              </a:ext>
            </a:extLst>
          </p:cNvPr>
          <p:cNvCxnSpPr>
            <a:cxnSpLocks/>
          </p:cNvCxnSpPr>
          <p:nvPr/>
        </p:nvCxnSpPr>
        <p:spPr>
          <a:xfrm flipV="1">
            <a:off x="8021665" y="3942112"/>
            <a:ext cx="1650438" cy="14494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9C5EC65A-145A-E472-832F-F6782B24977F}"/>
              </a:ext>
            </a:extLst>
          </p:cNvPr>
          <p:cNvSpPr/>
          <p:nvPr/>
        </p:nvSpPr>
        <p:spPr>
          <a:xfrm>
            <a:off x="9672103" y="3600527"/>
            <a:ext cx="1092076" cy="5369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THIS ICON TO RUN SHALE VOLUME SENSITIVITY</a:t>
            </a:r>
          </a:p>
        </p:txBody>
      </p:sp>
      <p:sp>
        <p:nvSpPr>
          <p:cNvPr id="51" name="Title 1">
            <a:extLst>
              <a:ext uri="{FF2B5EF4-FFF2-40B4-BE49-F238E27FC236}">
                <a16:creationId xmlns:a16="http://schemas.microsoft.com/office/drawing/2014/main" id="{BEE51654-3745-C73A-BD6A-B3B92F311191}"/>
              </a:ext>
            </a:extLst>
          </p:cNvPr>
          <p:cNvSpPr txBox="1">
            <a:spLocks/>
          </p:cNvSpPr>
          <p:nvPr/>
        </p:nvSpPr>
        <p:spPr>
          <a:xfrm>
            <a:off x="270586" y="163288"/>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SUMMARIES </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78304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86F9-12B6-34A3-9474-68953911EC6B}"/>
            </a:ext>
          </a:extLst>
        </p:cNvPr>
        <p:cNvGrpSpPr/>
        <p:nvPr/>
      </p:nvGrpSpPr>
      <p:grpSpPr>
        <a:xfrm>
          <a:off x="0" y="0"/>
          <a:ext cx="0" cy="0"/>
          <a:chOff x="0" y="0"/>
          <a:chExt cx="0" cy="0"/>
        </a:xfrm>
      </p:grpSpPr>
      <p:pic>
        <p:nvPicPr>
          <p:cNvPr id="3" name="Picture 2" descr="A screenshot of a computer">
            <a:extLst>
              <a:ext uri="{FF2B5EF4-FFF2-40B4-BE49-F238E27FC236}">
                <a16:creationId xmlns:a16="http://schemas.microsoft.com/office/drawing/2014/main" id="{80F500FE-E908-D608-17FD-91BD49C30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8" y="1798213"/>
            <a:ext cx="2150626" cy="492388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D8DC3C9-015B-484A-3271-BE72633E5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6959" y="953989"/>
            <a:ext cx="2626039" cy="174294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62C4BBE6-8342-33CB-416C-32335126BC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2787" y="2911729"/>
            <a:ext cx="3602182" cy="3729982"/>
          </a:xfrm>
          <a:prstGeom prst="rect">
            <a:avLst/>
          </a:prstGeom>
        </p:spPr>
      </p:pic>
      <p:pic>
        <p:nvPicPr>
          <p:cNvPr id="9" name="Picture 8" descr="A screenshot of a computer">
            <a:extLst>
              <a:ext uri="{FF2B5EF4-FFF2-40B4-BE49-F238E27FC236}">
                <a16:creationId xmlns:a16="http://schemas.microsoft.com/office/drawing/2014/main" id="{89CB1C8E-F6C1-6A7C-9239-3C7D058747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5196" y="3665659"/>
            <a:ext cx="4529534" cy="2976052"/>
          </a:xfrm>
          <a:prstGeom prst="rect">
            <a:avLst/>
          </a:prstGeom>
        </p:spPr>
      </p:pic>
      <p:sp>
        <p:nvSpPr>
          <p:cNvPr id="10" name="Rectangle 9">
            <a:extLst>
              <a:ext uri="{FF2B5EF4-FFF2-40B4-BE49-F238E27FC236}">
                <a16:creationId xmlns:a16="http://schemas.microsoft.com/office/drawing/2014/main" id="{203802AF-1DD9-111A-28B4-5C90E8854653}"/>
              </a:ext>
            </a:extLst>
          </p:cNvPr>
          <p:cNvSpPr/>
          <p:nvPr/>
        </p:nvSpPr>
        <p:spPr>
          <a:xfrm>
            <a:off x="668215" y="4732774"/>
            <a:ext cx="1170633" cy="180342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900" dirty="0">
              <a:solidFill>
                <a:schemeClr val="tx1"/>
              </a:solidFill>
            </a:endParaRPr>
          </a:p>
        </p:txBody>
      </p:sp>
      <p:cxnSp>
        <p:nvCxnSpPr>
          <p:cNvPr id="11" name="Straight Arrow Connector 10">
            <a:extLst>
              <a:ext uri="{FF2B5EF4-FFF2-40B4-BE49-F238E27FC236}">
                <a16:creationId xmlns:a16="http://schemas.microsoft.com/office/drawing/2014/main" id="{AE158576-1E0C-566F-65FB-79B5D439BBF0}"/>
              </a:ext>
            </a:extLst>
          </p:cNvPr>
          <p:cNvCxnSpPr>
            <a:cxnSpLocks/>
          </p:cNvCxnSpPr>
          <p:nvPr/>
        </p:nvCxnSpPr>
        <p:spPr>
          <a:xfrm flipV="1">
            <a:off x="1214176" y="1663002"/>
            <a:ext cx="909376" cy="30697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B4628F1-AD56-69CE-19CE-E8EE82357C13}"/>
              </a:ext>
            </a:extLst>
          </p:cNvPr>
          <p:cNvSpPr/>
          <p:nvPr/>
        </p:nvSpPr>
        <p:spPr>
          <a:xfrm>
            <a:off x="907995" y="1204132"/>
            <a:ext cx="1665202" cy="4572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IF NOTHING HAPPENS, CHECK OUTPUT WINDOW IF THIS ERROR SHOWS UP</a:t>
            </a:r>
          </a:p>
        </p:txBody>
      </p:sp>
      <p:cxnSp>
        <p:nvCxnSpPr>
          <p:cNvPr id="15" name="Straight Arrow Connector 14">
            <a:extLst>
              <a:ext uri="{FF2B5EF4-FFF2-40B4-BE49-F238E27FC236}">
                <a16:creationId xmlns:a16="http://schemas.microsoft.com/office/drawing/2014/main" id="{A8E595AE-D34D-CECF-64EE-7F6BC2BF8E48}"/>
              </a:ext>
            </a:extLst>
          </p:cNvPr>
          <p:cNvCxnSpPr>
            <a:cxnSpLocks/>
            <a:endCxn id="18" idx="3"/>
          </p:cNvCxnSpPr>
          <p:nvPr/>
        </p:nvCxnSpPr>
        <p:spPr>
          <a:xfrm flipH="1" flipV="1">
            <a:off x="4813159" y="1549123"/>
            <a:ext cx="1180683" cy="8775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3D9D9C37-6255-53AE-5D74-66AC415C8E81}"/>
              </a:ext>
            </a:extLst>
          </p:cNvPr>
          <p:cNvSpPr/>
          <p:nvPr/>
        </p:nvSpPr>
        <p:spPr>
          <a:xfrm>
            <a:off x="2754150" y="1204132"/>
            <a:ext cx="2059009" cy="6899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TO FIX THIS, SELECT LQC AND INDEX ON THE PROJECT BROWSER, GO TO PROPERTIES AND CHANGE THE DATASET TYPE TO POINT DATA</a:t>
            </a:r>
          </a:p>
        </p:txBody>
      </p:sp>
      <p:cxnSp>
        <p:nvCxnSpPr>
          <p:cNvPr id="21" name="Straight Arrow Connector 20">
            <a:extLst>
              <a:ext uri="{FF2B5EF4-FFF2-40B4-BE49-F238E27FC236}">
                <a16:creationId xmlns:a16="http://schemas.microsoft.com/office/drawing/2014/main" id="{8580FBB4-82D9-2AC3-99E4-CE3C9AABA01E}"/>
              </a:ext>
            </a:extLst>
          </p:cNvPr>
          <p:cNvCxnSpPr>
            <a:cxnSpLocks/>
            <a:stCxn id="18" idx="2"/>
          </p:cNvCxnSpPr>
          <p:nvPr/>
        </p:nvCxnSpPr>
        <p:spPr>
          <a:xfrm>
            <a:off x="3783655" y="1894113"/>
            <a:ext cx="1029504" cy="2029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2F646D9-4C9F-8B70-BC8C-CCFEED58CB27}"/>
              </a:ext>
            </a:extLst>
          </p:cNvPr>
          <p:cNvSpPr/>
          <p:nvPr/>
        </p:nvSpPr>
        <p:spPr>
          <a:xfrm>
            <a:off x="8505416" y="953989"/>
            <a:ext cx="2059009" cy="147268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PUT THE LQC AND INDEX ON DATA EDITOR, CHECK THE DEPTH DIFFERENCE AND MAKE SURE THEY HAVE THE SAME DEPTH OR LQC IS LESS THAN INDEX DEPTH. SELECT ALLL ENTRIES OF DEPTHS GREATER THAN INDEX ON THE LQC DATA EDITOR, RIGHT CLICK AND SELECT DELETE CURRENT ROWS. SAVE ALL MODIFIED VARIABLES</a:t>
            </a:r>
          </a:p>
        </p:txBody>
      </p:sp>
      <p:cxnSp>
        <p:nvCxnSpPr>
          <p:cNvPr id="25" name="Straight Arrow Connector 24">
            <a:extLst>
              <a:ext uri="{FF2B5EF4-FFF2-40B4-BE49-F238E27FC236}">
                <a16:creationId xmlns:a16="http://schemas.microsoft.com/office/drawing/2014/main" id="{36AA99E8-605A-DD08-59D1-BB80DC396B72}"/>
              </a:ext>
            </a:extLst>
          </p:cNvPr>
          <p:cNvCxnSpPr>
            <a:cxnSpLocks/>
            <a:endCxn id="24" idx="2"/>
          </p:cNvCxnSpPr>
          <p:nvPr/>
        </p:nvCxnSpPr>
        <p:spPr>
          <a:xfrm flipV="1">
            <a:off x="7298958" y="2426677"/>
            <a:ext cx="2235963" cy="19741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587584C-7161-045A-240E-9240CEB861A2}"/>
              </a:ext>
            </a:extLst>
          </p:cNvPr>
          <p:cNvCxnSpPr>
            <a:cxnSpLocks/>
            <a:endCxn id="24" idx="2"/>
          </p:cNvCxnSpPr>
          <p:nvPr/>
        </p:nvCxnSpPr>
        <p:spPr>
          <a:xfrm flipV="1">
            <a:off x="8122024" y="2426677"/>
            <a:ext cx="1412897" cy="4109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102642B-3226-D1F8-097D-D2E05472628D}"/>
              </a:ext>
            </a:extLst>
          </p:cNvPr>
          <p:cNvCxnSpPr>
            <a:cxnSpLocks/>
          </p:cNvCxnSpPr>
          <p:nvPr/>
        </p:nvCxnSpPr>
        <p:spPr>
          <a:xfrm flipV="1">
            <a:off x="5662246" y="3305908"/>
            <a:ext cx="4406202" cy="291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2D711E8C-B279-DD26-9CDD-4526FABEEC15}"/>
              </a:ext>
            </a:extLst>
          </p:cNvPr>
          <p:cNvSpPr/>
          <p:nvPr/>
        </p:nvSpPr>
        <p:spPr>
          <a:xfrm>
            <a:off x="10068448" y="3126033"/>
            <a:ext cx="1642906" cy="29140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CHANGE LQC AND INDEX BACK TO CONTUOUS</a:t>
            </a:r>
          </a:p>
        </p:txBody>
      </p:sp>
      <p:sp>
        <p:nvSpPr>
          <p:cNvPr id="38" name="Title 1">
            <a:extLst>
              <a:ext uri="{FF2B5EF4-FFF2-40B4-BE49-F238E27FC236}">
                <a16:creationId xmlns:a16="http://schemas.microsoft.com/office/drawing/2014/main" id="{69D9A55C-3CC3-598C-66EF-D6B7278139A1}"/>
              </a:ext>
            </a:extLst>
          </p:cNvPr>
          <p:cNvSpPr txBox="1">
            <a:spLocks/>
          </p:cNvSpPr>
          <p:nvPr/>
        </p:nvSpPr>
        <p:spPr>
          <a:xfrm>
            <a:off x="270586" y="163288"/>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SUMMARIES (ERROR-SKIP IF NO ERROR)</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1770437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E219D-B667-94C5-1BF7-C8631F39CEC2}"/>
            </a:ext>
          </a:extLst>
        </p:cNvPr>
        <p:cNvGrpSpPr/>
        <p:nvPr/>
      </p:nvGrpSpPr>
      <p:grpSpPr>
        <a:xfrm>
          <a:off x="0" y="0"/>
          <a:ext cx="0" cy="0"/>
          <a:chOff x="0" y="0"/>
          <a:chExt cx="0" cy="0"/>
        </a:xfrm>
      </p:grpSpPr>
      <p:pic>
        <p:nvPicPr>
          <p:cNvPr id="3" name="Picture 2" descr="A screen shot of a graph&#10;&#10;AI-generated content may be incorrect.">
            <a:extLst>
              <a:ext uri="{FF2B5EF4-FFF2-40B4-BE49-F238E27FC236}">
                <a16:creationId xmlns:a16="http://schemas.microsoft.com/office/drawing/2014/main" id="{373F632A-1266-C426-72B9-789A9713B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768" y="2386221"/>
            <a:ext cx="3730070" cy="160388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474A883-5EE1-31CB-8066-A068EA31D3E5}"/>
              </a:ext>
            </a:extLst>
          </p:cNvPr>
          <p:cNvPicPr>
            <a:picLocks noChangeAspect="1"/>
          </p:cNvPicPr>
          <p:nvPr/>
        </p:nvPicPr>
        <p:blipFill>
          <a:blip r:embed="rId3">
            <a:extLst>
              <a:ext uri="{28A0092B-C50C-407E-A947-70E740481C1C}">
                <a14:useLocalDpi xmlns:a14="http://schemas.microsoft.com/office/drawing/2010/main" val="0"/>
              </a:ext>
            </a:extLst>
          </a:blip>
          <a:srcRect b="24634"/>
          <a:stretch>
            <a:fillRect/>
          </a:stretch>
        </p:blipFill>
        <p:spPr>
          <a:xfrm>
            <a:off x="4550266" y="998516"/>
            <a:ext cx="6151228" cy="1436434"/>
          </a:xfrm>
          <a:prstGeom prst="rect">
            <a:avLst/>
          </a:prstGeom>
        </p:spPr>
      </p:pic>
      <p:pic>
        <p:nvPicPr>
          <p:cNvPr id="7" name="Picture 6" descr="A screen shot of a graph">
            <a:extLst>
              <a:ext uri="{FF2B5EF4-FFF2-40B4-BE49-F238E27FC236}">
                <a16:creationId xmlns:a16="http://schemas.microsoft.com/office/drawing/2014/main" id="{E6B9D179-2BBD-7333-C4A4-F5681AE689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0480" y="4167536"/>
            <a:ext cx="3668366" cy="253450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2F60F7BA-2D90-2963-E866-707BECE5C4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85611" y="3819397"/>
            <a:ext cx="4839849" cy="2808576"/>
          </a:xfrm>
          <a:prstGeom prst="rect">
            <a:avLst/>
          </a:prstGeom>
        </p:spPr>
      </p:pic>
      <p:cxnSp>
        <p:nvCxnSpPr>
          <p:cNvPr id="10" name="Straight Arrow Connector 9">
            <a:extLst>
              <a:ext uri="{FF2B5EF4-FFF2-40B4-BE49-F238E27FC236}">
                <a16:creationId xmlns:a16="http://schemas.microsoft.com/office/drawing/2014/main" id="{88605DFC-9355-C94B-8743-AD98380A31DA}"/>
              </a:ext>
            </a:extLst>
          </p:cNvPr>
          <p:cNvCxnSpPr>
            <a:cxnSpLocks/>
          </p:cNvCxnSpPr>
          <p:nvPr/>
        </p:nvCxnSpPr>
        <p:spPr>
          <a:xfrm flipV="1">
            <a:off x="1904163" y="1994598"/>
            <a:ext cx="0" cy="773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45A3A7D2-AE80-D686-1671-8DC0376C2109}"/>
              </a:ext>
            </a:extLst>
          </p:cNvPr>
          <p:cNvSpPr/>
          <p:nvPr/>
        </p:nvSpPr>
        <p:spPr>
          <a:xfrm>
            <a:off x="913019" y="998517"/>
            <a:ext cx="1665202" cy="99608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FROM THE SHALE SENSITIVITY PLOT, SELECT A VALUE ON THE X-AXIS THAT DOES NOT PRODUCE SIGNIFICANT CHANGE ON THE Y-AXIS. INPUT THAT VALUE IN THE PARAMETERS</a:t>
            </a:r>
          </a:p>
        </p:txBody>
      </p:sp>
      <p:cxnSp>
        <p:nvCxnSpPr>
          <p:cNvPr id="14" name="Straight Arrow Connector 13">
            <a:extLst>
              <a:ext uri="{FF2B5EF4-FFF2-40B4-BE49-F238E27FC236}">
                <a16:creationId xmlns:a16="http://schemas.microsoft.com/office/drawing/2014/main" id="{715339D4-7405-33FD-EF2D-2722E91566E4}"/>
              </a:ext>
            </a:extLst>
          </p:cNvPr>
          <p:cNvCxnSpPr>
            <a:cxnSpLocks/>
          </p:cNvCxnSpPr>
          <p:nvPr/>
        </p:nvCxnSpPr>
        <p:spPr>
          <a:xfrm>
            <a:off x="2578221" y="1467713"/>
            <a:ext cx="5475533" cy="4980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1F8CF859-FCBB-E642-A868-8043855CCD29}"/>
              </a:ext>
            </a:extLst>
          </p:cNvPr>
          <p:cNvSpPr/>
          <p:nvPr/>
        </p:nvSpPr>
        <p:spPr>
          <a:xfrm>
            <a:off x="5634232" y="2690464"/>
            <a:ext cx="1504461" cy="65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RUN THE SUMMARIES EVALUATION AND WE SHOULD HAVE OUR NET FLAG (N/G). SAVE AL MODIFIED VARIABLES</a:t>
            </a:r>
          </a:p>
        </p:txBody>
      </p:sp>
      <p:cxnSp>
        <p:nvCxnSpPr>
          <p:cNvPr id="22" name="Straight Arrow Connector 21">
            <a:extLst>
              <a:ext uri="{FF2B5EF4-FFF2-40B4-BE49-F238E27FC236}">
                <a16:creationId xmlns:a16="http://schemas.microsoft.com/office/drawing/2014/main" id="{53024C69-D2AA-AD5F-AF5C-7171D73DF4D3}"/>
              </a:ext>
            </a:extLst>
          </p:cNvPr>
          <p:cNvCxnSpPr>
            <a:cxnSpLocks/>
          </p:cNvCxnSpPr>
          <p:nvPr/>
        </p:nvCxnSpPr>
        <p:spPr>
          <a:xfrm flipH="1">
            <a:off x="5615273" y="3351491"/>
            <a:ext cx="876777" cy="15537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B0898AF4-78F8-51C2-F738-24A8F1888665}"/>
              </a:ext>
            </a:extLst>
          </p:cNvPr>
          <p:cNvCxnSpPr>
            <a:cxnSpLocks/>
            <a:stCxn id="21" idx="3"/>
          </p:cNvCxnSpPr>
          <p:nvPr/>
        </p:nvCxnSpPr>
        <p:spPr>
          <a:xfrm flipV="1">
            <a:off x="7138693" y="1438867"/>
            <a:ext cx="1315840" cy="157814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787FFDA0-257D-EE6A-2E92-85EA39090F45}"/>
              </a:ext>
            </a:extLst>
          </p:cNvPr>
          <p:cNvSpPr/>
          <p:nvPr/>
        </p:nvSpPr>
        <p:spPr>
          <a:xfrm>
            <a:off x="8615897" y="2125963"/>
            <a:ext cx="1131921" cy="3971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RESULTS TO VIEW THE AVERAGES</a:t>
            </a:r>
          </a:p>
        </p:txBody>
      </p:sp>
      <p:cxnSp>
        <p:nvCxnSpPr>
          <p:cNvPr id="33" name="Straight Arrow Connector 32">
            <a:extLst>
              <a:ext uri="{FF2B5EF4-FFF2-40B4-BE49-F238E27FC236}">
                <a16:creationId xmlns:a16="http://schemas.microsoft.com/office/drawing/2014/main" id="{50E9432C-407A-CD9C-04A3-ECC5B3D5C582}"/>
              </a:ext>
            </a:extLst>
          </p:cNvPr>
          <p:cNvCxnSpPr>
            <a:cxnSpLocks/>
            <a:endCxn id="32" idx="2"/>
          </p:cNvCxnSpPr>
          <p:nvPr/>
        </p:nvCxnSpPr>
        <p:spPr>
          <a:xfrm flipH="1" flipV="1">
            <a:off x="9181858" y="2523157"/>
            <a:ext cx="679136" cy="17016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BBCF0BC6-06B3-1D78-C7DF-9C8348C3BF23}"/>
              </a:ext>
            </a:extLst>
          </p:cNvPr>
          <p:cNvCxnSpPr/>
          <p:nvPr/>
        </p:nvCxnSpPr>
        <p:spPr>
          <a:xfrm rot="5400000" flipH="1" flipV="1">
            <a:off x="7249799" y="3474843"/>
            <a:ext cx="3001139" cy="290945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D21CBB74-84F5-9002-DA3A-12BD88A306A2}"/>
              </a:ext>
            </a:extLst>
          </p:cNvPr>
          <p:cNvSpPr/>
          <p:nvPr/>
        </p:nvSpPr>
        <p:spPr>
          <a:xfrm>
            <a:off x="9706844" y="2902856"/>
            <a:ext cx="1182830" cy="52413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THIS ICON TO COPY THE RESULTS TABLE</a:t>
            </a:r>
          </a:p>
        </p:txBody>
      </p:sp>
      <p:sp>
        <p:nvSpPr>
          <p:cNvPr id="52" name="Title 1">
            <a:extLst>
              <a:ext uri="{FF2B5EF4-FFF2-40B4-BE49-F238E27FC236}">
                <a16:creationId xmlns:a16="http://schemas.microsoft.com/office/drawing/2014/main" id="{8B10C3CE-8B33-C2B9-C7CE-08736B73DE7E}"/>
              </a:ext>
            </a:extLst>
          </p:cNvPr>
          <p:cNvSpPr txBox="1">
            <a:spLocks/>
          </p:cNvSpPr>
          <p:nvPr/>
        </p:nvSpPr>
        <p:spPr>
          <a:xfrm>
            <a:off x="270586" y="163288"/>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SUMMARIES (2)</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2878736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460A0-58C9-9B21-1E51-AE0547B5E50B}"/>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CB33319-F551-AF2C-FC03-9C0F8334E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720" y="2654932"/>
            <a:ext cx="5163672" cy="1427214"/>
          </a:xfrm>
          <a:prstGeom prst="rect">
            <a:avLst/>
          </a:prstGeom>
        </p:spPr>
      </p:pic>
      <p:pic>
        <p:nvPicPr>
          <p:cNvPr id="5" name="Picture 4" descr="A screenshot of a computer program">
            <a:extLst>
              <a:ext uri="{FF2B5EF4-FFF2-40B4-BE49-F238E27FC236}">
                <a16:creationId xmlns:a16="http://schemas.microsoft.com/office/drawing/2014/main" id="{BA3274E1-70F0-8B3A-6C12-341A627B8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5318" y="2108026"/>
            <a:ext cx="2393837" cy="2404290"/>
          </a:xfrm>
          <a:prstGeom prst="rect">
            <a:avLst/>
          </a:prstGeom>
        </p:spPr>
      </p:pic>
      <p:cxnSp>
        <p:nvCxnSpPr>
          <p:cNvPr id="6" name="Straight Arrow Connector 5">
            <a:extLst>
              <a:ext uri="{FF2B5EF4-FFF2-40B4-BE49-F238E27FC236}">
                <a16:creationId xmlns:a16="http://schemas.microsoft.com/office/drawing/2014/main" id="{62C57F91-015F-9319-A7A3-F45660A9D7F7}"/>
              </a:ext>
            </a:extLst>
          </p:cNvPr>
          <p:cNvCxnSpPr>
            <a:cxnSpLocks/>
          </p:cNvCxnSpPr>
          <p:nvPr/>
        </p:nvCxnSpPr>
        <p:spPr>
          <a:xfrm flipV="1">
            <a:off x="2530063" y="2062133"/>
            <a:ext cx="0" cy="773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7CE4ACB6-397B-15FC-3FDE-96CC55CB118A}"/>
              </a:ext>
            </a:extLst>
          </p:cNvPr>
          <p:cNvSpPr/>
          <p:nvPr/>
        </p:nvSpPr>
        <p:spPr>
          <a:xfrm>
            <a:off x="1638095" y="1456517"/>
            <a:ext cx="1595363" cy="61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PASTE THE RESULT TABLE IN EXCEL AND ARRANGE IT IN YOUR DESIRED FORMAT FOR PRESENTATION</a:t>
            </a:r>
          </a:p>
        </p:txBody>
      </p:sp>
      <p:cxnSp>
        <p:nvCxnSpPr>
          <p:cNvPr id="8" name="Straight Arrow Connector 7">
            <a:extLst>
              <a:ext uri="{FF2B5EF4-FFF2-40B4-BE49-F238E27FC236}">
                <a16:creationId xmlns:a16="http://schemas.microsoft.com/office/drawing/2014/main" id="{C9114A7C-422B-21B4-1726-19AC7E3D5692}"/>
              </a:ext>
            </a:extLst>
          </p:cNvPr>
          <p:cNvCxnSpPr>
            <a:cxnSpLocks/>
          </p:cNvCxnSpPr>
          <p:nvPr/>
        </p:nvCxnSpPr>
        <p:spPr>
          <a:xfrm flipH="1" flipV="1">
            <a:off x="6361681" y="1667435"/>
            <a:ext cx="797629" cy="1413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75955126-E642-64C4-BE7B-5BE426611CEF}"/>
              </a:ext>
            </a:extLst>
          </p:cNvPr>
          <p:cNvSpPr/>
          <p:nvPr/>
        </p:nvSpPr>
        <p:spPr>
          <a:xfrm>
            <a:off x="4860502" y="855722"/>
            <a:ext cx="1767500" cy="8152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ALL PETROPHYSICAL PROPERTIES LOGS HAVE BEEN SAVED AND READY FOR EXPORT TO THE PRODUCTION GEOLOGIST AND THE RESERVOIR ENGINEER</a:t>
            </a:r>
          </a:p>
        </p:txBody>
      </p:sp>
      <p:sp>
        <p:nvSpPr>
          <p:cNvPr id="12" name="Rectangle 11">
            <a:extLst>
              <a:ext uri="{FF2B5EF4-FFF2-40B4-BE49-F238E27FC236}">
                <a16:creationId xmlns:a16="http://schemas.microsoft.com/office/drawing/2014/main" id="{EDE8D373-005D-051C-62D5-2584017C7DEC}"/>
              </a:ext>
            </a:extLst>
          </p:cNvPr>
          <p:cNvSpPr/>
          <p:nvPr/>
        </p:nvSpPr>
        <p:spPr>
          <a:xfrm>
            <a:off x="9717106" y="5077409"/>
            <a:ext cx="1767500" cy="7987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 NET POROSITY AND NET PERMEABILITY LOG CAN ALSO BE CREATED BY MULTIPLYING POROSITY AND PERMEABILITY BY THE NET FLAG IN DATA EDITOR</a:t>
            </a:r>
          </a:p>
        </p:txBody>
      </p:sp>
      <p:cxnSp>
        <p:nvCxnSpPr>
          <p:cNvPr id="13" name="Straight Arrow Connector 12">
            <a:extLst>
              <a:ext uri="{FF2B5EF4-FFF2-40B4-BE49-F238E27FC236}">
                <a16:creationId xmlns:a16="http://schemas.microsoft.com/office/drawing/2014/main" id="{1BB563E4-AD11-A1CC-9559-E26867550E9E}"/>
              </a:ext>
            </a:extLst>
          </p:cNvPr>
          <p:cNvCxnSpPr>
            <a:cxnSpLocks/>
            <a:endCxn id="12" idx="1"/>
          </p:cNvCxnSpPr>
          <p:nvPr/>
        </p:nvCxnSpPr>
        <p:spPr>
          <a:xfrm>
            <a:off x="7921540" y="3173506"/>
            <a:ext cx="1795566" cy="2303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44238CD-832B-33B0-841A-92C0940413DF}"/>
              </a:ext>
            </a:extLst>
          </p:cNvPr>
          <p:cNvCxnSpPr>
            <a:cxnSpLocks/>
            <a:endCxn id="12" idx="1"/>
          </p:cNvCxnSpPr>
          <p:nvPr/>
        </p:nvCxnSpPr>
        <p:spPr>
          <a:xfrm>
            <a:off x="7642819" y="2386242"/>
            <a:ext cx="2074287" cy="30905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09BD1BF-E090-BA94-0831-D45B1EDAAD4E}"/>
              </a:ext>
            </a:extLst>
          </p:cNvPr>
          <p:cNvSpPr/>
          <p:nvPr/>
        </p:nvSpPr>
        <p:spPr>
          <a:xfrm>
            <a:off x="1393604" y="4792044"/>
            <a:ext cx="1925922" cy="154518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LOW AND HIGH CASE POROSITY LOGS CAN BE CREATED BY SUBTRACTING AND ADDING 0.03 (3% ASSUMED) TO THE POROSITY LOG AND THEIR CORRESPONDING PERMEABILITY LOGS CAN BE CREATED USING THE SAME EQUATION USED EARLIER, THIS TIME USING THE LOW AND HIGH CASE POROSITY</a:t>
            </a:r>
          </a:p>
        </p:txBody>
      </p:sp>
      <p:sp>
        <p:nvSpPr>
          <p:cNvPr id="25" name="Title 1">
            <a:extLst>
              <a:ext uri="{FF2B5EF4-FFF2-40B4-BE49-F238E27FC236}">
                <a16:creationId xmlns:a16="http://schemas.microsoft.com/office/drawing/2014/main" id="{0082322E-4778-4CB0-54A9-57D3C00A609F}"/>
              </a:ext>
            </a:extLst>
          </p:cNvPr>
          <p:cNvSpPr txBox="1">
            <a:spLocks/>
          </p:cNvSpPr>
          <p:nvPr/>
        </p:nvSpPr>
        <p:spPr>
          <a:xfrm>
            <a:off x="270586" y="163288"/>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SUMMARIES (3)</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305732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F815B-2EE1-66A1-9480-1D49400D7F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60BFCD-EB0B-9E5F-2852-F8F305339C1C}"/>
              </a:ext>
            </a:extLst>
          </p:cNvPr>
          <p:cNvPicPr>
            <a:picLocks noChangeAspect="1"/>
          </p:cNvPicPr>
          <p:nvPr/>
        </p:nvPicPr>
        <p:blipFill>
          <a:blip r:embed="rId2"/>
          <a:stretch>
            <a:fillRect/>
          </a:stretch>
        </p:blipFill>
        <p:spPr>
          <a:xfrm>
            <a:off x="217173" y="2310853"/>
            <a:ext cx="5429721" cy="1455546"/>
          </a:xfrm>
          <a:prstGeom prst="rect">
            <a:avLst/>
          </a:prstGeom>
        </p:spPr>
      </p:pic>
      <p:pic>
        <p:nvPicPr>
          <p:cNvPr id="5" name="Picture 4">
            <a:extLst>
              <a:ext uri="{FF2B5EF4-FFF2-40B4-BE49-F238E27FC236}">
                <a16:creationId xmlns:a16="http://schemas.microsoft.com/office/drawing/2014/main" id="{64822FD5-1CF0-709F-B0B2-DF7C77FFEE2E}"/>
              </a:ext>
            </a:extLst>
          </p:cNvPr>
          <p:cNvPicPr>
            <a:picLocks noChangeAspect="1"/>
          </p:cNvPicPr>
          <p:nvPr/>
        </p:nvPicPr>
        <p:blipFill>
          <a:blip r:embed="rId3"/>
          <a:stretch>
            <a:fillRect/>
          </a:stretch>
        </p:blipFill>
        <p:spPr>
          <a:xfrm>
            <a:off x="6635326" y="1170118"/>
            <a:ext cx="4770370" cy="3973994"/>
          </a:xfrm>
          <a:prstGeom prst="rect">
            <a:avLst/>
          </a:prstGeom>
        </p:spPr>
      </p:pic>
      <p:pic>
        <p:nvPicPr>
          <p:cNvPr id="7" name="Picture 6">
            <a:extLst>
              <a:ext uri="{FF2B5EF4-FFF2-40B4-BE49-F238E27FC236}">
                <a16:creationId xmlns:a16="http://schemas.microsoft.com/office/drawing/2014/main" id="{4D54055B-374D-4668-D9D4-8F532D152F56}"/>
              </a:ext>
            </a:extLst>
          </p:cNvPr>
          <p:cNvPicPr>
            <a:picLocks noChangeAspect="1"/>
          </p:cNvPicPr>
          <p:nvPr/>
        </p:nvPicPr>
        <p:blipFill>
          <a:blip r:embed="rId4"/>
          <a:stretch>
            <a:fillRect/>
          </a:stretch>
        </p:blipFill>
        <p:spPr>
          <a:xfrm>
            <a:off x="436624" y="4295234"/>
            <a:ext cx="2803016" cy="2009981"/>
          </a:xfrm>
          <a:prstGeom prst="rect">
            <a:avLst/>
          </a:prstGeom>
        </p:spPr>
      </p:pic>
      <p:cxnSp>
        <p:nvCxnSpPr>
          <p:cNvPr id="8" name="Straight Arrow Connector 7">
            <a:extLst>
              <a:ext uri="{FF2B5EF4-FFF2-40B4-BE49-F238E27FC236}">
                <a16:creationId xmlns:a16="http://schemas.microsoft.com/office/drawing/2014/main" id="{8894863F-3BE1-B90F-665E-87EBE3DF1BED}"/>
              </a:ext>
            </a:extLst>
          </p:cNvPr>
          <p:cNvCxnSpPr>
            <a:cxnSpLocks/>
            <a:endCxn id="9" idx="2"/>
          </p:cNvCxnSpPr>
          <p:nvPr/>
        </p:nvCxnSpPr>
        <p:spPr>
          <a:xfrm flipV="1">
            <a:off x="1273375" y="1652107"/>
            <a:ext cx="756546" cy="7289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B7BBB1A4-EF33-1534-542E-397880CB4553}"/>
              </a:ext>
            </a:extLst>
          </p:cNvPr>
          <p:cNvSpPr/>
          <p:nvPr/>
        </p:nvSpPr>
        <p:spPr>
          <a:xfrm>
            <a:off x="1437613" y="1305586"/>
            <a:ext cx="1184616" cy="34652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HOME TAB, CLICK ON EXPORT</a:t>
            </a:r>
          </a:p>
        </p:txBody>
      </p:sp>
      <p:cxnSp>
        <p:nvCxnSpPr>
          <p:cNvPr id="11" name="Straight Arrow Connector 10">
            <a:extLst>
              <a:ext uri="{FF2B5EF4-FFF2-40B4-BE49-F238E27FC236}">
                <a16:creationId xmlns:a16="http://schemas.microsoft.com/office/drawing/2014/main" id="{D7CE0A80-761F-966B-F7A3-647D2A54ABEF}"/>
              </a:ext>
            </a:extLst>
          </p:cNvPr>
          <p:cNvCxnSpPr>
            <a:cxnSpLocks/>
          </p:cNvCxnSpPr>
          <p:nvPr/>
        </p:nvCxnSpPr>
        <p:spPr>
          <a:xfrm flipH="1" flipV="1">
            <a:off x="2107521" y="1652108"/>
            <a:ext cx="621009" cy="12964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C011AE5-463B-311B-B172-B0F901FA6C1F}"/>
              </a:ext>
            </a:extLst>
          </p:cNvPr>
          <p:cNvCxnSpPr>
            <a:cxnSpLocks/>
          </p:cNvCxnSpPr>
          <p:nvPr/>
        </p:nvCxnSpPr>
        <p:spPr>
          <a:xfrm flipH="1" flipV="1">
            <a:off x="5726002" y="1608757"/>
            <a:ext cx="3227294" cy="15109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5EC7FDB4-6BAD-7E74-E749-5D4EA8F0F978}"/>
              </a:ext>
            </a:extLst>
          </p:cNvPr>
          <p:cNvSpPr/>
          <p:nvPr/>
        </p:nvSpPr>
        <p:spPr>
          <a:xfrm>
            <a:off x="4200372" y="1002418"/>
            <a:ext cx="1525630" cy="7796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LOGS YOU WISH TO EXPORT AND CLICK ON THE ARROW TO MOVE THEM TO THE EXPORT WINDOW</a:t>
            </a:r>
          </a:p>
        </p:txBody>
      </p:sp>
      <p:cxnSp>
        <p:nvCxnSpPr>
          <p:cNvPr id="19" name="Straight Arrow Connector 18">
            <a:extLst>
              <a:ext uri="{FF2B5EF4-FFF2-40B4-BE49-F238E27FC236}">
                <a16:creationId xmlns:a16="http://schemas.microsoft.com/office/drawing/2014/main" id="{D2C570F2-C424-1B30-5521-0D40BECD1768}"/>
              </a:ext>
            </a:extLst>
          </p:cNvPr>
          <p:cNvCxnSpPr>
            <a:cxnSpLocks/>
          </p:cNvCxnSpPr>
          <p:nvPr/>
        </p:nvCxnSpPr>
        <p:spPr>
          <a:xfrm flipV="1">
            <a:off x="2337343" y="4190593"/>
            <a:ext cx="1501181" cy="4400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5D56F133-B4B5-6D89-D7CD-FFD83F606765}"/>
              </a:ext>
            </a:extLst>
          </p:cNvPr>
          <p:cNvSpPr/>
          <p:nvPr/>
        </p:nvSpPr>
        <p:spPr>
          <a:xfrm>
            <a:off x="3838523" y="3881640"/>
            <a:ext cx="1301835" cy="7461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THE DESIRED FORMAT AND CLICK ON SAVE TO SELECT A FOLDER TO SAVE ON PC</a:t>
            </a:r>
          </a:p>
        </p:txBody>
      </p:sp>
      <p:cxnSp>
        <p:nvCxnSpPr>
          <p:cNvPr id="25" name="Straight Arrow Connector 24">
            <a:extLst>
              <a:ext uri="{FF2B5EF4-FFF2-40B4-BE49-F238E27FC236}">
                <a16:creationId xmlns:a16="http://schemas.microsoft.com/office/drawing/2014/main" id="{47355E45-3598-58F8-4BD8-3F50411FBAEB}"/>
              </a:ext>
            </a:extLst>
          </p:cNvPr>
          <p:cNvCxnSpPr>
            <a:cxnSpLocks/>
          </p:cNvCxnSpPr>
          <p:nvPr/>
        </p:nvCxnSpPr>
        <p:spPr>
          <a:xfrm flipV="1">
            <a:off x="3178396" y="4425144"/>
            <a:ext cx="660128" cy="2025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07913931-F970-4615-92C4-C3052EB19757}"/>
              </a:ext>
            </a:extLst>
          </p:cNvPr>
          <p:cNvSpPr/>
          <p:nvPr/>
        </p:nvSpPr>
        <p:spPr>
          <a:xfrm>
            <a:off x="4015373" y="5144112"/>
            <a:ext cx="1162967" cy="55744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NOW YOUR OUTPUTS ARE READY TO BE RECEIVED</a:t>
            </a:r>
          </a:p>
        </p:txBody>
      </p:sp>
      <p:sp>
        <p:nvSpPr>
          <p:cNvPr id="29" name="Rectangle 28">
            <a:extLst>
              <a:ext uri="{FF2B5EF4-FFF2-40B4-BE49-F238E27FC236}">
                <a16:creationId xmlns:a16="http://schemas.microsoft.com/office/drawing/2014/main" id="{7456DFE0-68FE-1B0A-7B28-3D3AA4CD7266}"/>
              </a:ext>
            </a:extLst>
          </p:cNvPr>
          <p:cNvSpPr/>
          <p:nvPr/>
        </p:nvSpPr>
        <p:spPr>
          <a:xfrm>
            <a:off x="7013662" y="5701553"/>
            <a:ext cx="1896440" cy="6112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NOTE: SATURATION HEIGHT MODEL GOES TO THE RESERVOIR ENGINEER WHILE THE LOGS GO TO THE PRODUCTION GEOLOGIST</a:t>
            </a:r>
          </a:p>
        </p:txBody>
      </p:sp>
      <p:sp>
        <p:nvSpPr>
          <p:cNvPr id="30" name="Title 1">
            <a:extLst>
              <a:ext uri="{FF2B5EF4-FFF2-40B4-BE49-F238E27FC236}">
                <a16:creationId xmlns:a16="http://schemas.microsoft.com/office/drawing/2014/main" id="{1D3A1202-BDDB-AC71-EE0B-A399F3D4EDA7}"/>
              </a:ext>
            </a:extLst>
          </p:cNvPr>
          <p:cNvSpPr txBox="1">
            <a:spLocks/>
          </p:cNvSpPr>
          <p:nvPr/>
        </p:nvSpPr>
        <p:spPr>
          <a:xfrm>
            <a:off x="270586" y="163288"/>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EXPORT RESULTS</a:t>
            </a:r>
            <a:endParaRPr lang="en-GB" sz="2800" b="1" dirty="0">
              <a:solidFill>
                <a:schemeClr val="accent6">
                  <a:lumMod val="75000"/>
                </a:schemeClr>
              </a:solidFill>
              <a:cs typeface="Poppins" panose="00000500000000000000" pitchFamily="2" charset="0"/>
            </a:endParaRPr>
          </a:p>
        </p:txBody>
      </p:sp>
    </p:spTree>
    <p:extLst>
      <p:ext uri="{BB962C8B-B14F-4D97-AF65-F5344CB8AC3E}">
        <p14:creationId xmlns:p14="http://schemas.microsoft.com/office/powerpoint/2010/main" val="3341113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1045</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 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Onwuagba, Kenechi IUC/G/UUDGS</dc:creator>
  <cp:lastModifiedBy>Onwuagba, Kenechi IUC/G/UUDGS</cp:lastModifiedBy>
  <cp:revision>1</cp:revision>
  <dcterms:created xsi:type="dcterms:W3CDTF">2026-06-11T15:26:04Z</dcterms:created>
  <dcterms:modified xsi:type="dcterms:W3CDTF">2026-06-11T15:33:25Z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2026-06-11T15:26:04Z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f5326574-b01d-46d0-a7b4-d2976544a6cc</vt:lpwstr>
  </property>
  <property fmtid="{D5CDD505-2E9C-101B-9397-08002B2CF9AE}" pid="7" name="MSIP_Label_defa4170-0d19-0005-0004-bc88714345d2_ActionId">
    <vt:lpwstr>8d8fe7d3-b979-430b-b81c-f956270f06cf</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